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1"/>
  </p:notesMasterIdLst>
  <p:sldIdLst>
    <p:sldId id="256" r:id="rId2"/>
    <p:sldId id="257" r:id="rId3"/>
    <p:sldId id="302" r:id="rId4"/>
    <p:sldId id="261" r:id="rId5"/>
    <p:sldId id="258" r:id="rId6"/>
    <p:sldId id="301" r:id="rId7"/>
    <p:sldId id="304" r:id="rId8"/>
    <p:sldId id="262" r:id="rId9"/>
    <p:sldId id="289" r:id="rId10"/>
    <p:sldId id="290" r:id="rId11"/>
    <p:sldId id="291" r:id="rId12"/>
    <p:sldId id="310" r:id="rId13"/>
    <p:sldId id="309" r:id="rId14"/>
    <p:sldId id="292" r:id="rId15"/>
    <p:sldId id="293" r:id="rId16"/>
    <p:sldId id="299" r:id="rId17"/>
    <p:sldId id="267" r:id="rId18"/>
    <p:sldId id="268" r:id="rId19"/>
    <p:sldId id="265" r:id="rId20"/>
    <p:sldId id="266" r:id="rId21"/>
    <p:sldId id="311" r:id="rId22"/>
    <p:sldId id="278" r:id="rId23"/>
    <p:sldId id="271" r:id="rId24"/>
    <p:sldId id="275" r:id="rId25"/>
    <p:sldId id="276" r:id="rId26"/>
    <p:sldId id="277" r:id="rId27"/>
    <p:sldId id="279" r:id="rId28"/>
    <p:sldId id="280" r:id="rId29"/>
    <p:sldId id="282" r:id="rId30"/>
    <p:sldId id="286" r:id="rId31"/>
    <p:sldId id="283" r:id="rId32"/>
    <p:sldId id="284" r:id="rId33"/>
    <p:sldId id="285" r:id="rId34"/>
    <p:sldId id="287" r:id="rId35"/>
    <p:sldId id="294" r:id="rId36"/>
    <p:sldId id="269" r:id="rId37"/>
    <p:sldId id="263" r:id="rId38"/>
    <p:sldId id="270" r:id="rId39"/>
    <p:sldId id="260" r:id="rId40"/>
    <p:sldId id="273" r:id="rId41"/>
    <p:sldId id="272" r:id="rId42"/>
    <p:sldId id="288" r:id="rId43"/>
    <p:sldId id="274" r:id="rId44"/>
    <p:sldId id="295" r:id="rId45"/>
    <p:sldId id="296" r:id="rId46"/>
    <p:sldId id="312" r:id="rId47"/>
    <p:sldId id="313" r:id="rId48"/>
    <p:sldId id="314" r:id="rId49"/>
    <p:sldId id="315" r:id="rId50"/>
    <p:sldId id="316" r:id="rId51"/>
    <p:sldId id="318" r:id="rId52"/>
    <p:sldId id="319" r:id="rId53"/>
    <p:sldId id="320" r:id="rId54"/>
    <p:sldId id="321" r:id="rId55"/>
    <p:sldId id="322" r:id="rId56"/>
    <p:sldId id="323" r:id="rId57"/>
    <p:sldId id="317" r:id="rId58"/>
    <p:sldId id="297" r:id="rId59"/>
    <p:sldId id="29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5F5767-1703-4A86-B046-000DC7928397}" v="519" dt="2025-10-17T19:12:11.9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683" autoAdjust="0"/>
  </p:normalViewPr>
  <p:slideViewPr>
    <p:cSldViewPr snapToGrid="0">
      <p:cViewPr varScale="1">
        <p:scale>
          <a:sx n="96" d="100"/>
          <a:sy n="96" d="100"/>
        </p:scale>
        <p:origin x="6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oe" userId="495852c6-9817-4bbb-9162-b2e8ad79383d" providerId="ADAL" clId="{45C24337-BC83-426E-8555-560DB5D20005}"/>
    <pc:docChg chg="undo custSel addSld delSld modSld sldOrd">
      <pc:chgData name="Jeffrey Moe" userId="495852c6-9817-4bbb-9162-b2e8ad79383d" providerId="ADAL" clId="{45C24337-BC83-426E-8555-560DB5D20005}" dt="2025-10-18T19:04:49.359" v="4277" actId="478"/>
      <pc:docMkLst>
        <pc:docMk/>
      </pc:docMkLst>
      <pc:sldChg chg="addSp modSp mod">
        <pc:chgData name="Jeffrey Moe" userId="495852c6-9817-4bbb-9162-b2e8ad79383d" providerId="ADAL" clId="{45C24337-BC83-426E-8555-560DB5D20005}" dt="2025-10-17T15:08:51.182" v="1425" actId="207"/>
        <pc:sldMkLst>
          <pc:docMk/>
          <pc:sldMk cId="3966807463" sldId="256"/>
        </pc:sldMkLst>
        <pc:spChg chg="mod">
          <ac:chgData name="Jeffrey Moe" userId="495852c6-9817-4bbb-9162-b2e8ad79383d" providerId="ADAL" clId="{45C24337-BC83-426E-8555-560DB5D20005}" dt="2025-10-17T15:08:51.182" v="1425" actId="207"/>
          <ac:spMkLst>
            <pc:docMk/>
            <pc:sldMk cId="3966807463" sldId="256"/>
            <ac:spMk id="2" creationId="{15CD9338-956E-7611-1CEA-0FE4212DDBC6}"/>
          </ac:spMkLst>
        </pc:spChg>
        <pc:picChg chg="add mod ord">
          <ac:chgData name="Jeffrey Moe" userId="495852c6-9817-4bbb-9162-b2e8ad79383d" providerId="ADAL" clId="{45C24337-BC83-426E-8555-560DB5D20005}" dt="2025-10-17T15:08:30.503" v="1421" actId="167"/>
          <ac:picMkLst>
            <pc:docMk/>
            <pc:sldMk cId="3966807463" sldId="256"/>
            <ac:picMk id="4" creationId="{9616E272-0992-2FDC-FEDF-35801DAC389C}"/>
          </ac:picMkLst>
        </pc:picChg>
      </pc:sldChg>
      <pc:sldChg chg="addSp modSp mod">
        <pc:chgData name="Jeffrey Moe" userId="495852c6-9817-4bbb-9162-b2e8ad79383d" providerId="ADAL" clId="{45C24337-BC83-426E-8555-560DB5D20005}" dt="2025-10-17T18:50:56.466" v="3962" actId="207"/>
        <pc:sldMkLst>
          <pc:docMk/>
          <pc:sldMk cId="2245911696" sldId="257"/>
        </pc:sldMkLst>
        <pc:spChg chg="mod">
          <ac:chgData name="Jeffrey Moe" userId="495852c6-9817-4bbb-9162-b2e8ad79383d" providerId="ADAL" clId="{45C24337-BC83-426E-8555-560DB5D20005}" dt="2025-10-17T18:50:56.466" v="3962" actId="207"/>
          <ac:spMkLst>
            <pc:docMk/>
            <pc:sldMk cId="2245911696" sldId="257"/>
            <ac:spMk id="3" creationId="{47A87B7B-3580-FF28-9139-B32CAC2C618D}"/>
          </ac:spMkLst>
        </pc:spChg>
        <pc:picChg chg="add mod ord">
          <ac:chgData name="Jeffrey Moe" userId="495852c6-9817-4bbb-9162-b2e8ad79383d" providerId="ADAL" clId="{45C24337-BC83-426E-8555-560DB5D20005}" dt="2025-10-17T16:44:41.635" v="2014" actId="167"/>
          <ac:picMkLst>
            <pc:docMk/>
            <pc:sldMk cId="2245911696" sldId="257"/>
            <ac:picMk id="4" creationId="{DF3926AA-10B6-5E79-6F17-28E6DC052EA1}"/>
          </ac:picMkLst>
        </pc:picChg>
      </pc:sldChg>
      <pc:sldChg chg="modSp mod">
        <pc:chgData name="Jeffrey Moe" userId="495852c6-9817-4bbb-9162-b2e8ad79383d" providerId="ADAL" clId="{45C24337-BC83-426E-8555-560DB5D20005}" dt="2025-10-17T13:33:24.767" v="203" actId="2085"/>
        <pc:sldMkLst>
          <pc:docMk/>
          <pc:sldMk cId="1027270484" sldId="258"/>
        </pc:sldMkLst>
        <pc:graphicFrameChg chg="mod modGraphic">
          <ac:chgData name="Jeffrey Moe" userId="495852c6-9817-4bbb-9162-b2e8ad79383d" providerId="ADAL" clId="{45C24337-BC83-426E-8555-560DB5D20005}" dt="2025-10-17T13:33:24.767" v="203" actId="2085"/>
          <ac:graphicFrameMkLst>
            <pc:docMk/>
            <pc:sldMk cId="1027270484" sldId="258"/>
            <ac:graphicFrameMk id="28" creationId="{D0810705-655F-8B0C-F400-50C111F8BA0E}"/>
          </ac:graphicFrameMkLst>
        </pc:graphicFrameChg>
      </pc:sldChg>
      <pc:sldChg chg="addSp modSp add mod">
        <pc:chgData name="Jeffrey Moe" userId="495852c6-9817-4bbb-9162-b2e8ad79383d" providerId="ADAL" clId="{45C24337-BC83-426E-8555-560DB5D20005}" dt="2025-10-17T16:29:41.153" v="1433" actId="167"/>
        <pc:sldMkLst>
          <pc:docMk/>
          <pc:sldMk cId="3224363803" sldId="262"/>
        </pc:sldMkLst>
        <pc:picChg chg="add mod ord">
          <ac:chgData name="Jeffrey Moe" userId="495852c6-9817-4bbb-9162-b2e8ad79383d" providerId="ADAL" clId="{45C24337-BC83-426E-8555-560DB5D20005}" dt="2025-10-17T16:29:41.153" v="1433" actId="167"/>
          <ac:picMkLst>
            <pc:docMk/>
            <pc:sldMk cId="3224363803" sldId="262"/>
            <ac:picMk id="3" creationId="{6424D0D9-0DB7-40CD-6751-C2086EC12D02}"/>
          </ac:picMkLst>
        </pc:picChg>
      </pc:sldChg>
      <pc:sldChg chg="addSp delSp modSp del mod ord">
        <pc:chgData name="Jeffrey Moe" userId="495852c6-9817-4bbb-9162-b2e8ad79383d" providerId="ADAL" clId="{45C24337-BC83-426E-8555-560DB5D20005}" dt="2025-10-17T16:38:09.677" v="1644" actId="47"/>
        <pc:sldMkLst>
          <pc:docMk/>
          <pc:sldMk cId="3408760563" sldId="264"/>
        </pc:sldMkLst>
        <pc:spChg chg="add mod">
          <ac:chgData name="Jeffrey Moe" userId="495852c6-9817-4bbb-9162-b2e8ad79383d" providerId="ADAL" clId="{45C24337-BC83-426E-8555-560DB5D20005}" dt="2025-10-17T16:38:01.581" v="1641" actId="21"/>
          <ac:spMkLst>
            <pc:docMk/>
            <pc:sldMk cId="3408760563" sldId="264"/>
            <ac:spMk id="6" creationId="{09EA3FA8-6E97-0D34-BAC6-5BF0B8277A6D}"/>
          </ac:spMkLst>
        </pc:spChg>
        <pc:graphicFrameChg chg="del">
          <ac:chgData name="Jeffrey Moe" userId="495852c6-9817-4bbb-9162-b2e8ad79383d" providerId="ADAL" clId="{45C24337-BC83-426E-8555-560DB5D20005}" dt="2025-10-17T16:38:01.581" v="1641" actId="21"/>
          <ac:graphicFrameMkLst>
            <pc:docMk/>
            <pc:sldMk cId="3408760563" sldId="264"/>
            <ac:graphicFrameMk id="5" creationId="{3E38E189-8B0B-C38A-0057-519C13B88317}"/>
          </ac:graphicFrameMkLst>
        </pc:graphicFrameChg>
        <pc:picChg chg="add del mod ord">
          <ac:chgData name="Jeffrey Moe" userId="495852c6-9817-4bbb-9162-b2e8ad79383d" providerId="ADAL" clId="{45C24337-BC83-426E-8555-560DB5D20005}" dt="2025-10-17T16:38:05.034" v="1642" actId="478"/>
          <ac:picMkLst>
            <pc:docMk/>
            <pc:sldMk cId="3408760563" sldId="264"/>
            <ac:picMk id="3" creationId="{03192DD4-B37F-17EF-BC84-74200545CA5A}"/>
          </ac:picMkLst>
        </pc:picChg>
      </pc:sldChg>
      <pc:sldChg chg="modSp mod">
        <pc:chgData name="Jeffrey Moe" userId="495852c6-9817-4bbb-9162-b2e8ad79383d" providerId="ADAL" clId="{45C24337-BC83-426E-8555-560DB5D20005}" dt="2025-10-17T18:28:41.021" v="3581"/>
        <pc:sldMkLst>
          <pc:docMk/>
          <pc:sldMk cId="4172857768" sldId="265"/>
        </pc:sldMkLst>
        <pc:spChg chg="mod">
          <ac:chgData name="Jeffrey Moe" userId="495852c6-9817-4bbb-9162-b2e8ad79383d" providerId="ADAL" clId="{45C24337-BC83-426E-8555-560DB5D20005}" dt="2025-10-17T13:35:32.138" v="224" actId="1076"/>
          <ac:spMkLst>
            <pc:docMk/>
            <pc:sldMk cId="4172857768" sldId="265"/>
            <ac:spMk id="2" creationId="{E039C3AC-1FE6-5E21-E0E1-D59B4ED00AB7}"/>
          </ac:spMkLst>
        </pc:spChg>
        <pc:graphicFrameChg chg="mod modGraphic">
          <ac:chgData name="Jeffrey Moe" userId="495852c6-9817-4bbb-9162-b2e8ad79383d" providerId="ADAL" clId="{45C24337-BC83-426E-8555-560DB5D20005}" dt="2025-10-17T18:28:41.021" v="3581"/>
          <ac:graphicFrameMkLst>
            <pc:docMk/>
            <pc:sldMk cId="4172857768" sldId="265"/>
            <ac:graphicFrameMk id="4" creationId="{DF4CFFD6-CCB2-6BAE-8137-605500D37934}"/>
          </ac:graphicFrameMkLst>
        </pc:graphicFrameChg>
      </pc:sldChg>
      <pc:sldChg chg="modNotesTx">
        <pc:chgData name="Jeffrey Moe" userId="495852c6-9817-4bbb-9162-b2e8ad79383d" providerId="ADAL" clId="{45C24337-BC83-426E-8555-560DB5D20005}" dt="2025-10-17T18:54:40.342" v="3994" actId="20577"/>
        <pc:sldMkLst>
          <pc:docMk/>
          <pc:sldMk cId="1438637188" sldId="267"/>
        </pc:sldMkLst>
      </pc:sldChg>
      <pc:sldChg chg="modNotesTx">
        <pc:chgData name="Jeffrey Moe" userId="495852c6-9817-4bbb-9162-b2e8ad79383d" providerId="ADAL" clId="{45C24337-BC83-426E-8555-560DB5D20005}" dt="2025-10-17T19:11:44.374" v="4276" actId="20577"/>
        <pc:sldMkLst>
          <pc:docMk/>
          <pc:sldMk cId="1058563832" sldId="269"/>
        </pc:sldMkLst>
      </pc:sldChg>
      <pc:sldChg chg="modSp mod">
        <pc:chgData name="Jeffrey Moe" userId="495852c6-9817-4bbb-9162-b2e8ad79383d" providerId="ADAL" clId="{45C24337-BC83-426E-8555-560DB5D20005}" dt="2025-10-17T18:22:21.385" v="3450"/>
        <pc:sldMkLst>
          <pc:docMk/>
          <pc:sldMk cId="2203687519" sldId="270"/>
        </pc:sldMkLst>
        <pc:graphicFrameChg chg="modGraphic">
          <ac:chgData name="Jeffrey Moe" userId="495852c6-9817-4bbb-9162-b2e8ad79383d" providerId="ADAL" clId="{45C24337-BC83-426E-8555-560DB5D20005}" dt="2025-10-17T18:22:21.385" v="3450"/>
          <ac:graphicFrameMkLst>
            <pc:docMk/>
            <pc:sldMk cId="2203687519" sldId="270"/>
            <ac:graphicFrameMk id="5" creationId="{67D511A5-5177-239F-425E-03EF52D2216A}"/>
          </ac:graphicFrameMkLst>
        </pc:graphicFrameChg>
      </pc:sldChg>
      <pc:sldChg chg="ord modNotesTx">
        <pc:chgData name="Jeffrey Moe" userId="495852c6-9817-4bbb-9162-b2e8ad79383d" providerId="ADAL" clId="{45C24337-BC83-426E-8555-560DB5D20005}" dt="2025-10-17T18:58:47.341" v="4086" actId="20577"/>
        <pc:sldMkLst>
          <pc:docMk/>
          <pc:sldMk cId="4133937599" sldId="271"/>
        </pc:sldMkLst>
      </pc:sldChg>
      <pc:sldChg chg="addSp modSp add mod">
        <pc:chgData name="Jeffrey Moe" userId="495852c6-9817-4bbb-9162-b2e8ad79383d" providerId="ADAL" clId="{45C24337-BC83-426E-8555-560DB5D20005}" dt="2025-10-17T16:34:42.972" v="1619" actId="167"/>
        <pc:sldMkLst>
          <pc:docMk/>
          <pc:sldMk cId="1501952115" sldId="274"/>
        </pc:sldMkLst>
        <pc:picChg chg="add mod ord">
          <ac:chgData name="Jeffrey Moe" userId="495852c6-9817-4bbb-9162-b2e8ad79383d" providerId="ADAL" clId="{45C24337-BC83-426E-8555-560DB5D20005}" dt="2025-10-17T16:34:42.972" v="1619" actId="167"/>
          <ac:picMkLst>
            <pc:docMk/>
            <pc:sldMk cId="1501952115" sldId="274"/>
            <ac:picMk id="3" creationId="{7B265E75-8F46-018B-54BF-771CD0ECF280}"/>
          </ac:picMkLst>
        </pc:picChg>
      </pc:sldChg>
      <pc:sldChg chg="del">
        <pc:chgData name="Jeffrey Moe" userId="495852c6-9817-4bbb-9162-b2e8ad79383d" providerId="ADAL" clId="{45C24337-BC83-426E-8555-560DB5D20005}" dt="2025-10-17T15:08:19.963" v="1419" actId="47"/>
        <pc:sldMkLst>
          <pc:docMk/>
          <pc:sldMk cId="3658648075" sldId="274"/>
        </pc:sldMkLst>
      </pc:sldChg>
      <pc:sldChg chg="addSp delSp modSp new mod ord modNotesTx">
        <pc:chgData name="Jeffrey Moe" userId="495852c6-9817-4bbb-9162-b2e8ad79383d" providerId="ADAL" clId="{45C24337-BC83-426E-8555-560DB5D20005}" dt="2025-10-18T19:04:49.359" v="4277" actId="478"/>
        <pc:sldMkLst>
          <pc:docMk/>
          <pc:sldMk cId="2538550346" sldId="275"/>
        </pc:sldMkLst>
        <pc:spChg chg="mod">
          <ac:chgData name="Jeffrey Moe" userId="495852c6-9817-4bbb-9162-b2e8ad79383d" providerId="ADAL" clId="{45C24337-BC83-426E-8555-560DB5D20005}" dt="2025-10-17T12:57:13.980" v="33" actId="20577"/>
          <ac:spMkLst>
            <pc:docMk/>
            <pc:sldMk cId="2538550346" sldId="275"/>
            <ac:spMk id="2" creationId="{2AF5ED1D-FD3D-F9A6-FE30-CBC38F5B444B}"/>
          </ac:spMkLst>
        </pc:spChg>
        <pc:spChg chg="del">
          <ac:chgData name="Jeffrey Moe" userId="495852c6-9817-4bbb-9162-b2e8ad79383d" providerId="ADAL" clId="{45C24337-BC83-426E-8555-560DB5D20005}" dt="2025-10-17T12:55:47.323" v="1"/>
          <ac:spMkLst>
            <pc:docMk/>
            <pc:sldMk cId="2538550346" sldId="275"/>
            <ac:spMk id="3" creationId="{BBFD3AD2-50F7-D948-EB12-F04AA71E109D}"/>
          </ac:spMkLst>
        </pc:spChg>
        <pc:spChg chg="add del">
          <ac:chgData name="Jeffrey Moe" userId="495852c6-9817-4bbb-9162-b2e8ad79383d" providerId="ADAL" clId="{45C24337-BC83-426E-8555-560DB5D20005}" dt="2025-10-18T19:04:49.359" v="4277" actId="478"/>
          <ac:spMkLst>
            <pc:docMk/>
            <pc:sldMk cId="2538550346" sldId="275"/>
            <ac:spMk id="7" creationId="{E6184ABF-9D2F-4E5F-9D94-9E1FCEACAB69}"/>
          </ac:spMkLst>
        </pc:spChg>
        <pc:graphicFrameChg chg="add mod modGraphic">
          <ac:chgData name="Jeffrey Moe" userId="495852c6-9817-4bbb-9162-b2e8ad79383d" providerId="ADAL" clId="{45C24337-BC83-426E-8555-560DB5D20005}" dt="2025-10-17T18:29:22.313" v="3602"/>
          <ac:graphicFrameMkLst>
            <pc:docMk/>
            <pc:sldMk cId="2538550346" sldId="275"/>
            <ac:graphicFrameMk id="4" creationId="{44736CF4-CDCA-0559-13F6-435AE1586C86}"/>
          </ac:graphicFrameMkLst>
        </pc:graphicFrameChg>
        <pc:picChg chg="add mod ord">
          <ac:chgData name="Jeffrey Moe" userId="495852c6-9817-4bbb-9162-b2e8ad79383d" providerId="ADAL" clId="{45C24337-BC83-426E-8555-560DB5D20005}" dt="2025-10-17T13:21:03.408" v="114" actId="1076"/>
          <ac:picMkLst>
            <pc:docMk/>
            <pc:sldMk cId="2538550346" sldId="275"/>
            <ac:picMk id="5" creationId="{29205C95-2920-B49D-9317-CFF13C54D045}"/>
          </ac:picMkLst>
        </pc:picChg>
      </pc:sldChg>
      <pc:sldChg chg="addSp delSp modSp new mod ord modNotesTx">
        <pc:chgData name="Jeffrey Moe" userId="495852c6-9817-4bbb-9162-b2e8ad79383d" providerId="ADAL" clId="{45C24337-BC83-426E-8555-560DB5D20005}" dt="2025-10-17T18:59:53.919" v="4154" actId="20577"/>
        <pc:sldMkLst>
          <pc:docMk/>
          <pc:sldMk cId="2630679495" sldId="276"/>
        </pc:sldMkLst>
        <pc:spChg chg="mod">
          <ac:chgData name="Jeffrey Moe" userId="495852c6-9817-4bbb-9162-b2e8ad79383d" providerId="ADAL" clId="{45C24337-BC83-426E-8555-560DB5D20005}" dt="2025-10-17T13:08:12.893" v="99" actId="20577"/>
          <ac:spMkLst>
            <pc:docMk/>
            <pc:sldMk cId="2630679495" sldId="276"/>
            <ac:spMk id="2" creationId="{2DE46D77-5013-F648-382F-431C8C637EAB}"/>
          </ac:spMkLst>
        </pc:spChg>
        <pc:spChg chg="del">
          <ac:chgData name="Jeffrey Moe" userId="495852c6-9817-4bbb-9162-b2e8ad79383d" providerId="ADAL" clId="{45C24337-BC83-426E-8555-560DB5D20005}" dt="2025-10-17T13:14:59.957" v="102"/>
          <ac:spMkLst>
            <pc:docMk/>
            <pc:sldMk cId="2630679495" sldId="276"/>
            <ac:spMk id="3" creationId="{66F82B88-85C8-217F-E287-06BD80AE96C7}"/>
          </ac:spMkLst>
        </pc:spChg>
        <pc:graphicFrameChg chg="add mod modGraphic">
          <ac:chgData name="Jeffrey Moe" userId="495852c6-9817-4bbb-9162-b2e8ad79383d" providerId="ADAL" clId="{45C24337-BC83-426E-8555-560DB5D20005}" dt="2025-10-17T18:20:53.574" v="3219"/>
          <ac:graphicFrameMkLst>
            <pc:docMk/>
            <pc:sldMk cId="2630679495" sldId="276"/>
            <ac:graphicFrameMk id="4" creationId="{AD7922FD-B24D-7E44-3788-98F6B0A7DC55}"/>
          </ac:graphicFrameMkLst>
        </pc:graphicFrameChg>
        <pc:picChg chg="add mod ord">
          <ac:chgData name="Jeffrey Moe" userId="495852c6-9817-4bbb-9162-b2e8ad79383d" providerId="ADAL" clId="{45C24337-BC83-426E-8555-560DB5D20005}" dt="2025-10-17T13:21:12.521" v="116" actId="167"/>
          <ac:picMkLst>
            <pc:docMk/>
            <pc:sldMk cId="2630679495" sldId="276"/>
            <ac:picMk id="5" creationId="{8852C6A0-CF00-9BAD-537B-9E9EA4EEF82E}"/>
          </ac:picMkLst>
        </pc:picChg>
      </pc:sldChg>
      <pc:sldChg chg="addSp delSp modSp new mod ord modNotesTx">
        <pc:chgData name="Jeffrey Moe" userId="495852c6-9817-4bbb-9162-b2e8ad79383d" providerId="ADAL" clId="{45C24337-BC83-426E-8555-560DB5D20005}" dt="2025-10-17T19:05:13.272" v="4178" actId="20577"/>
        <pc:sldMkLst>
          <pc:docMk/>
          <pc:sldMk cId="2770144529" sldId="277"/>
        </pc:sldMkLst>
        <pc:spChg chg="mod">
          <ac:chgData name="Jeffrey Moe" userId="495852c6-9817-4bbb-9162-b2e8ad79383d" providerId="ADAL" clId="{45C24337-BC83-426E-8555-560DB5D20005}" dt="2025-10-17T13:30:40.908" v="150" actId="20577"/>
          <ac:spMkLst>
            <pc:docMk/>
            <pc:sldMk cId="2770144529" sldId="277"/>
            <ac:spMk id="2" creationId="{E9DA8FAE-1396-4B17-BCF6-E50F698A61DA}"/>
          </ac:spMkLst>
        </pc:spChg>
        <pc:spChg chg="del">
          <ac:chgData name="Jeffrey Moe" userId="495852c6-9817-4bbb-9162-b2e8ad79383d" providerId="ADAL" clId="{45C24337-BC83-426E-8555-560DB5D20005}" dt="2025-10-17T13:37:31.363" v="226" actId="3680"/>
          <ac:spMkLst>
            <pc:docMk/>
            <pc:sldMk cId="2770144529" sldId="277"/>
            <ac:spMk id="3" creationId="{257D6768-A9E4-8EE8-9F18-42DAE6955BFF}"/>
          </ac:spMkLst>
        </pc:spChg>
        <pc:spChg chg="add del mod">
          <ac:chgData name="Jeffrey Moe" userId="495852c6-9817-4bbb-9162-b2e8ad79383d" providerId="ADAL" clId="{45C24337-BC83-426E-8555-560DB5D20005}" dt="2025-10-17T13:41:11.021" v="347" actId="478"/>
          <ac:spMkLst>
            <pc:docMk/>
            <pc:sldMk cId="2770144529" sldId="277"/>
            <ac:spMk id="6" creationId="{9E850F42-AE04-3A34-18C3-DB0EF475E204}"/>
          </ac:spMkLst>
        </pc:spChg>
        <pc:spChg chg="add del mod">
          <ac:chgData name="Jeffrey Moe" userId="495852c6-9817-4bbb-9162-b2e8ad79383d" providerId="ADAL" clId="{45C24337-BC83-426E-8555-560DB5D20005}" dt="2025-10-17T13:40:48.108" v="325" actId="478"/>
          <ac:spMkLst>
            <pc:docMk/>
            <pc:sldMk cId="2770144529" sldId="277"/>
            <ac:spMk id="8" creationId="{CE570137-3885-78AC-915B-6110353E41BC}"/>
          </ac:spMkLst>
        </pc:spChg>
        <pc:spChg chg="add mod">
          <ac:chgData name="Jeffrey Moe" userId="495852c6-9817-4bbb-9162-b2e8ad79383d" providerId="ADAL" clId="{45C24337-BC83-426E-8555-560DB5D20005}" dt="2025-10-17T14:15:10.214" v="976" actId="113"/>
          <ac:spMkLst>
            <pc:docMk/>
            <pc:sldMk cId="2770144529" sldId="277"/>
            <ac:spMk id="9" creationId="{94ADD274-2583-1536-AFAC-4D9DB9D60E75}"/>
          </ac:spMkLst>
        </pc:spChg>
        <pc:spChg chg="add mod">
          <ac:chgData name="Jeffrey Moe" userId="495852c6-9817-4bbb-9162-b2e8ad79383d" providerId="ADAL" clId="{45C24337-BC83-426E-8555-560DB5D20005}" dt="2025-10-17T14:01:38.502" v="812" actId="14100"/>
          <ac:spMkLst>
            <pc:docMk/>
            <pc:sldMk cId="2770144529" sldId="277"/>
            <ac:spMk id="10" creationId="{2551D4C0-3916-0C48-A6CB-E25F36025BFC}"/>
          </ac:spMkLst>
        </pc:spChg>
        <pc:graphicFrameChg chg="add del mod ord modGraphic">
          <ac:chgData name="Jeffrey Moe" userId="495852c6-9817-4bbb-9162-b2e8ad79383d" providerId="ADAL" clId="{45C24337-BC83-426E-8555-560DB5D20005}" dt="2025-10-17T13:40:44.580" v="324" actId="478"/>
          <ac:graphicFrameMkLst>
            <pc:docMk/>
            <pc:sldMk cId="2770144529" sldId="277"/>
            <ac:graphicFrameMk id="5" creationId="{CFEF472E-48BE-ADF3-B03F-C8B36AF7B53A}"/>
          </ac:graphicFrameMkLst>
        </pc:graphicFrameChg>
        <pc:graphicFrameChg chg="add mod modGraphic">
          <ac:chgData name="Jeffrey Moe" userId="495852c6-9817-4bbb-9162-b2e8ad79383d" providerId="ADAL" clId="{45C24337-BC83-426E-8555-560DB5D20005}" dt="2025-10-17T14:16:29.030" v="1008" actId="20577"/>
          <ac:graphicFrameMkLst>
            <pc:docMk/>
            <pc:sldMk cId="2770144529" sldId="277"/>
            <ac:graphicFrameMk id="11" creationId="{AB5996BD-C34E-7CBC-AF98-E07D7BED6D1C}"/>
          </ac:graphicFrameMkLst>
        </pc:graphicFrameChg>
        <pc:graphicFrameChg chg="add del mod modGraphic">
          <ac:chgData name="Jeffrey Moe" userId="495852c6-9817-4bbb-9162-b2e8ad79383d" providerId="ADAL" clId="{45C24337-BC83-426E-8555-560DB5D20005}" dt="2025-10-17T13:49:43.528" v="482" actId="478"/>
          <ac:graphicFrameMkLst>
            <pc:docMk/>
            <pc:sldMk cId="2770144529" sldId="277"/>
            <ac:graphicFrameMk id="12" creationId="{D179C950-69E2-C1A8-C79E-F0954B1D2F41}"/>
          </ac:graphicFrameMkLst>
        </pc:graphicFrameChg>
        <pc:graphicFrameChg chg="add mod modGraphic">
          <ac:chgData name="Jeffrey Moe" userId="495852c6-9817-4bbb-9162-b2e8ad79383d" providerId="ADAL" clId="{45C24337-BC83-426E-8555-560DB5D20005}" dt="2025-10-17T14:12:24.573" v="938" actId="14100"/>
          <ac:graphicFrameMkLst>
            <pc:docMk/>
            <pc:sldMk cId="2770144529" sldId="277"/>
            <ac:graphicFrameMk id="13" creationId="{2A59EC4D-32E4-5F20-92B6-F8868CFF223D}"/>
          </ac:graphicFrameMkLst>
        </pc:graphicFrameChg>
        <pc:graphicFrameChg chg="add mod modGraphic">
          <ac:chgData name="Jeffrey Moe" userId="495852c6-9817-4bbb-9162-b2e8ad79383d" providerId="ADAL" clId="{45C24337-BC83-426E-8555-560DB5D20005}" dt="2025-10-17T14:08:21.536" v="886" actId="113"/>
          <ac:graphicFrameMkLst>
            <pc:docMk/>
            <pc:sldMk cId="2770144529" sldId="277"/>
            <ac:graphicFrameMk id="14" creationId="{1D00F3C4-35EF-8E94-9435-38BEB2BB99F9}"/>
          </ac:graphicFrameMkLst>
        </pc:graphicFrameChg>
        <pc:graphicFrameChg chg="add mod modGraphic">
          <ac:chgData name="Jeffrey Moe" userId="495852c6-9817-4bbb-9162-b2e8ad79383d" providerId="ADAL" clId="{45C24337-BC83-426E-8555-560DB5D20005}" dt="2025-10-17T14:12:21.129" v="937" actId="14100"/>
          <ac:graphicFrameMkLst>
            <pc:docMk/>
            <pc:sldMk cId="2770144529" sldId="277"/>
            <ac:graphicFrameMk id="15" creationId="{C073614A-B6D6-FEE6-A8E3-4992C8227934}"/>
          </ac:graphicFrameMkLst>
        </pc:graphicFrameChg>
        <pc:graphicFrameChg chg="add mod modGraphic">
          <ac:chgData name="Jeffrey Moe" userId="495852c6-9817-4bbb-9162-b2e8ad79383d" providerId="ADAL" clId="{45C24337-BC83-426E-8555-560DB5D20005}" dt="2025-10-17T14:12:10.953" v="935" actId="14100"/>
          <ac:graphicFrameMkLst>
            <pc:docMk/>
            <pc:sldMk cId="2770144529" sldId="277"/>
            <ac:graphicFrameMk id="16" creationId="{CEFCC2BE-632D-6D1E-B6AC-5E0E62D63AD6}"/>
          </ac:graphicFrameMkLst>
        </pc:graphicFrameChg>
        <pc:graphicFrameChg chg="add mod modGraphic">
          <ac:chgData name="Jeffrey Moe" userId="495852c6-9817-4bbb-9162-b2e8ad79383d" providerId="ADAL" clId="{45C24337-BC83-426E-8555-560DB5D20005}" dt="2025-10-17T14:12:41.992" v="943" actId="20577"/>
          <ac:graphicFrameMkLst>
            <pc:docMk/>
            <pc:sldMk cId="2770144529" sldId="277"/>
            <ac:graphicFrameMk id="17" creationId="{EC8854A3-5479-E5C9-B01B-F35C6CB6621F}"/>
          </ac:graphicFrameMkLst>
        </pc:graphicFrameChg>
        <pc:graphicFrameChg chg="add mod modGraphic">
          <ac:chgData name="Jeffrey Moe" userId="495852c6-9817-4bbb-9162-b2e8ad79383d" providerId="ADAL" clId="{45C24337-BC83-426E-8555-560DB5D20005}" dt="2025-10-17T14:10:25.900" v="928" actId="20577"/>
          <ac:graphicFrameMkLst>
            <pc:docMk/>
            <pc:sldMk cId="2770144529" sldId="277"/>
            <ac:graphicFrameMk id="18" creationId="{9DD099F8-8E99-DBC3-D47E-E0089834DFFD}"/>
          </ac:graphicFrameMkLst>
        </pc:graphicFrameChg>
        <pc:graphicFrameChg chg="add mod">
          <ac:chgData name="Jeffrey Moe" userId="495852c6-9817-4bbb-9162-b2e8ad79383d" providerId="ADAL" clId="{45C24337-BC83-426E-8555-560DB5D20005}" dt="2025-10-17T14:04:37.433" v="836"/>
          <ac:graphicFrameMkLst>
            <pc:docMk/>
            <pc:sldMk cId="2770144529" sldId="277"/>
            <ac:graphicFrameMk id="19" creationId="{16A42D9D-540D-DC86-4964-4A747288F121}"/>
          </ac:graphicFrameMkLst>
        </pc:graphicFrameChg>
        <pc:picChg chg="add mod ord">
          <ac:chgData name="Jeffrey Moe" userId="495852c6-9817-4bbb-9162-b2e8ad79383d" providerId="ADAL" clId="{45C24337-BC83-426E-8555-560DB5D20005}" dt="2025-10-17T13:37:50.798" v="228" actId="1076"/>
          <ac:picMkLst>
            <pc:docMk/>
            <pc:sldMk cId="2770144529" sldId="277"/>
            <ac:picMk id="4" creationId="{4965AF83-B926-848A-01E3-DA780DD76A10}"/>
          </ac:picMkLst>
        </pc:picChg>
      </pc:sldChg>
      <pc:sldChg chg="addSp modSp new mod ord">
        <pc:chgData name="Jeffrey Moe" userId="495852c6-9817-4bbb-9162-b2e8ad79383d" providerId="ADAL" clId="{45C24337-BC83-426E-8555-560DB5D20005}" dt="2025-10-17T16:35:14.119" v="1621"/>
        <pc:sldMkLst>
          <pc:docMk/>
          <pc:sldMk cId="3879058967" sldId="278"/>
        </pc:sldMkLst>
        <pc:spChg chg="mod">
          <ac:chgData name="Jeffrey Moe" userId="495852c6-9817-4bbb-9162-b2e8ad79383d" providerId="ADAL" clId="{45C24337-BC83-426E-8555-560DB5D20005}" dt="2025-10-17T13:32:16.434" v="193" actId="122"/>
          <ac:spMkLst>
            <pc:docMk/>
            <pc:sldMk cId="3879058967" sldId="278"/>
            <ac:spMk id="2" creationId="{D19C1B8E-FE85-46EE-083D-5D93D312D096}"/>
          </ac:spMkLst>
        </pc:spChg>
        <pc:picChg chg="add mod ord">
          <ac:chgData name="Jeffrey Moe" userId="495852c6-9817-4bbb-9162-b2e8ad79383d" providerId="ADAL" clId="{45C24337-BC83-426E-8555-560DB5D20005}" dt="2025-10-17T13:31:33.827" v="188" actId="1076"/>
          <ac:picMkLst>
            <pc:docMk/>
            <pc:sldMk cId="3879058967" sldId="278"/>
            <ac:picMk id="4" creationId="{37550CBA-4B60-D2FD-B938-AAADD00C635C}"/>
          </ac:picMkLst>
        </pc:picChg>
      </pc:sldChg>
      <pc:sldChg chg="modSp add mod ord">
        <pc:chgData name="Jeffrey Moe" userId="495852c6-9817-4bbb-9162-b2e8ad79383d" providerId="ADAL" clId="{45C24337-BC83-426E-8555-560DB5D20005}" dt="2025-10-17T16:35:14.119" v="1621"/>
        <pc:sldMkLst>
          <pc:docMk/>
          <pc:sldMk cId="154427829" sldId="279"/>
        </pc:sldMkLst>
        <pc:spChg chg="mod">
          <ac:chgData name="Jeffrey Moe" userId="495852c6-9817-4bbb-9162-b2e8ad79383d" providerId="ADAL" clId="{45C24337-BC83-426E-8555-560DB5D20005}" dt="2025-10-17T14:16:11.765" v="1005" actId="313"/>
          <ac:spMkLst>
            <pc:docMk/>
            <pc:sldMk cId="154427829" sldId="279"/>
            <ac:spMk id="2" creationId="{E5F2855B-E6E2-6F9F-D079-36A3248D7D31}"/>
          </ac:spMkLst>
        </pc:spChg>
      </pc:sldChg>
      <pc:sldChg chg="addSp delSp modSp new mod ord modClrScheme chgLayout modNotesTx">
        <pc:chgData name="Jeffrey Moe" userId="495852c6-9817-4bbb-9162-b2e8ad79383d" providerId="ADAL" clId="{45C24337-BC83-426E-8555-560DB5D20005}" dt="2025-10-17T19:06:00.814" v="4188" actId="20577"/>
        <pc:sldMkLst>
          <pc:docMk/>
          <pc:sldMk cId="386386447" sldId="280"/>
        </pc:sldMkLst>
        <pc:spChg chg="del mod ord">
          <ac:chgData name="Jeffrey Moe" userId="495852c6-9817-4bbb-9162-b2e8ad79383d" providerId="ADAL" clId="{45C24337-BC83-426E-8555-560DB5D20005}" dt="2025-10-17T14:15:47.921" v="1004" actId="700"/>
          <ac:spMkLst>
            <pc:docMk/>
            <pc:sldMk cId="386386447" sldId="280"/>
            <ac:spMk id="2" creationId="{6BB0ED53-D9A0-A06E-F379-ABC31D0BA7F6}"/>
          </ac:spMkLst>
        </pc:spChg>
        <pc:spChg chg="del mod ord">
          <ac:chgData name="Jeffrey Moe" userId="495852c6-9817-4bbb-9162-b2e8ad79383d" providerId="ADAL" clId="{45C24337-BC83-426E-8555-560DB5D20005}" dt="2025-10-17T14:15:47.921" v="1004" actId="700"/>
          <ac:spMkLst>
            <pc:docMk/>
            <pc:sldMk cId="386386447" sldId="280"/>
            <ac:spMk id="3" creationId="{C0B4AA22-49C1-1923-9CD6-F77F723E2704}"/>
          </ac:spMkLst>
        </pc:spChg>
        <pc:spChg chg="add mod ord">
          <ac:chgData name="Jeffrey Moe" userId="495852c6-9817-4bbb-9162-b2e8ad79383d" providerId="ADAL" clId="{45C24337-BC83-426E-8555-560DB5D20005}" dt="2025-10-17T14:32:48.944" v="1069" actId="20577"/>
          <ac:spMkLst>
            <pc:docMk/>
            <pc:sldMk cId="386386447" sldId="280"/>
            <ac:spMk id="4" creationId="{72EB2D14-7B40-79F1-405A-5461FAFCFCCF}"/>
          </ac:spMkLst>
        </pc:spChg>
        <pc:spChg chg="add del mod ord">
          <ac:chgData name="Jeffrey Moe" userId="495852c6-9817-4bbb-9162-b2e8ad79383d" providerId="ADAL" clId="{45C24337-BC83-426E-8555-560DB5D20005}" dt="2025-10-17T14:30:35.434" v="1018"/>
          <ac:spMkLst>
            <pc:docMk/>
            <pc:sldMk cId="386386447" sldId="280"/>
            <ac:spMk id="5" creationId="{922B8AC7-E2F6-6806-29A8-A76BE996B47F}"/>
          </ac:spMkLst>
        </pc:spChg>
        <pc:graphicFrameChg chg="add mod modGraphic">
          <ac:chgData name="Jeffrey Moe" userId="495852c6-9817-4bbb-9162-b2e8ad79383d" providerId="ADAL" clId="{45C24337-BC83-426E-8555-560DB5D20005}" dt="2025-10-17T18:21:13.999" v="3250"/>
          <ac:graphicFrameMkLst>
            <pc:docMk/>
            <pc:sldMk cId="386386447" sldId="280"/>
            <ac:graphicFrameMk id="6" creationId="{75DABA3C-86AF-3CC1-89F8-11F0E1D15FEB}"/>
          </ac:graphicFrameMkLst>
        </pc:graphicFrameChg>
        <pc:picChg chg="add mod ord">
          <ac:chgData name="Jeffrey Moe" userId="495852c6-9817-4bbb-9162-b2e8ad79383d" providerId="ADAL" clId="{45C24337-BC83-426E-8555-560DB5D20005}" dt="2025-10-17T14:31:24.439" v="1035" actId="167"/>
          <ac:picMkLst>
            <pc:docMk/>
            <pc:sldMk cId="386386447" sldId="280"/>
            <ac:picMk id="7" creationId="{22B36BAC-BC5D-0A39-DCF7-EF4B063E50A9}"/>
          </ac:picMkLst>
        </pc:picChg>
      </pc:sldChg>
      <pc:sldChg chg="new del">
        <pc:chgData name="Jeffrey Moe" userId="495852c6-9817-4bbb-9162-b2e8ad79383d" providerId="ADAL" clId="{45C24337-BC83-426E-8555-560DB5D20005}" dt="2025-10-17T14:31:43.355" v="1039" actId="47"/>
        <pc:sldMkLst>
          <pc:docMk/>
          <pc:sldMk cId="2427273975" sldId="281"/>
        </pc:sldMkLst>
      </pc:sldChg>
      <pc:sldChg chg="addSp delSp modSp add mod ord modNotesTx">
        <pc:chgData name="Jeffrey Moe" userId="495852c6-9817-4bbb-9162-b2e8ad79383d" providerId="ADAL" clId="{45C24337-BC83-426E-8555-560DB5D20005}" dt="2025-10-17T19:06:31.577" v="4200" actId="20577"/>
        <pc:sldMkLst>
          <pc:docMk/>
          <pc:sldMk cId="3861319106" sldId="282"/>
        </pc:sldMkLst>
        <pc:spChg chg="add del mod">
          <ac:chgData name="Jeffrey Moe" userId="495852c6-9817-4bbb-9162-b2e8ad79383d" providerId="ADAL" clId="{45C24337-BC83-426E-8555-560DB5D20005}" dt="2025-10-17T14:31:57.702" v="1041"/>
          <ac:spMkLst>
            <pc:docMk/>
            <pc:sldMk cId="3861319106" sldId="282"/>
            <ac:spMk id="3" creationId="{42A1B3DE-4231-7457-5A27-E36077C600FA}"/>
          </ac:spMkLst>
        </pc:spChg>
        <pc:spChg chg="mod">
          <ac:chgData name="Jeffrey Moe" userId="495852c6-9817-4bbb-9162-b2e8ad79383d" providerId="ADAL" clId="{45C24337-BC83-426E-8555-560DB5D20005}" dt="2025-10-17T14:32:54.906" v="1092" actId="20577"/>
          <ac:spMkLst>
            <pc:docMk/>
            <pc:sldMk cId="3861319106" sldId="282"/>
            <ac:spMk id="4" creationId="{3B191170-970D-E5F1-8E39-5188F0423DE8}"/>
          </ac:spMkLst>
        </pc:spChg>
        <pc:graphicFrameChg chg="add mod modGraphic">
          <ac:chgData name="Jeffrey Moe" userId="495852c6-9817-4bbb-9162-b2e8ad79383d" providerId="ADAL" clId="{45C24337-BC83-426E-8555-560DB5D20005}" dt="2025-10-17T18:21:27.541" v="3283"/>
          <ac:graphicFrameMkLst>
            <pc:docMk/>
            <pc:sldMk cId="3861319106" sldId="282"/>
            <ac:graphicFrameMk id="5" creationId="{78B9D35A-8A15-D3CE-0BA7-336CF2D3A080}"/>
          </ac:graphicFrameMkLst>
        </pc:graphicFrameChg>
        <pc:graphicFrameChg chg="del">
          <ac:chgData name="Jeffrey Moe" userId="495852c6-9817-4bbb-9162-b2e8ad79383d" providerId="ADAL" clId="{45C24337-BC83-426E-8555-560DB5D20005}" dt="2025-10-17T14:31:57.287" v="1040" actId="478"/>
          <ac:graphicFrameMkLst>
            <pc:docMk/>
            <pc:sldMk cId="3861319106" sldId="282"/>
            <ac:graphicFrameMk id="6" creationId="{405DCB96-966B-9221-1D94-578CD968ABF1}"/>
          </ac:graphicFrameMkLst>
        </pc:graphicFrameChg>
      </pc:sldChg>
      <pc:sldChg chg="addSp delSp modSp add mod ord modNotesTx">
        <pc:chgData name="Jeffrey Moe" userId="495852c6-9817-4bbb-9162-b2e8ad79383d" providerId="ADAL" clId="{45C24337-BC83-426E-8555-560DB5D20005}" dt="2025-10-17T19:08:51.907" v="4248" actId="20577"/>
        <pc:sldMkLst>
          <pc:docMk/>
          <pc:sldMk cId="1893173051" sldId="283"/>
        </pc:sldMkLst>
        <pc:spChg chg="add del mod">
          <ac:chgData name="Jeffrey Moe" userId="495852c6-9817-4bbb-9162-b2e8ad79383d" providerId="ADAL" clId="{45C24337-BC83-426E-8555-560DB5D20005}" dt="2025-10-17T14:48:41.139" v="1117" actId="478"/>
          <ac:spMkLst>
            <pc:docMk/>
            <pc:sldMk cId="1893173051" sldId="283"/>
            <ac:spMk id="3" creationId="{4A43DA5F-1D35-FBE1-7865-5DDBA1B87BD9}"/>
          </ac:spMkLst>
        </pc:spChg>
        <pc:spChg chg="mod">
          <ac:chgData name="Jeffrey Moe" userId="495852c6-9817-4bbb-9162-b2e8ad79383d" providerId="ADAL" clId="{45C24337-BC83-426E-8555-560DB5D20005}" dt="2025-10-17T14:49:22.331" v="1146" actId="20577"/>
          <ac:spMkLst>
            <pc:docMk/>
            <pc:sldMk cId="1893173051" sldId="283"/>
            <ac:spMk id="4" creationId="{1AA68BED-59D6-1AEA-30FD-5A3AB0FFEDE2}"/>
          </ac:spMkLst>
        </pc:spChg>
        <pc:graphicFrameChg chg="del">
          <ac:chgData name="Jeffrey Moe" userId="495852c6-9817-4bbb-9162-b2e8ad79383d" providerId="ADAL" clId="{45C24337-BC83-426E-8555-560DB5D20005}" dt="2025-10-17T14:33:04.418" v="1093" actId="478"/>
          <ac:graphicFrameMkLst>
            <pc:docMk/>
            <pc:sldMk cId="1893173051" sldId="283"/>
            <ac:graphicFrameMk id="6" creationId="{E8B46E09-992A-268B-FAAC-954BBF2419E7}"/>
          </ac:graphicFrameMkLst>
        </pc:graphicFrameChg>
        <pc:picChg chg="add mod">
          <ac:chgData name="Jeffrey Moe" userId="495852c6-9817-4bbb-9162-b2e8ad79383d" providerId="ADAL" clId="{45C24337-BC83-426E-8555-560DB5D20005}" dt="2025-10-17T14:49:28.050" v="1149" actId="1076"/>
          <ac:picMkLst>
            <pc:docMk/>
            <pc:sldMk cId="1893173051" sldId="283"/>
            <ac:picMk id="5" creationId="{6A2C4573-204D-6259-F9B9-032F7FD68915}"/>
          </ac:picMkLst>
        </pc:picChg>
        <pc:picChg chg="add mod">
          <ac:chgData name="Jeffrey Moe" userId="495852c6-9817-4bbb-9162-b2e8ad79383d" providerId="ADAL" clId="{45C24337-BC83-426E-8555-560DB5D20005}" dt="2025-10-17T14:49:34.939" v="1153" actId="1076"/>
          <ac:picMkLst>
            <pc:docMk/>
            <pc:sldMk cId="1893173051" sldId="283"/>
            <ac:picMk id="8" creationId="{76953D65-16F1-D091-84AB-81265A9F5F37}"/>
          </ac:picMkLst>
        </pc:picChg>
      </pc:sldChg>
      <pc:sldChg chg="addSp delSp modSp add mod ord modNotesTx">
        <pc:chgData name="Jeffrey Moe" userId="495852c6-9817-4bbb-9162-b2e8ad79383d" providerId="ADAL" clId="{45C24337-BC83-426E-8555-560DB5D20005}" dt="2025-10-17T19:09:31.808" v="4257" actId="20577"/>
        <pc:sldMkLst>
          <pc:docMk/>
          <pc:sldMk cId="1879995906" sldId="284"/>
        </pc:sldMkLst>
        <pc:spChg chg="add del mod">
          <ac:chgData name="Jeffrey Moe" userId="495852c6-9817-4bbb-9162-b2e8ad79383d" providerId="ADAL" clId="{45C24337-BC83-426E-8555-560DB5D20005}" dt="2025-10-17T14:50:05.058" v="1180"/>
          <ac:spMkLst>
            <pc:docMk/>
            <pc:sldMk cId="1879995906" sldId="284"/>
            <ac:spMk id="3" creationId="{7C5511B4-417B-8CF3-2732-4A9F3DDBB093}"/>
          </ac:spMkLst>
        </pc:spChg>
        <pc:spChg chg="mod">
          <ac:chgData name="Jeffrey Moe" userId="495852c6-9817-4bbb-9162-b2e8ad79383d" providerId="ADAL" clId="{45C24337-BC83-426E-8555-560DB5D20005}" dt="2025-10-17T14:50:00.125" v="1178" actId="20577"/>
          <ac:spMkLst>
            <pc:docMk/>
            <pc:sldMk cId="1879995906" sldId="284"/>
            <ac:spMk id="4" creationId="{218B9A23-2D6D-CFFF-8584-94B0D41BC8CA}"/>
          </ac:spMkLst>
        </pc:spChg>
        <pc:graphicFrameChg chg="del">
          <ac:chgData name="Jeffrey Moe" userId="495852c6-9817-4bbb-9162-b2e8ad79383d" providerId="ADAL" clId="{45C24337-BC83-426E-8555-560DB5D20005}" dt="2025-10-17T14:50:04.525" v="1179" actId="478"/>
          <ac:graphicFrameMkLst>
            <pc:docMk/>
            <pc:sldMk cId="1879995906" sldId="284"/>
            <ac:graphicFrameMk id="5" creationId="{21ACF79F-4799-8CF0-2B94-AA3240E97B6E}"/>
          </ac:graphicFrameMkLst>
        </pc:graphicFrameChg>
        <pc:graphicFrameChg chg="add mod modGraphic">
          <ac:chgData name="Jeffrey Moe" userId="495852c6-9817-4bbb-9162-b2e8ad79383d" providerId="ADAL" clId="{45C24337-BC83-426E-8555-560DB5D20005}" dt="2025-10-17T18:21:47.358" v="3345"/>
          <ac:graphicFrameMkLst>
            <pc:docMk/>
            <pc:sldMk cId="1879995906" sldId="284"/>
            <ac:graphicFrameMk id="6" creationId="{1FAB00DB-3947-A798-2CB9-A589DF364D43}"/>
          </ac:graphicFrameMkLst>
        </pc:graphicFrameChg>
      </pc:sldChg>
      <pc:sldChg chg="addSp delSp modSp add mod ord modNotesTx">
        <pc:chgData name="Jeffrey Moe" userId="495852c6-9817-4bbb-9162-b2e8ad79383d" providerId="ADAL" clId="{45C24337-BC83-426E-8555-560DB5D20005}" dt="2025-10-17T19:09:56.250" v="4268" actId="20577"/>
        <pc:sldMkLst>
          <pc:docMk/>
          <pc:sldMk cId="2817762321" sldId="285"/>
        </pc:sldMkLst>
        <pc:spChg chg="add del mod">
          <ac:chgData name="Jeffrey Moe" userId="495852c6-9817-4bbb-9162-b2e8ad79383d" providerId="ADAL" clId="{45C24337-BC83-426E-8555-560DB5D20005}" dt="2025-10-17T14:52:04.545" v="1239"/>
          <ac:spMkLst>
            <pc:docMk/>
            <pc:sldMk cId="2817762321" sldId="285"/>
            <ac:spMk id="3" creationId="{28D71A2F-F5F8-C7DE-41DF-F66D98625899}"/>
          </ac:spMkLst>
        </pc:spChg>
        <pc:spChg chg="mod">
          <ac:chgData name="Jeffrey Moe" userId="495852c6-9817-4bbb-9162-b2e8ad79383d" providerId="ADAL" clId="{45C24337-BC83-426E-8555-560DB5D20005}" dt="2025-10-17T14:53:02.955" v="1269" actId="313"/>
          <ac:spMkLst>
            <pc:docMk/>
            <pc:sldMk cId="2817762321" sldId="285"/>
            <ac:spMk id="4" creationId="{2C02C5E5-310F-6598-66A0-4C894A5A2B72}"/>
          </ac:spMkLst>
        </pc:spChg>
        <pc:graphicFrameChg chg="add mod modGraphic">
          <ac:chgData name="Jeffrey Moe" userId="495852c6-9817-4bbb-9162-b2e8ad79383d" providerId="ADAL" clId="{45C24337-BC83-426E-8555-560DB5D20005}" dt="2025-10-17T18:21:57.396" v="3376"/>
          <ac:graphicFrameMkLst>
            <pc:docMk/>
            <pc:sldMk cId="2817762321" sldId="285"/>
            <ac:graphicFrameMk id="5" creationId="{5AC0BACD-B4BB-F1E7-D680-CCD9A432758C}"/>
          </ac:graphicFrameMkLst>
        </pc:graphicFrameChg>
        <pc:graphicFrameChg chg="del">
          <ac:chgData name="Jeffrey Moe" userId="495852c6-9817-4bbb-9162-b2e8ad79383d" providerId="ADAL" clId="{45C24337-BC83-426E-8555-560DB5D20005}" dt="2025-10-17T14:51:57.185" v="1238" actId="478"/>
          <ac:graphicFrameMkLst>
            <pc:docMk/>
            <pc:sldMk cId="2817762321" sldId="285"/>
            <ac:graphicFrameMk id="6" creationId="{01916B29-A04F-A570-8181-DC4E8E05F0E2}"/>
          </ac:graphicFrameMkLst>
        </pc:graphicFrameChg>
      </pc:sldChg>
      <pc:sldChg chg="addSp delSp modSp add mod ord modNotesTx">
        <pc:chgData name="Jeffrey Moe" userId="495852c6-9817-4bbb-9162-b2e8ad79383d" providerId="ADAL" clId="{45C24337-BC83-426E-8555-560DB5D20005}" dt="2025-10-17T19:06:52.646" v="4204" actId="20577"/>
        <pc:sldMkLst>
          <pc:docMk/>
          <pc:sldMk cId="234789617" sldId="286"/>
        </pc:sldMkLst>
        <pc:spChg chg="add del mod">
          <ac:chgData name="Jeffrey Moe" userId="495852c6-9817-4bbb-9162-b2e8ad79383d" providerId="ADAL" clId="{45C24337-BC83-426E-8555-560DB5D20005}" dt="2025-10-17T14:59:35.178" v="1316"/>
          <ac:spMkLst>
            <pc:docMk/>
            <pc:sldMk cId="234789617" sldId="286"/>
            <ac:spMk id="3" creationId="{3FFA81A6-85C0-A1D4-6359-CB193244C602}"/>
          </ac:spMkLst>
        </pc:spChg>
        <pc:spChg chg="mod">
          <ac:chgData name="Jeffrey Moe" userId="495852c6-9817-4bbb-9162-b2e8ad79383d" providerId="ADAL" clId="{45C24337-BC83-426E-8555-560DB5D20005}" dt="2025-10-17T14:59:46.290" v="1320" actId="313"/>
          <ac:spMkLst>
            <pc:docMk/>
            <pc:sldMk cId="234789617" sldId="286"/>
            <ac:spMk id="4" creationId="{A0AA97BE-FB3F-665B-CA2C-4E74E2999548}"/>
          </ac:spMkLst>
        </pc:spChg>
        <pc:graphicFrameChg chg="add mod modGraphic">
          <ac:chgData name="Jeffrey Moe" userId="495852c6-9817-4bbb-9162-b2e8ad79383d" providerId="ADAL" clId="{45C24337-BC83-426E-8555-560DB5D20005}" dt="2025-10-17T18:21:36.926" v="3314"/>
          <ac:graphicFrameMkLst>
            <pc:docMk/>
            <pc:sldMk cId="234789617" sldId="286"/>
            <ac:graphicFrameMk id="5" creationId="{25906E06-F02F-B326-FC2C-238C4F95F631}"/>
          </ac:graphicFrameMkLst>
        </pc:graphicFrameChg>
        <pc:graphicFrameChg chg="del">
          <ac:chgData name="Jeffrey Moe" userId="495852c6-9817-4bbb-9162-b2e8ad79383d" providerId="ADAL" clId="{45C24337-BC83-426E-8555-560DB5D20005}" dt="2025-10-17T14:59:34.680" v="1315" actId="478"/>
          <ac:graphicFrameMkLst>
            <pc:docMk/>
            <pc:sldMk cId="234789617" sldId="286"/>
            <ac:graphicFrameMk id="6" creationId="{6CD2EEEE-D486-1AE1-7915-41A62FD00033}"/>
          </ac:graphicFrameMkLst>
        </pc:graphicFrameChg>
      </pc:sldChg>
      <pc:sldChg chg="add del">
        <pc:chgData name="Jeffrey Moe" userId="495852c6-9817-4bbb-9162-b2e8ad79383d" providerId="ADAL" clId="{45C24337-BC83-426E-8555-560DB5D20005}" dt="2025-10-17T14:58:32.202" v="1277"/>
        <pc:sldMkLst>
          <pc:docMk/>
          <pc:sldMk cId="3555956856" sldId="286"/>
        </pc:sldMkLst>
      </pc:sldChg>
      <pc:sldChg chg="addSp delSp modSp add mod ord modNotesTx">
        <pc:chgData name="Jeffrey Moe" userId="495852c6-9817-4bbb-9162-b2e8ad79383d" providerId="ADAL" clId="{45C24337-BC83-426E-8555-560DB5D20005}" dt="2025-10-17T19:10:38.835" v="4275" actId="20577"/>
        <pc:sldMkLst>
          <pc:docMk/>
          <pc:sldMk cId="2627671321" sldId="287"/>
        </pc:sldMkLst>
        <pc:spChg chg="add del mod">
          <ac:chgData name="Jeffrey Moe" userId="495852c6-9817-4bbb-9162-b2e8ad79383d" providerId="ADAL" clId="{45C24337-BC83-426E-8555-560DB5D20005}" dt="2025-10-17T15:04:09.616" v="1374"/>
          <ac:spMkLst>
            <pc:docMk/>
            <pc:sldMk cId="2627671321" sldId="287"/>
            <ac:spMk id="3" creationId="{7CB4ABAC-35D8-F470-0D23-7E3E2569C64B}"/>
          </ac:spMkLst>
        </pc:spChg>
        <pc:spChg chg="mod">
          <ac:chgData name="Jeffrey Moe" userId="495852c6-9817-4bbb-9162-b2e8ad79383d" providerId="ADAL" clId="{45C24337-BC83-426E-8555-560DB5D20005}" dt="2025-10-17T15:03:59.924" v="1371" actId="20577"/>
          <ac:spMkLst>
            <pc:docMk/>
            <pc:sldMk cId="2627671321" sldId="287"/>
            <ac:spMk id="4" creationId="{54659B3B-24D3-42CF-AC83-548F58691B20}"/>
          </ac:spMkLst>
        </pc:spChg>
        <pc:graphicFrameChg chg="add mod modGraphic">
          <ac:chgData name="Jeffrey Moe" userId="495852c6-9817-4bbb-9162-b2e8ad79383d" providerId="ADAL" clId="{45C24337-BC83-426E-8555-560DB5D20005}" dt="2025-10-17T18:22:08.074" v="3415"/>
          <ac:graphicFrameMkLst>
            <pc:docMk/>
            <pc:sldMk cId="2627671321" sldId="287"/>
            <ac:graphicFrameMk id="5" creationId="{4343A2C7-B504-FD9D-6324-F19A4ADDF57A}"/>
          </ac:graphicFrameMkLst>
        </pc:graphicFrameChg>
        <pc:graphicFrameChg chg="del">
          <ac:chgData name="Jeffrey Moe" userId="495852c6-9817-4bbb-9162-b2e8ad79383d" providerId="ADAL" clId="{45C24337-BC83-426E-8555-560DB5D20005}" dt="2025-10-17T15:04:09.143" v="1373" actId="478"/>
          <ac:graphicFrameMkLst>
            <pc:docMk/>
            <pc:sldMk cId="2627671321" sldId="287"/>
            <ac:graphicFrameMk id="6" creationId="{19C48CC8-123A-CAEE-8365-27B91C4F5A23}"/>
          </ac:graphicFrameMkLst>
        </pc:graphicFrameChg>
        <pc:picChg chg="mod">
          <ac:chgData name="Jeffrey Moe" userId="495852c6-9817-4bbb-9162-b2e8ad79383d" providerId="ADAL" clId="{45C24337-BC83-426E-8555-560DB5D20005}" dt="2025-10-17T15:04:01.127" v="1372" actId="1076"/>
          <ac:picMkLst>
            <pc:docMk/>
            <pc:sldMk cId="2627671321" sldId="287"/>
            <ac:picMk id="7" creationId="{925367AA-E740-6362-38FE-45202A1BB8D5}"/>
          </ac:picMkLst>
        </pc:picChg>
      </pc:sldChg>
      <pc:sldChg chg="modSp add mod ord">
        <pc:chgData name="Jeffrey Moe" userId="495852c6-9817-4bbb-9162-b2e8ad79383d" providerId="ADAL" clId="{45C24337-BC83-426E-8555-560DB5D20005}" dt="2025-10-17T15:08:01.403" v="1418" actId="20577"/>
        <pc:sldMkLst>
          <pc:docMk/>
          <pc:sldMk cId="4040000873" sldId="288"/>
        </pc:sldMkLst>
        <pc:spChg chg="mod">
          <ac:chgData name="Jeffrey Moe" userId="495852c6-9817-4bbb-9162-b2e8ad79383d" providerId="ADAL" clId="{45C24337-BC83-426E-8555-560DB5D20005}" dt="2025-10-17T15:08:01.403" v="1418" actId="20577"/>
          <ac:spMkLst>
            <pc:docMk/>
            <pc:sldMk cId="4040000873" sldId="288"/>
            <ac:spMk id="2" creationId="{65CFA5B0-807C-9F88-7289-77F4981A257C}"/>
          </ac:spMkLst>
        </pc:spChg>
      </pc:sldChg>
      <pc:sldChg chg="addSp modSp add mod">
        <pc:chgData name="Jeffrey Moe" userId="495852c6-9817-4bbb-9162-b2e8ad79383d" providerId="ADAL" clId="{45C24337-BC83-426E-8555-560DB5D20005}" dt="2025-10-17T16:29:45.727" v="1434" actId="167"/>
        <pc:sldMkLst>
          <pc:docMk/>
          <pc:sldMk cId="3308113844" sldId="289"/>
        </pc:sldMkLst>
        <pc:picChg chg="add mod ord">
          <ac:chgData name="Jeffrey Moe" userId="495852c6-9817-4bbb-9162-b2e8ad79383d" providerId="ADAL" clId="{45C24337-BC83-426E-8555-560DB5D20005}" dt="2025-10-17T16:29:45.727" v="1434" actId="167"/>
          <ac:picMkLst>
            <pc:docMk/>
            <pc:sldMk cId="3308113844" sldId="289"/>
            <ac:picMk id="3" creationId="{1E8B29F4-B0C2-6CFB-0C6E-19DFB64494B1}"/>
          </ac:picMkLst>
        </pc:picChg>
      </pc:sldChg>
      <pc:sldChg chg="addSp modSp add mod">
        <pc:chgData name="Jeffrey Moe" userId="495852c6-9817-4bbb-9162-b2e8ad79383d" providerId="ADAL" clId="{45C24337-BC83-426E-8555-560DB5D20005}" dt="2025-10-17T16:29:48.254" v="1435" actId="167"/>
        <pc:sldMkLst>
          <pc:docMk/>
          <pc:sldMk cId="1687518769" sldId="290"/>
        </pc:sldMkLst>
        <pc:picChg chg="add mod ord">
          <ac:chgData name="Jeffrey Moe" userId="495852c6-9817-4bbb-9162-b2e8ad79383d" providerId="ADAL" clId="{45C24337-BC83-426E-8555-560DB5D20005}" dt="2025-10-17T16:29:48.254" v="1435" actId="167"/>
          <ac:picMkLst>
            <pc:docMk/>
            <pc:sldMk cId="1687518769" sldId="290"/>
            <ac:picMk id="3" creationId="{43D4E2E4-B5C6-BE05-6322-820CD626A75D}"/>
          </ac:picMkLst>
        </pc:picChg>
      </pc:sldChg>
      <pc:sldChg chg="modSp add mod">
        <pc:chgData name="Jeffrey Moe" userId="495852c6-9817-4bbb-9162-b2e8ad79383d" providerId="ADAL" clId="{45C24337-BC83-426E-8555-560DB5D20005}" dt="2025-10-17T16:31:06.090" v="1507"/>
        <pc:sldMkLst>
          <pc:docMk/>
          <pc:sldMk cId="1212940380" sldId="291"/>
        </pc:sldMkLst>
        <pc:graphicFrameChg chg="mod modGraphic">
          <ac:chgData name="Jeffrey Moe" userId="495852c6-9817-4bbb-9162-b2e8ad79383d" providerId="ADAL" clId="{45C24337-BC83-426E-8555-560DB5D20005}" dt="2025-10-17T16:31:06.090" v="1507"/>
          <ac:graphicFrameMkLst>
            <pc:docMk/>
            <pc:sldMk cId="1212940380" sldId="291"/>
            <ac:graphicFrameMk id="18" creationId="{AB2BE665-912F-383A-CCD9-247DCBA31B47}"/>
          </ac:graphicFrameMkLst>
        </pc:graphicFrameChg>
      </pc:sldChg>
      <pc:sldChg chg="addSp modSp add mod">
        <pc:chgData name="Jeffrey Moe" userId="495852c6-9817-4bbb-9162-b2e8ad79383d" providerId="ADAL" clId="{45C24337-BC83-426E-8555-560DB5D20005}" dt="2025-10-17T16:32:09.839" v="1510" actId="167"/>
        <pc:sldMkLst>
          <pc:docMk/>
          <pc:sldMk cId="3379309779" sldId="292"/>
        </pc:sldMkLst>
        <pc:picChg chg="add mod ord">
          <ac:chgData name="Jeffrey Moe" userId="495852c6-9817-4bbb-9162-b2e8ad79383d" providerId="ADAL" clId="{45C24337-BC83-426E-8555-560DB5D20005}" dt="2025-10-17T16:32:09.839" v="1510" actId="167"/>
          <ac:picMkLst>
            <pc:docMk/>
            <pc:sldMk cId="3379309779" sldId="292"/>
            <ac:picMk id="3" creationId="{5436F3F7-E4E0-6B12-86A9-8CBB5B91C0AB}"/>
          </ac:picMkLst>
        </pc:picChg>
      </pc:sldChg>
      <pc:sldChg chg="modSp add mod">
        <pc:chgData name="Jeffrey Moe" userId="495852c6-9817-4bbb-9162-b2e8ad79383d" providerId="ADAL" clId="{45C24337-BC83-426E-8555-560DB5D20005}" dt="2025-10-17T16:32:35.314" v="1555" actId="20577"/>
        <pc:sldMkLst>
          <pc:docMk/>
          <pc:sldMk cId="2269841193" sldId="293"/>
        </pc:sldMkLst>
        <pc:spChg chg="mod">
          <ac:chgData name="Jeffrey Moe" userId="495852c6-9817-4bbb-9162-b2e8ad79383d" providerId="ADAL" clId="{45C24337-BC83-426E-8555-560DB5D20005}" dt="2025-10-17T16:32:35.314" v="1555" actId="20577"/>
          <ac:spMkLst>
            <pc:docMk/>
            <pc:sldMk cId="2269841193" sldId="293"/>
            <ac:spMk id="2" creationId="{4146F982-36B1-B2A0-2AA0-D3234B114C0D}"/>
          </ac:spMkLst>
        </pc:spChg>
      </pc:sldChg>
      <pc:sldChg chg="modSp add mod">
        <pc:chgData name="Jeffrey Moe" userId="495852c6-9817-4bbb-9162-b2e8ad79383d" providerId="ADAL" clId="{45C24337-BC83-426E-8555-560DB5D20005}" dt="2025-10-17T16:33:33.437" v="1616" actId="14100"/>
        <pc:sldMkLst>
          <pc:docMk/>
          <pc:sldMk cId="3600993443" sldId="294"/>
        </pc:sldMkLst>
        <pc:spChg chg="mod">
          <ac:chgData name="Jeffrey Moe" userId="495852c6-9817-4bbb-9162-b2e8ad79383d" providerId="ADAL" clId="{45C24337-BC83-426E-8555-560DB5D20005}" dt="2025-10-17T16:33:33.437" v="1616" actId="14100"/>
          <ac:spMkLst>
            <pc:docMk/>
            <pc:sldMk cId="3600993443" sldId="294"/>
            <ac:spMk id="2" creationId="{E7F1D999-025A-2759-0667-75F5D1B38D28}"/>
          </ac:spMkLst>
        </pc:spChg>
      </pc:sldChg>
      <pc:sldChg chg="addSp modSp add mod">
        <pc:chgData name="Jeffrey Moe" userId="495852c6-9817-4bbb-9162-b2e8ad79383d" providerId="ADAL" clId="{45C24337-BC83-426E-8555-560DB5D20005}" dt="2025-10-17T18:22:45.941" v="3481"/>
        <pc:sldMkLst>
          <pc:docMk/>
          <pc:sldMk cId="3657652860" sldId="295"/>
        </pc:sldMkLst>
        <pc:graphicFrameChg chg="modGraphic">
          <ac:chgData name="Jeffrey Moe" userId="495852c6-9817-4bbb-9162-b2e8ad79383d" providerId="ADAL" clId="{45C24337-BC83-426E-8555-560DB5D20005}" dt="2025-10-17T18:22:45.941" v="3481"/>
          <ac:graphicFrameMkLst>
            <pc:docMk/>
            <pc:sldMk cId="3657652860" sldId="295"/>
            <ac:graphicFrameMk id="4" creationId="{05D27B03-F00F-ED03-E7F4-5E41D1FBCA40}"/>
          </ac:graphicFrameMkLst>
        </pc:graphicFrameChg>
        <pc:picChg chg="add mod ord">
          <ac:chgData name="Jeffrey Moe" userId="495852c6-9817-4bbb-9162-b2e8ad79383d" providerId="ADAL" clId="{45C24337-BC83-426E-8555-560DB5D20005}" dt="2025-10-17T16:37:06.943" v="1639" actId="167"/>
          <ac:picMkLst>
            <pc:docMk/>
            <pc:sldMk cId="3657652860" sldId="295"/>
            <ac:picMk id="3" creationId="{D0F9557B-D7A4-09FB-CCC7-768DD5B37631}"/>
          </ac:picMkLst>
        </pc:picChg>
      </pc:sldChg>
      <pc:sldChg chg="addSp delSp modSp add mod setBg delDesignElem">
        <pc:chgData name="Jeffrey Moe" userId="495852c6-9817-4bbb-9162-b2e8ad79383d" providerId="ADAL" clId="{45C24337-BC83-426E-8555-560DB5D20005}" dt="2025-10-17T16:37:01.694" v="1638" actId="171"/>
        <pc:sldMkLst>
          <pc:docMk/>
          <pc:sldMk cId="2730553365" sldId="296"/>
        </pc:sldMkLst>
        <pc:spChg chg="del">
          <ac:chgData name="Jeffrey Moe" userId="495852c6-9817-4bbb-9162-b2e8ad79383d" providerId="ADAL" clId="{45C24337-BC83-426E-8555-560DB5D20005}" dt="2025-10-17T16:36:09.725" v="1627"/>
          <ac:spMkLst>
            <pc:docMk/>
            <pc:sldMk cId="2730553365" sldId="296"/>
            <ac:spMk id="10" creationId="{B50AB553-2A96-4A92-96F2-93548E096954}"/>
          </ac:spMkLst>
        </pc:spChg>
        <pc:picChg chg="add mod ord">
          <ac:chgData name="Jeffrey Moe" userId="495852c6-9817-4bbb-9162-b2e8ad79383d" providerId="ADAL" clId="{45C24337-BC83-426E-8555-560DB5D20005}" dt="2025-10-17T16:37:01.694" v="1638" actId="171"/>
          <ac:picMkLst>
            <pc:docMk/>
            <pc:sldMk cId="2730553365" sldId="296"/>
            <ac:picMk id="3" creationId="{9F1C741E-015E-D492-70F4-C63EAD10953E}"/>
          </ac:picMkLst>
        </pc:picChg>
      </pc:sldChg>
      <pc:sldChg chg="addSp modSp add mod">
        <pc:chgData name="Jeffrey Moe" userId="495852c6-9817-4bbb-9162-b2e8ad79383d" providerId="ADAL" clId="{45C24337-BC83-426E-8555-560DB5D20005}" dt="2025-10-17T18:41:58.551" v="3832" actId="207"/>
        <pc:sldMkLst>
          <pc:docMk/>
          <pc:sldMk cId="3139137990" sldId="297"/>
        </pc:sldMkLst>
        <pc:spChg chg="mod">
          <ac:chgData name="Jeffrey Moe" userId="495852c6-9817-4bbb-9162-b2e8ad79383d" providerId="ADAL" clId="{45C24337-BC83-426E-8555-560DB5D20005}" dt="2025-10-17T18:41:58.551" v="3832" actId="207"/>
          <ac:spMkLst>
            <pc:docMk/>
            <pc:sldMk cId="3139137990" sldId="297"/>
            <ac:spMk id="3" creationId="{393912D0-CAF5-3661-940F-11870373393E}"/>
          </ac:spMkLst>
        </pc:spChg>
        <pc:picChg chg="add mod ord">
          <ac:chgData name="Jeffrey Moe" userId="495852c6-9817-4bbb-9162-b2e8ad79383d" providerId="ADAL" clId="{45C24337-BC83-426E-8555-560DB5D20005}" dt="2025-10-17T18:41:39.120" v="3807" actId="167"/>
          <ac:picMkLst>
            <pc:docMk/>
            <pc:sldMk cId="3139137990" sldId="297"/>
            <ac:picMk id="4" creationId="{8AE9852D-C646-8822-149D-B8EA9CF833A2}"/>
          </ac:picMkLst>
        </pc:picChg>
      </pc:sldChg>
      <pc:sldChg chg="addSp modSp add mod">
        <pc:chgData name="Jeffrey Moe" userId="495852c6-9817-4bbb-9162-b2e8ad79383d" providerId="ADAL" clId="{45C24337-BC83-426E-8555-560DB5D20005}" dt="2025-10-17T18:42:18.237" v="3854" actId="207"/>
        <pc:sldMkLst>
          <pc:docMk/>
          <pc:sldMk cId="527211931" sldId="298"/>
        </pc:sldMkLst>
        <pc:spChg chg="mod">
          <ac:chgData name="Jeffrey Moe" userId="495852c6-9817-4bbb-9162-b2e8ad79383d" providerId="ADAL" clId="{45C24337-BC83-426E-8555-560DB5D20005}" dt="2025-10-17T18:42:18.237" v="3854" actId="207"/>
          <ac:spMkLst>
            <pc:docMk/>
            <pc:sldMk cId="527211931" sldId="298"/>
            <ac:spMk id="3" creationId="{305AF7AB-E20E-F59F-79D8-3B4CF6135F91}"/>
          </ac:spMkLst>
        </pc:spChg>
        <pc:picChg chg="add mod ord">
          <ac:chgData name="Jeffrey Moe" userId="495852c6-9817-4bbb-9162-b2e8ad79383d" providerId="ADAL" clId="{45C24337-BC83-426E-8555-560DB5D20005}" dt="2025-10-17T18:41:42.231" v="3808" actId="167"/>
          <ac:picMkLst>
            <pc:docMk/>
            <pc:sldMk cId="527211931" sldId="298"/>
            <ac:picMk id="4" creationId="{32908397-6F27-493B-1342-9F4914D743D1}"/>
          </ac:picMkLst>
        </pc:picChg>
      </pc:sldChg>
      <pc:sldChg chg="addSp delSp modSp new mod">
        <pc:chgData name="Jeffrey Moe" userId="495852c6-9817-4bbb-9162-b2e8ad79383d" providerId="ADAL" clId="{45C24337-BC83-426E-8555-560DB5D20005}" dt="2025-10-17T16:43:11.093" v="1913" actId="208"/>
        <pc:sldMkLst>
          <pc:docMk/>
          <pc:sldMk cId="241363896" sldId="299"/>
        </pc:sldMkLst>
        <pc:spChg chg="mod">
          <ac:chgData name="Jeffrey Moe" userId="495852c6-9817-4bbb-9162-b2e8ad79383d" providerId="ADAL" clId="{45C24337-BC83-426E-8555-560DB5D20005}" dt="2025-10-17T16:38:31.111" v="1705" actId="20577"/>
          <ac:spMkLst>
            <pc:docMk/>
            <pc:sldMk cId="241363896" sldId="299"/>
            <ac:spMk id="2" creationId="{879932D7-A719-BDF6-B907-72548CC8C8D0}"/>
          </ac:spMkLst>
        </pc:spChg>
        <pc:spChg chg="del">
          <ac:chgData name="Jeffrey Moe" userId="495852c6-9817-4bbb-9162-b2e8ad79383d" providerId="ADAL" clId="{45C24337-BC83-426E-8555-560DB5D20005}" dt="2025-10-17T16:38:12.828" v="1645"/>
          <ac:spMkLst>
            <pc:docMk/>
            <pc:sldMk cId="241363896" sldId="299"/>
            <ac:spMk id="3" creationId="{D1AA47CB-F52C-8B9C-E342-38BFD078D807}"/>
          </ac:spMkLst>
        </pc:spChg>
        <pc:graphicFrameChg chg="add mod modGraphic">
          <ac:chgData name="Jeffrey Moe" userId="495852c6-9817-4bbb-9162-b2e8ad79383d" providerId="ADAL" clId="{45C24337-BC83-426E-8555-560DB5D20005}" dt="2025-10-17T16:43:11.093" v="1913" actId="208"/>
          <ac:graphicFrameMkLst>
            <pc:docMk/>
            <pc:sldMk cId="241363896" sldId="299"/>
            <ac:graphicFrameMk id="5" creationId="{3E38E189-8B0B-C38A-0057-519C13B88317}"/>
          </ac:graphicFrameMkLst>
        </pc:graphicFrameChg>
        <pc:picChg chg="add mod ord">
          <ac:chgData name="Jeffrey Moe" userId="495852c6-9817-4bbb-9162-b2e8ad79383d" providerId="ADAL" clId="{45C24337-BC83-426E-8555-560DB5D20005}" dt="2025-10-17T16:38:38.630" v="1707" actId="167"/>
          <ac:picMkLst>
            <pc:docMk/>
            <pc:sldMk cId="241363896" sldId="299"/>
            <ac:picMk id="4" creationId="{3143D673-794C-DD85-3376-96D9D4D2C48F}"/>
          </ac:picMkLst>
        </pc:picChg>
      </pc:sldChg>
      <pc:sldChg chg="addSp modSp new del mod ord">
        <pc:chgData name="Jeffrey Moe" userId="495852c6-9817-4bbb-9162-b2e8ad79383d" providerId="ADAL" clId="{45C24337-BC83-426E-8555-560DB5D20005}" dt="2025-10-17T18:16:17.338" v="3139" actId="47"/>
        <pc:sldMkLst>
          <pc:docMk/>
          <pc:sldMk cId="943565958" sldId="300"/>
        </pc:sldMkLst>
        <pc:spChg chg="mod">
          <ac:chgData name="Jeffrey Moe" userId="495852c6-9817-4bbb-9162-b2e8ad79383d" providerId="ADAL" clId="{45C24337-BC83-426E-8555-560DB5D20005}" dt="2025-10-17T17:55:03.577" v="2629" actId="20577"/>
          <ac:spMkLst>
            <pc:docMk/>
            <pc:sldMk cId="943565958" sldId="300"/>
            <ac:spMk id="2" creationId="{7A8058B0-84F3-6C7B-A924-C50845CECE3B}"/>
          </ac:spMkLst>
        </pc:spChg>
        <pc:spChg chg="mod">
          <ac:chgData name="Jeffrey Moe" userId="495852c6-9817-4bbb-9162-b2e8ad79383d" providerId="ADAL" clId="{45C24337-BC83-426E-8555-560DB5D20005}" dt="2025-10-17T17:54:26.716" v="2588" actId="207"/>
          <ac:spMkLst>
            <pc:docMk/>
            <pc:sldMk cId="943565958" sldId="300"/>
            <ac:spMk id="3" creationId="{7527203D-0874-A1E1-A146-EC6ABB46559E}"/>
          </ac:spMkLst>
        </pc:spChg>
        <pc:picChg chg="add mod ord">
          <ac:chgData name="Jeffrey Moe" userId="495852c6-9817-4bbb-9162-b2e8ad79383d" providerId="ADAL" clId="{45C24337-BC83-426E-8555-560DB5D20005}" dt="2025-10-17T16:46:28.987" v="2018" actId="167"/>
          <ac:picMkLst>
            <pc:docMk/>
            <pc:sldMk cId="943565958" sldId="300"/>
            <ac:picMk id="4" creationId="{0A28EBAD-318A-A18C-6135-E292FE8C85D1}"/>
          </ac:picMkLst>
        </pc:picChg>
      </pc:sldChg>
      <pc:sldChg chg="addSp delSp modSp new mod ord">
        <pc:chgData name="Jeffrey Moe" userId="495852c6-9817-4bbb-9162-b2e8ad79383d" providerId="ADAL" clId="{45C24337-BC83-426E-8555-560DB5D20005}" dt="2025-10-17T17:02:10.676" v="2400" actId="1076"/>
        <pc:sldMkLst>
          <pc:docMk/>
          <pc:sldMk cId="589062378" sldId="301"/>
        </pc:sldMkLst>
        <pc:spChg chg="mod">
          <ac:chgData name="Jeffrey Moe" userId="495852c6-9817-4bbb-9162-b2e8ad79383d" providerId="ADAL" clId="{45C24337-BC83-426E-8555-560DB5D20005}" dt="2025-10-17T17:02:10.676" v="2400" actId="1076"/>
          <ac:spMkLst>
            <pc:docMk/>
            <pc:sldMk cId="589062378" sldId="301"/>
            <ac:spMk id="2" creationId="{08BC5D59-6151-5B85-E0DD-F89B9173171C}"/>
          </ac:spMkLst>
        </pc:spChg>
        <pc:spChg chg="del">
          <ac:chgData name="Jeffrey Moe" userId="495852c6-9817-4bbb-9162-b2e8ad79383d" providerId="ADAL" clId="{45C24337-BC83-426E-8555-560DB5D20005}" dt="2025-10-17T16:50:28.886" v="2019" actId="3680"/>
          <ac:spMkLst>
            <pc:docMk/>
            <pc:sldMk cId="589062378" sldId="301"/>
            <ac:spMk id="3" creationId="{CEBF71A0-4DA1-6CD3-5AF3-ACEA29C632C2}"/>
          </ac:spMkLst>
        </pc:spChg>
        <pc:graphicFrameChg chg="add mod ord modGraphic">
          <ac:chgData name="Jeffrey Moe" userId="495852c6-9817-4bbb-9162-b2e8ad79383d" providerId="ADAL" clId="{45C24337-BC83-426E-8555-560DB5D20005}" dt="2025-10-17T17:02:04.698" v="2398" actId="1076"/>
          <ac:graphicFrameMkLst>
            <pc:docMk/>
            <pc:sldMk cId="589062378" sldId="301"/>
            <ac:graphicFrameMk id="5" creationId="{2D147D7C-DF13-603A-3A3E-6DE4DEDDE833}"/>
          </ac:graphicFrameMkLst>
        </pc:graphicFrameChg>
        <pc:picChg chg="add mod ord">
          <ac:chgData name="Jeffrey Moe" userId="495852c6-9817-4bbb-9162-b2e8ad79383d" providerId="ADAL" clId="{45C24337-BC83-426E-8555-560DB5D20005}" dt="2025-10-17T17:01:11.501" v="2388" actId="1076"/>
          <ac:picMkLst>
            <pc:docMk/>
            <pc:sldMk cId="589062378" sldId="301"/>
            <ac:picMk id="4" creationId="{2684DA94-6D5D-082D-EE77-D32C4B493A7C}"/>
          </ac:picMkLst>
        </pc:picChg>
      </pc:sldChg>
      <pc:sldChg chg="modSp add mod">
        <pc:chgData name="Jeffrey Moe" userId="495852c6-9817-4bbb-9162-b2e8ad79383d" providerId="ADAL" clId="{45C24337-BC83-426E-8555-560DB5D20005}" dt="2025-10-17T16:44:34.009" v="2012" actId="20577"/>
        <pc:sldMkLst>
          <pc:docMk/>
          <pc:sldMk cId="52717374" sldId="302"/>
        </pc:sldMkLst>
        <pc:spChg chg="mod">
          <ac:chgData name="Jeffrey Moe" userId="495852c6-9817-4bbb-9162-b2e8ad79383d" providerId="ADAL" clId="{45C24337-BC83-426E-8555-560DB5D20005}" dt="2025-10-17T16:44:34.009" v="2012" actId="20577"/>
          <ac:spMkLst>
            <pc:docMk/>
            <pc:sldMk cId="52717374" sldId="302"/>
            <ac:spMk id="2" creationId="{E9DBED17-DC57-2945-086D-B582D93147DE}"/>
          </ac:spMkLst>
        </pc:spChg>
      </pc:sldChg>
      <pc:sldChg chg="new del">
        <pc:chgData name="Jeffrey Moe" userId="495852c6-9817-4bbb-9162-b2e8ad79383d" providerId="ADAL" clId="{45C24337-BC83-426E-8555-560DB5D20005}" dt="2025-10-17T17:28:12.560" v="2437" actId="47"/>
        <pc:sldMkLst>
          <pc:docMk/>
          <pc:sldMk cId="2033423004" sldId="303"/>
        </pc:sldMkLst>
      </pc:sldChg>
      <pc:sldChg chg="addSp delSp modSp new mod ord">
        <pc:chgData name="Jeffrey Moe" userId="495852c6-9817-4bbb-9162-b2e8ad79383d" providerId="ADAL" clId="{45C24337-BC83-426E-8555-560DB5D20005}" dt="2025-10-17T18:27:16.470" v="3537" actId="12"/>
        <pc:sldMkLst>
          <pc:docMk/>
          <pc:sldMk cId="3844776501" sldId="304"/>
        </pc:sldMkLst>
        <pc:spChg chg="mod">
          <ac:chgData name="Jeffrey Moe" userId="495852c6-9817-4bbb-9162-b2e8ad79383d" providerId="ADAL" clId="{45C24337-BC83-426E-8555-560DB5D20005}" dt="2025-10-17T17:04:22.232" v="2434" actId="20577"/>
          <ac:spMkLst>
            <pc:docMk/>
            <pc:sldMk cId="3844776501" sldId="304"/>
            <ac:spMk id="2" creationId="{9AE61373-BAC3-BE30-663B-95B536BD7974}"/>
          </ac:spMkLst>
        </pc:spChg>
        <pc:spChg chg="del">
          <ac:chgData name="Jeffrey Moe" userId="495852c6-9817-4bbb-9162-b2e8ad79383d" providerId="ADAL" clId="{45C24337-BC83-426E-8555-560DB5D20005}" dt="2025-10-17T17:29:14.442" v="2438" actId="3680"/>
          <ac:spMkLst>
            <pc:docMk/>
            <pc:sldMk cId="3844776501" sldId="304"/>
            <ac:spMk id="3" creationId="{298BB670-865E-3B82-E7FD-E7D97D99DBC8}"/>
          </ac:spMkLst>
        </pc:spChg>
        <pc:graphicFrameChg chg="add mod ord modGraphic">
          <ac:chgData name="Jeffrey Moe" userId="495852c6-9817-4bbb-9162-b2e8ad79383d" providerId="ADAL" clId="{45C24337-BC83-426E-8555-560DB5D20005}" dt="2025-10-17T18:27:16.470" v="3537" actId="12"/>
          <ac:graphicFrameMkLst>
            <pc:docMk/>
            <pc:sldMk cId="3844776501" sldId="304"/>
            <ac:graphicFrameMk id="5" creationId="{2C4C4B0A-72CE-A067-5D16-8F9B67BBEBE9}"/>
          </ac:graphicFrameMkLst>
        </pc:graphicFrameChg>
        <pc:picChg chg="add mod ord">
          <ac:chgData name="Jeffrey Moe" userId="495852c6-9817-4bbb-9162-b2e8ad79383d" providerId="ADAL" clId="{45C24337-BC83-426E-8555-560DB5D20005}" dt="2025-10-17T17:04:30.062" v="2436" actId="167"/>
          <ac:picMkLst>
            <pc:docMk/>
            <pc:sldMk cId="3844776501" sldId="304"/>
            <ac:picMk id="4" creationId="{A46997C1-1939-A308-D387-6B09F9C4E46A}"/>
          </ac:picMkLst>
        </pc:picChg>
      </pc:sldChg>
      <pc:sldChg chg="new del">
        <pc:chgData name="Jeffrey Moe" userId="495852c6-9817-4bbb-9162-b2e8ad79383d" providerId="ADAL" clId="{45C24337-BC83-426E-8555-560DB5D20005}" dt="2025-10-17T17:55:13.896" v="2631" actId="47"/>
        <pc:sldMkLst>
          <pc:docMk/>
          <pc:sldMk cId="2634893812" sldId="305"/>
        </pc:sldMkLst>
      </pc:sldChg>
      <pc:sldChg chg="modSp add del mod">
        <pc:chgData name="Jeffrey Moe" userId="495852c6-9817-4bbb-9162-b2e8ad79383d" providerId="ADAL" clId="{45C24337-BC83-426E-8555-560DB5D20005}" dt="2025-10-17T18:16:17.338" v="3139" actId="47"/>
        <pc:sldMkLst>
          <pc:docMk/>
          <pc:sldMk cId="3092382817" sldId="306"/>
        </pc:sldMkLst>
        <pc:spChg chg="mod">
          <ac:chgData name="Jeffrey Moe" userId="495852c6-9817-4bbb-9162-b2e8ad79383d" providerId="ADAL" clId="{45C24337-BC83-426E-8555-560DB5D20005}" dt="2025-10-17T17:55:57.578" v="2674" actId="20577"/>
          <ac:spMkLst>
            <pc:docMk/>
            <pc:sldMk cId="3092382817" sldId="306"/>
            <ac:spMk id="2" creationId="{1EBF3AD4-D788-34B5-B32C-245EC9D4CF95}"/>
          </ac:spMkLst>
        </pc:spChg>
        <pc:spChg chg="mod">
          <ac:chgData name="Jeffrey Moe" userId="495852c6-9817-4bbb-9162-b2e8ad79383d" providerId="ADAL" clId="{45C24337-BC83-426E-8555-560DB5D20005}" dt="2025-10-17T17:56:48.800" v="2719" actId="20577"/>
          <ac:spMkLst>
            <pc:docMk/>
            <pc:sldMk cId="3092382817" sldId="306"/>
            <ac:spMk id="3" creationId="{3820D62A-3EAE-0CAB-FB56-9D2DA61AF7F9}"/>
          </ac:spMkLst>
        </pc:spChg>
        <pc:picChg chg="mod">
          <ac:chgData name="Jeffrey Moe" userId="495852c6-9817-4bbb-9162-b2e8ad79383d" providerId="ADAL" clId="{45C24337-BC83-426E-8555-560DB5D20005}" dt="2025-10-17T17:55:49.226" v="2633" actId="1076"/>
          <ac:picMkLst>
            <pc:docMk/>
            <pc:sldMk cId="3092382817" sldId="306"/>
            <ac:picMk id="4" creationId="{445C425A-6136-F6C3-3CE6-4BAA72C4881F}"/>
          </ac:picMkLst>
        </pc:picChg>
      </pc:sldChg>
      <pc:sldChg chg="modSp add del mod">
        <pc:chgData name="Jeffrey Moe" userId="495852c6-9817-4bbb-9162-b2e8ad79383d" providerId="ADAL" clId="{45C24337-BC83-426E-8555-560DB5D20005}" dt="2025-10-17T18:16:17.338" v="3139" actId="47"/>
        <pc:sldMkLst>
          <pc:docMk/>
          <pc:sldMk cId="3711773229" sldId="307"/>
        </pc:sldMkLst>
        <pc:spChg chg="mod">
          <ac:chgData name="Jeffrey Moe" userId="495852c6-9817-4bbb-9162-b2e8ad79383d" providerId="ADAL" clId="{45C24337-BC83-426E-8555-560DB5D20005}" dt="2025-10-17T17:56:27.443" v="2703" actId="20577"/>
          <ac:spMkLst>
            <pc:docMk/>
            <pc:sldMk cId="3711773229" sldId="307"/>
            <ac:spMk id="2" creationId="{539ABB50-E5EE-6AAE-9201-8C565638C71B}"/>
          </ac:spMkLst>
        </pc:spChg>
        <pc:spChg chg="mod">
          <ac:chgData name="Jeffrey Moe" userId="495852c6-9817-4bbb-9162-b2e8ad79383d" providerId="ADAL" clId="{45C24337-BC83-426E-8555-560DB5D20005}" dt="2025-10-17T17:58:06.677" v="2728" actId="207"/>
          <ac:spMkLst>
            <pc:docMk/>
            <pc:sldMk cId="3711773229" sldId="307"/>
            <ac:spMk id="3" creationId="{F7668467-CCAA-295A-90E0-68B711BB06B3}"/>
          </ac:spMkLst>
        </pc:spChg>
      </pc:sldChg>
      <pc:sldChg chg="new del">
        <pc:chgData name="Jeffrey Moe" userId="495852c6-9817-4bbb-9162-b2e8ad79383d" providerId="ADAL" clId="{45C24337-BC83-426E-8555-560DB5D20005}" dt="2025-10-17T17:58:43.432" v="2731" actId="47"/>
        <pc:sldMkLst>
          <pc:docMk/>
          <pc:sldMk cId="1325844957" sldId="308"/>
        </pc:sldMkLst>
      </pc:sldChg>
      <pc:sldChg chg="addSp delSp modSp add mod">
        <pc:chgData name="Jeffrey Moe" userId="495852c6-9817-4bbb-9162-b2e8ad79383d" providerId="ADAL" clId="{45C24337-BC83-426E-8555-560DB5D20005}" dt="2025-10-17T18:07:04.080" v="2909" actId="12"/>
        <pc:sldMkLst>
          <pc:docMk/>
          <pc:sldMk cId="243113993" sldId="309"/>
        </pc:sldMkLst>
        <pc:spChg chg="mod">
          <ac:chgData name="Jeffrey Moe" userId="495852c6-9817-4bbb-9162-b2e8ad79383d" providerId="ADAL" clId="{45C24337-BC83-426E-8555-560DB5D20005}" dt="2025-10-17T17:58:51.404" v="2758" actId="20577"/>
          <ac:spMkLst>
            <pc:docMk/>
            <pc:sldMk cId="243113993" sldId="309"/>
            <ac:spMk id="2" creationId="{F43DC89B-D2B1-DF93-3A44-2931D995B648}"/>
          </ac:spMkLst>
        </pc:spChg>
        <pc:spChg chg="del">
          <ac:chgData name="Jeffrey Moe" userId="495852c6-9817-4bbb-9162-b2e8ad79383d" providerId="ADAL" clId="{45C24337-BC83-426E-8555-560DB5D20005}" dt="2025-10-17T18:00:23.580" v="2765" actId="478"/>
          <ac:spMkLst>
            <pc:docMk/>
            <pc:sldMk cId="243113993" sldId="309"/>
            <ac:spMk id="3" creationId="{00AE645E-8565-592F-C612-0F5134B315A1}"/>
          </ac:spMkLst>
        </pc:spChg>
        <pc:spChg chg="add del mod">
          <ac:chgData name="Jeffrey Moe" userId="495852c6-9817-4bbb-9162-b2e8ad79383d" providerId="ADAL" clId="{45C24337-BC83-426E-8555-560DB5D20005}" dt="2025-10-17T18:00:27.389" v="2766" actId="3680"/>
          <ac:spMkLst>
            <pc:docMk/>
            <pc:sldMk cId="243113993" sldId="309"/>
            <ac:spMk id="6" creationId="{1D1EEC2B-FB74-916D-B8BB-6F0FBC178A81}"/>
          </ac:spMkLst>
        </pc:spChg>
        <pc:graphicFrameChg chg="add mod ord modGraphic">
          <ac:chgData name="Jeffrey Moe" userId="495852c6-9817-4bbb-9162-b2e8ad79383d" providerId="ADAL" clId="{45C24337-BC83-426E-8555-560DB5D20005}" dt="2025-10-17T18:07:04.080" v="2909" actId="12"/>
          <ac:graphicFrameMkLst>
            <pc:docMk/>
            <pc:sldMk cId="243113993" sldId="309"/>
            <ac:graphicFrameMk id="7" creationId="{C118D3B5-75F3-2929-2F1C-08FC05B3B2E5}"/>
          </ac:graphicFrameMkLst>
        </pc:graphicFrameChg>
      </pc:sldChg>
      <pc:sldChg chg="addSp delSp modSp add mod ord modNotesTx">
        <pc:chgData name="Jeffrey Moe" userId="495852c6-9817-4bbb-9162-b2e8ad79383d" providerId="ADAL" clId="{45C24337-BC83-426E-8555-560DB5D20005}" dt="2025-10-17T18:52:28.128" v="3964" actId="20577"/>
        <pc:sldMkLst>
          <pc:docMk/>
          <pc:sldMk cId="3655494203" sldId="310"/>
        </pc:sldMkLst>
        <pc:spChg chg="mod">
          <ac:chgData name="Jeffrey Moe" userId="495852c6-9817-4bbb-9162-b2e8ad79383d" providerId="ADAL" clId="{45C24337-BC83-426E-8555-560DB5D20005}" dt="2025-10-17T18:13:23.393" v="3070" actId="1076"/>
          <ac:spMkLst>
            <pc:docMk/>
            <pc:sldMk cId="3655494203" sldId="310"/>
            <ac:spMk id="2" creationId="{72338D77-4044-2AA2-1303-5B7471DD1CA9}"/>
          </ac:spMkLst>
        </pc:spChg>
        <pc:spChg chg="del mod">
          <ac:chgData name="Jeffrey Moe" userId="495852c6-9817-4bbb-9162-b2e8ad79383d" providerId="ADAL" clId="{45C24337-BC83-426E-8555-560DB5D20005}" dt="2025-10-17T18:07:58.528" v="2910"/>
          <ac:spMkLst>
            <pc:docMk/>
            <pc:sldMk cId="3655494203" sldId="310"/>
            <ac:spMk id="3" creationId="{68E219C9-7357-9769-E7A2-9A6502558593}"/>
          </ac:spMkLst>
        </pc:spChg>
        <pc:graphicFrameChg chg="add mod modGraphic">
          <ac:chgData name="Jeffrey Moe" userId="495852c6-9817-4bbb-9162-b2e8ad79383d" providerId="ADAL" clId="{45C24337-BC83-426E-8555-560DB5D20005}" dt="2025-10-17T18:15:56.772" v="3138" actId="14100"/>
          <ac:graphicFrameMkLst>
            <pc:docMk/>
            <pc:sldMk cId="3655494203" sldId="310"/>
            <ac:graphicFrameMk id="5" creationId="{CC67A8EF-02FC-256A-6B7B-C87F4460ED0C}"/>
          </ac:graphicFrameMkLst>
        </pc:graphicFrameChg>
        <pc:picChg chg="mod">
          <ac:chgData name="Jeffrey Moe" userId="495852c6-9817-4bbb-9162-b2e8ad79383d" providerId="ADAL" clId="{45C24337-BC83-426E-8555-560DB5D20005}" dt="2025-10-17T18:13:20.117" v="3069" actId="1076"/>
          <ac:picMkLst>
            <pc:docMk/>
            <pc:sldMk cId="3655494203" sldId="310"/>
            <ac:picMk id="4" creationId="{1E81B761-DDD9-7F9F-21B5-91907D1BCD84}"/>
          </ac:picMkLst>
        </pc:picChg>
      </pc:sldChg>
      <pc:sldChg chg="addSp modSp new mod modNotesTx">
        <pc:chgData name="Jeffrey Moe" userId="495852c6-9817-4bbb-9162-b2e8ad79383d" providerId="ADAL" clId="{45C24337-BC83-426E-8555-560DB5D20005}" dt="2025-10-17T18:57:01.987" v="4074" actId="20577"/>
        <pc:sldMkLst>
          <pc:docMk/>
          <pc:sldMk cId="2924292388" sldId="311"/>
        </pc:sldMkLst>
        <pc:spChg chg="mod">
          <ac:chgData name="Jeffrey Moe" userId="495852c6-9817-4bbb-9162-b2e8ad79383d" providerId="ADAL" clId="{45C24337-BC83-426E-8555-560DB5D20005}" dt="2025-10-17T18:39:42.450" v="3788" actId="20577"/>
          <ac:spMkLst>
            <pc:docMk/>
            <pc:sldMk cId="2924292388" sldId="311"/>
            <ac:spMk id="2" creationId="{2128B5A6-90E6-9D08-459B-ADB2EFCF34F5}"/>
          </ac:spMkLst>
        </pc:spChg>
        <pc:spChg chg="mod">
          <ac:chgData name="Jeffrey Moe" userId="495852c6-9817-4bbb-9162-b2e8ad79383d" providerId="ADAL" clId="{45C24337-BC83-426E-8555-560DB5D20005}" dt="2025-10-17T18:39:13.124" v="3779" actId="1076"/>
          <ac:spMkLst>
            <pc:docMk/>
            <pc:sldMk cId="2924292388" sldId="311"/>
            <ac:spMk id="3" creationId="{D296994F-1F1E-7589-AAD2-61C4E4E7AE0E}"/>
          </ac:spMkLst>
        </pc:spChg>
        <pc:graphicFrameChg chg="add mod modGraphic">
          <ac:chgData name="Jeffrey Moe" userId="495852c6-9817-4bbb-9162-b2e8ad79383d" providerId="ADAL" clId="{45C24337-BC83-426E-8555-560DB5D20005}" dt="2025-10-17T18:38:37.963" v="3768"/>
          <ac:graphicFrameMkLst>
            <pc:docMk/>
            <pc:sldMk cId="2924292388" sldId="311"/>
            <ac:graphicFrameMk id="5" creationId="{7032DA0E-6A20-BC63-2616-20D4DEB9204F}"/>
          </ac:graphicFrameMkLst>
        </pc:graphicFrameChg>
        <pc:picChg chg="add mod ord">
          <ac:chgData name="Jeffrey Moe" userId="495852c6-9817-4bbb-9162-b2e8ad79383d" providerId="ADAL" clId="{45C24337-BC83-426E-8555-560DB5D20005}" dt="2025-10-17T18:38:44.101" v="3770" actId="1076"/>
          <ac:picMkLst>
            <pc:docMk/>
            <pc:sldMk cId="2924292388" sldId="311"/>
            <ac:picMk id="4" creationId="{287A1903-0BCB-1DA4-1BAA-3CD43877888F}"/>
          </ac:picMkLst>
        </pc:picChg>
      </pc:sldChg>
      <pc:sldChg chg="modSp add mod ord">
        <pc:chgData name="Jeffrey Moe" userId="495852c6-9817-4bbb-9162-b2e8ad79383d" providerId="ADAL" clId="{45C24337-BC83-426E-8555-560DB5D20005}" dt="2025-10-17T18:43:45.632" v="3872" actId="207"/>
        <pc:sldMkLst>
          <pc:docMk/>
          <pc:sldMk cId="1874893552" sldId="312"/>
        </pc:sldMkLst>
        <pc:spChg chg="mod">
          <ac:chgData name="Jeffrey Moe" userId="495852c6-9817-4bbb-9162-b2e8ad79383d" providerId="ADAL" clId="{45C24337-BC83-426E-8555-560DB5D20005}" dt="2025-10-17T18:43:45.632" v="3872" actId="207"/>
          <ac:spMkLst>
            <pc:docMk/>
            <pc:sldMk cId="1874893552" sldId="312"/>
            <ac:spMk id="3" creationId="{319F8D53-F93F-F744-E559-0A22F4E4F313}"/>
          </ac:spMkLst>
        </pc:spChg>
      </pc:sldChg>
      <pc:sldChg chg="modSp add mod">
        <pc:chgData name="Jeffrey Moe" userId="495852c6-9817-4bbb-9162-b2e8ad79383d" providerId="ADAL" clId="{45C24337-BC83-426E-8555-560DB5D20005}" dt="2025-10-17T18:43:51.894" v="3874" actId="207"/>
        <pc:sldMkLst>
          <pc:docMk/>
          <pc:sldMk cId="2835568700" sldId="313"/>
        </pc:sldMkLst>
        <pc:spChg chg="mod">
          <ac:chgData name="Jeffrey Moe" userId="495852c6-9817-4bbb-9162-b2e8ad79383d" providerId="ADAL" clId="{45C24337-BC83-426E-8555-560DB5D20005}" dt="2025-10-17T18:43:51.894" v="3874" actId="207"/>
          <ac:spMkLst>
            <pc:docMk/>
            <pc:sldMk cId="2835568700" sldId="313"/>
            <ac:spMk id="3" creationId="{6C7B49C4-E531-CB04-E53E-D9102085FA80}"/>
          </ac:spMkLst>
        </pc:spChg>
      </pc:sldChg>
      <pc:sldChg chg="modSp add mod">
        <pc:chgData name="Jeffrey Moe" userId="495852c6-9817-4bbb-9162-b2e8ad79383d" providerId="ADAL" clId="{45C24337-BC83-426E-8555-560DB5D20005}" dt="2025-10-17T18:44:06.730" v="3876" actId="20577"/>
        <pc:sldMkLst>
          <pc:docMk/>
          <pc:sldMk cId="3561826888" sldId="314"/>
        </pc:sldMkLst>
        <pc:spChg chg="mod">
          <ac:chgData name="Jeffrey Moe" userId="495852c6-9817-4bbb-9162-b2e8ad79383d" providerId="ADAL" clId="{45C24337-BC83-426E-8555-560DB5D20005}" dt="2025-10-17T18:44:06.730" v="3876" actId="20577"/>
          <ac:spMkLst>
            <pc:docMk/>
            <pc:sldMk cId="3561826888" sldId="314"/>
            <ac:spMk id="3" creationId="{AF7E01BE-D638-AC11-84EE-6EDAD458DDA9}"/>
          </ac:spMkLst>
        </pc:spChg>
      </pc:sldChg>
      <pc:sldChg chg="modSp add mod">
        <pc:chgData name="Jeffrey Moe" userId="495852c6-9817-4bbb-9162-b2e8ad79383d" providerId="ADAL" clId="{45C24337-BC83-426E-8555-560DB5D20005}" dt="2025-10-17T18:45:07.571" v="3885" actId="20577"/>
        <pc:sldMkLst>
          <pc:docMk/>
          <pc:sldMk cId="269684937" sldId="315"/>
        </pc:sldMkLst>
        <pc:spChg chg="mod">
          <ac:chgData name="Jeffrey Moe" userId="495852c6-9817-4bbb-9162-b2e8ad79383d" providerId="ADAL" clId="{45C24337-BC83-426E-8555-560DB5D20005}" dt="2025-10-17T18:45:07.571" v="3885" actId="20577"/>
          <ac:spMkLst>
            <pc:docMk/>
            <pc:sldMk cId="269684937" sldId="315"/>
            <ac:spMk id="3" creationId="{4CD9EB6F-BFFF-7ECB-27F5-DF4B6E2B419D}"/>
          </ac:spMkLst>
        </pc:spChg>
      </pc:sldChg>
      <pc:sldChg chg="modSp add mod">
        <pc:chgData name="Jeffrey Moe" userId="495852c6-9817-4bbb-9162-b2e8ad79383d" providerId="ADAL" clId="{45C24337-BC83-426E-8555-560DB5D20005}" dt="2025-10-17T18:46:28.762" v="3902" actId="207"/>
        <pc:sldMkLst>
          <pc:docMk/>
          <pc:sldMk cId="823448726" sldId="316"/>
        </pc:sldMkLst>
        <pc:spChg chg="mod">
          <ac:chgData name="Jeffrey Moe" userId="495852c6-9817-4bbb-9162-b2e8ad79383d" providerId="ADAL" clId="{45C24337-BC83-426E-8555-560DB5D20005}" dt="2025-10-17T18:46:28.762" v="3902" actId="207"/>
          <ac:spMkLst>
            <pc:docMk/>
            <pc:sldMk cId="823448726" sldId="316"/>
            <ac:spMk id="3" creationId="{4F0FE9E1-28B4-FEF9-CBC8-F357ABD49FEA}"/>
          </ac:spMkLst>
        </pc:spChg>
      </pc:sldChg>
      <pc:sldChg chg="modSp add mod">
        <pc:chgData name="Jeffrey Moe" userId="495852c6-9817-4bbb-9162-b2e8ad79383d" providerId="ADAL" clId="{45C24337-BC83-426E-8555-560DB5D20005}" dt="2025-10-17T18:46:16.985" v="3897" actId="207"/>
        <pc:sldMkLst>
          <pc:docMk/>
          <pc:sldMk cId="2729402749" sldId="317"/>
        </pc:sldMkLst>
        <pc:spChg chg="mod">
          <ac:chgData name="Jeffrey Moe" userId="495852c6-9817-4bbb-9162-b2e8ad79383d" providerId="ADAL" clId="{45C24337-BC83-426E-8555-560DB5D20005}" dt="2025-10-17T18:46:16.985" v="3897" actId="207"/>
          <ac:spMkLst>
            <pc:docMk/>
            <pc:sldMk cId="2729402749" sldId="317"/>
            <ac:spMk id="3" creationId="{A787310C-75FF-14A2-0679-25638177C32C}"/>
          </ac:spMkLst>
        </pc:spChg>
      </pc:sldChg>
      <pc:sldChg chg="modSp add mod">
        <pc:chgData name="Jeffrey Moe" userId="495852c6-9817-4bbb-9162-b2e8ad79383d" providerId="ADAL" clId="{45C24337-BC83-426E-8555-560DB5D20005}" dt="2025-10-17T18:48:25.072" v="3920" actId="207"/>
        <pc:sldMkLst>
          <pc:docMk/>
          <pc:sldMk cId="2280978224" sldId="318"/>
        </pc:sldMkLst>
        <pc:spChg chg="mod">
          <ac:chgData name="Jeffrey Moe" userId="495852c6-9817-4bbb-9162-b2e8ad79383d" providerId="ADAL" clId="{45C24337-BC83-426E-8555-560DB5D20005}" dt="2025-10-17T18:48:25.072" v="3920" actId="207"/>
          <ac:spMkLst>
            <pc:docMk/>
            <pc:sldMk cId="2280978224" sldId="318"/>
            <ac:spMk id="3" creationId="{4CE9D08E-D49F-70CF-7088-B2FDC452E5FC}"/>
          </ac:spMkLst>
        </pc:spChg>
      </pc:sldChg>
      <pc:sldChg chg="modSp add mod">
        <pc:chgData name="Jeffrey Moe" userId="495852c6-9817-4bbb-9162-b2e8ad79383d" providerId="ADAL" clId="{45C24337-BC83-426E-8555-560DB5D20005}" dt="2025-10-17T18:48:21.687" v="3919" actId="207"/>
        <pc:sldMkLst>
          <pc:docMk/>
          <pc:sldMk cId="908477207" sldId="319"/>
        </pc:sldMkLst>
        <pc:spChg chg="mod">
          <ac:chgData name="Jeffrey Moe" userId="495852c6-9817-4bbb-9162-b2e8ad79383d" providerId="ADAL" clId="{45C24337-BC83-426E-8555-560DB5D20005}" dt="2025-10-17T18:48:21.687" v="3919" actId="207"/>
          <ac:spMkLst>
            <pc:docMk/>
            <pc:sldMk cId="908477207" sldId="319"/>
            <ac:spMk id="3" creationId="{6B7870E1-A9CB-CA03-7D40-4E2D4A088C54}"/>
          </ac:spMkLst>
        </pc:spChg>
      </pc:sldChg>
      <pc:sldChg chg="modSp add mod">
        <pc:chgData name="Jeffrey Moe" userId="495852c6-9817-4bbb-9162-b2e8ad79383d" providerId="ADAL" clId="{45C24337-BC83-426E-8555-560DB5D20005}" dt="2025-10-17T18:48:11.384" v="3914" actId="207"/>
        <pc:sldMkLst>
          <pc:docMk/>
          <pc:sldMk cId="3752289923" sldId="320"/>
        </pc:sldMkLst>
        <pc:spChg chg="mod">
          <ac:chgData name="Jeffrey Moe" userId="495852c6-9817-4bbb-9162-b2e8ad79383d" providerId="ADAL" clId="{45C24337-BC83-426E-8555-560DB5D20005}" dt="2025-10-17T18:48:11.384" v="3914" actId="207"/>
          <ac:spMkLst>
            <pc:docMk/>
            <pc:sldMk cId="3752289923" sldId="320"/>
            <ac:spMk id="3" creationId="{FCF08A70-79AC-F3EE-239E-DD18A4C7D5A3}"/>
          </ac:spMkLst>
        </pc:spChg>
      </pc:sldChg>
      <pc:sldChg chg="modSp add mod">
        <pc:chgData name="Jeffrey Moe" userId="495852c6-9817-4bbb-9162-b2e8ad79383d" providerId="ADAL" clId="{45C24337-BC83-426E-8555-560DB5D20005}" dt="2025-10-17T18:50:26.812" v="3940" actId="207"/>
        <pc:sldMkLst>
          <pc:docMk/>
          <pc:sldMk cId="3387844677" sldId="321"/>
        </pc:sldMkLst>
        <pc:spChg chg="mod">
          <ac:chgData name="Jeffrey Moe" userId="495852c6-9817-4bbb-9162-b2e8ad79383d" providerId="ADAL" clId="{45C24337-BC83-426E-8555-560DB5D20005}" dt="2025-10-17T18:50:26.812" v="3940" actId="207"/>
          <ac:spMkLst>
            <pc:docMk/>
            <pc:sldMk cId="3387844677" sldId="321"/>
            <ac:spMk id="3" creationId="{A0BB8C26-B5B5-83A4-D8B0-5640D0E2C41C}"/>
          </ac:spMkLst>
        </pc:spChg>
      </pc:sldChg>
      <pc:sldChg chg="modSp add mod">
        <pc:chgData name="Jeffrey Moe" userId="495852c6-9817-4bbb-9162-b2e8ad79383d" providerId="ADAL" clId="{45C24337-BC83-426E-8555-560DB5D20005}" dt="2025-10-17T18:50:23.079" v="3939" actId="207"/>
        <pc:sldMkLst>
          <pc:docMk/>
          <pc:sldMk cId="1379217157" sldId="322"/>
        </pc:sldMkLst>
        <pc:spChg chg="mod">
          <ac:chgData name="Jeffrey Moe" userId="495852c6-9817-4bbb-9162-b2e8ad79383d" providerId="ADAL" clId="{45C24337-BC83-426E-8555-560DB5D20005}" dt="2025-10-17T18:50:23.079" v="3939" actId="207"/>
          <ac:spMkLst>
            <pc:docMk/>
            <pc:sldMk cId="1379217157" sldId="322"/>
            <ac:spMk id="3" creationId="{F5DADB00-733E-E062-F59E-2C677CC86447}"/>
          </ac:spMkLst>
        </pc:spChg>
      </pc:sldChg>
      <pc:sldChg chg="modSp add mod">
        <pc:chgData name="Jeffrey Moe" userId="495852c6-9817-4bbb-9162-b2e8ad79383d" providerId="ADAL" clId="{45C24337-BC83-426E-8555-560DB5D20005}" dt="2025-10-17T18:50:07.824" v="3932" actId="207"/>
        <pc:sldMkLst>
          <pc:docMk/>
          <pc:sldMk cId="3673286450" sldId="323"/>
        </pc:sldMkLst>
        <pc:spChg chg="mod">
          <ac:chgData name="Jeffrey Moe" userId="495852c6-9817-4bbb-9162-b2e8ad79383d" providerId="ADAL" clId="{45C24337-BC83-426E-8555-560DB5D20005}" dt="2025-10-17T18:50:07.824" v="3932" actId="207"/>
          <ac:spMkLst>
            <pc:docMk/>
            <pc:sldMk cId="3673286450" sldId="323"/>
            <ac:spMk id="3" creationId="{FAE8990C-2174-DB59-8FD5-0AB2A1007C34}"/>
          </ac:spMkLst>
        </pc:spChg>
      </pc:sldChg>
    </pc:docChg>
  </pc:docChgLst>
  <pc:docChgLst>
    <pc:chgData name="Jeffrey Moe" userId="495852c6-9817-4bbb-9162-b2e8ad79383d" providerId="ADAL" clId="{6086583E-D0B8-4573-8269-488E5DA27CD0}"/>
    <pc:docChg chg="undo redo custSel addSld delSld modSld sldOrd">
      <pc:chgData name="Jeffrey Moe" userId="495852c6-9817-4bbb-9162-b2e8ad79383d" providerId="ADAL" clId="{6086583E-D0B8-4573-8269-488E5DA27CD0}" dt="2025-10-16T20:26:16.097" v="2437" actId="20577"/>
      <pc:docMkLst>
        <pc:docMk/>
      </pc:docMkLst>
      <pc:sldChg chg="modSp mod">
        <pc:chgData name="Jeffrey Moe" userId="495852c6-9817-4bbb-9162-b2e8ad79383d" providerId="ADAL" clId="{6086583E-D0B8-4573-8269-488E5DA27CD0}" dt="2025-10-16T13:57:30.767" v="937" actId="20577"/>
        <pc:sldMkLst>
          <pc:docMk/>
          <pc:sldMk cId="2245911696" sldId="257"/>
        </pc:sldMkLst>
        <pc:spChg chg="mod">
          <ac:chgData name="Jeffrey Moe" userId="495852c6-9817-4bbb-9162-b2e8ad79383d" providerId="ADAL" clId="{6086583E-D0B8-4573-8269-488E5DA27CD0}" dt="2025-10-16T13:57:30.767" v="937" actId="20577"/>
          <ac:spMkLst>
            <pc:docMk/>
            <pc:sldMk cId="2245911696" sldId="257"/>
            <ac:spMk id="3" creationId="{47A87B7B-3580-FF28-9139-B32CAC2C618D}"/>
          </ac:spMkLst>
        </pc:spChg>
      </pc:sldChg>
      <pc:sldChg chg="addSp delSp modSp mod ord setBg delDesignElem chgLayout">
        <pc:chgData name="Jeffrey Moe" userId="495852c6-9817-4bbb-9162-b2e8ad79383d" providerId="ADAL" clId="{6086583E-D0B8-4573-8269-488E5DA27CD0}" dt="2025-10-16T13:56:53.921" v="936" actId="403"/>
        <pc:sldMkLst>
          <pc:docMk/>
          <pc:sldMk cId="1027270484" sldId="258"/>
        </pc:sldMkLst>
        <pc:spChg chg="mod ord">
          <ac:chgData name="Jeffrey Moe" userId="495852c6-9817-4bbb-9162-b2e8ad79383d" providerId="ADAL" clId="{6086583E-D0B8-4573-8269-488E5DA27CD0}" dt="2025-10-16T13:54:36.338" v="926" actId="700"/>
          <ac:spMkLst>
            <pc:docMk/>
            <pc:sldMk cId="1027270484" sldId="258"/>
            <ac:spMk id="2" creationId="{95D2AF07-356D-EB93-1180-0CA826EECE5C}"/>
          </ac:spMkLst>
        </pc:spChg>
        <pc:graphicFrameChg chg="add mod modGraphic">
          <ac:chgData name="Jeffrey Moe" userId="495852c6-9817-4bbb-9162-b2e8ad79383d" providerId="ADAL" clId="{6086583E-D0B8-4573-8269-488E5DA27CD0}" dt="2025-10-16T13:56:53.921" v="936" actId="403"/>
          <ac:graphicFrameMkLst>
            <pc:docMk/>
            <pc:sldMk cId="1027270484" sldId="258"/>
            <ac:graphicFrameMk id="28" creationId="{D0810705-655F-8B0C-F400-50C111F8BA0E}"/>
          </ac:graphicFrameMkLst>
        </pc:graphicFrameChg>
        <pc:picChg chg="add mod">
          <ac:chgData name="Jeffrey Moe" userId="495852c6-9817-4bbb-9162-b2e8ad79383d" providerId="ADAL" clId="{6086583E-D0B8-4573-8269-488E5DA27CD0}" dt="2025-10-16T13:56:02.700" v="929" actId="14826"/>
          <ac:picMkLst>
            <pc:docMk/>
            <pc:sldMk cId="1027270484" sldId="258"/>
            <ac:picMk id="14" creationId="{60000212-D9DD-03B3-2481-6FC7C4FE882D}"/>
          </ac:picMkLst>
        </pc:picChg>
      </pc:sldChg>
      <pc:sldChg chg="addSp modSp add mod">
        <pc:chgData name="Jeffrey Moe" userId="495852c6-9817-4bbb-9162-b2e8ad79383d" providerId="ADAL" clId="{6086583E-D0B8-4573-8269-488E5DA27CD0}" dt="2025-10-16T15:44:52.547" v="1913" actId="207"/>
        <pc:sldMkLst>
          <pc:docMk/>
          <pc:sldMk cId="3693185259" sldId="260"/>
        </pc:sldMkLst>
        <pc:spChg chg="mod">
          <ac:chgData name="Jeffrey Moe" userId="495852c6-9817-4bbb-9162-b2e8ad79383d" providerId="ADAL" clId="{6086583E-D0B8-4573-8269-488E5DA27CD0}" dt="2025-10-16T15:42:25.503" v="1861"/>
          <ac:spMkLst>
            <pc:docMk/>
            <pc:sldMk cId="3693185259" sldId="260"/>
            <ac:spMk id="2" creationId="{734984EC-A511-E13E-44C8-78B58460C9DB}"/>
          </ac:spMkLst>
        </pc:spChg>
        <pc:spChg chg="mod">
          <ac:chgData name="Jeffrey Moe" userId="495852c6-9817-4bbb-9162-b2e8ad79383d" providerId="ADAL" clId="{6086583E-D0B8-4573-8269-488E5DA27CD0}" dt="2025-10-16T15:44:52.547" v="1913" actId="207"/>
          <ac:spMkLst>
            <pc:docMk/>
            <pc:sldMk cId="3693185259" sldId="260"/>
            <ac:spMk id="3" creationId="{EFBACAE9-C834-8B67-E737-CAE05AFA60C1}"/>
          </ac:spMkLst>
        </pc:spChg>
        <pc:picChg chg="add mod ord">
          <ac:chgData name="Jeffrey Moe" userId="495852c6-9817-4bbb-9162-b2e8ad79383d" providerId="ADAL" clId="{6086583E-D0B8-4573-8269-488E5DA27CD0}" dt="2025-10-16T15:42:50.207" v="1866" actId="167"/>
          <ac:picMkLst>
            <pc:docMk/>
            <pc:sldMk cId="3693185259" sldId="260"/>
            <ac:picMk id="4" creationId="{94443ABE-D06F-E507-8629-1261BD9D7642}"/>
          </ac:picMkLst>
        </pc:picChg>
      </pc:sldChg>
      <pc:sldChg chg="addSp modSp add mod">
        <pc:chgData name="Jeffrey Moe" userId="495852c6-9817-4bbb-9162-b2e8ad79383d" providerId="ADAL" clId="{6086583E-D0B8-4573-8269-488E5DA27CD0}" dt="2025-10-16T15:10:02.399" v="1297" actId="167"/>
        <pc:sldMkLst>
          <pc:docMk/>
          <pc:sldMk cId="1516841823" sldId="261"/>
        </pc:sldMkLst>
        <pc:spChg chg="mod">
          <ac:chgData name="Jeffrey Moe" userId="495852c6-9817-4bbb-9162-b2e8ad79383d" providerId="ADAL" clId="{6086583E-D0B8-4573-8269-488E5DA27CD0}" dt="2025-10-16T13:51:22.072" v="866" actId="207"/>
          <ac:spMkLst>
            <pc:docMk/>
            <pc:sldMk cId="1516841823" sldId="261"/>
            <ac:spMk id="28" creationId="{F22748A0-D381-2883-1FBF-0BEDBD0F9130}"/>
          </ac:spMkLst>
        </pc:spChg>
        <pc:picChg chg="add mod ord">
          <ac:chgData name="Jeffrey Moe" userId="495852c6-9817-4bbb-9162-b2e8ad79383d" providerId="ADAL" clId="{6086583E-D0B8-4573-8269-488E5DA27CD0}" dt="2025-10-16T15:10:02.399" v="1297" actId="167"/>
          <ac:picMkLst>
            <pc:docMk/>
            <pc:sldMk cId="1516841823" sldId="261"/>
            <ac:picMk id="3" creationId="{7566BE52-E113-1D29-3737-D4EFFFA909DD}"/>
          </ac:picMkLst>
        </pc:picChg>
      </pc:sldChg>
      <pc:sldChg chg="modSp new del mod">
        <pc:chgData name="Jeffrey Moe" userId="495852c6-9817-4bbb-9162-b2e8ad79383d" providerId="ADAL" clId="{6086583E-D0B8-4573-8269-488E5DA27CD0}" dt="2025-10-16T13:16:50.106" v="863" actId="47"/>
        <pc:sldMkLst>
          <pc:docMk/>
          <pc:sldMk cId="2923245882" sldId="262"/>
        </pc:sldMkLst>
      </pc:sldChg>
      <pc:sldChg chg="addSp delSp modSp new mod">
        <pc:chgData name="Jeffrey Moe" userId="495852c6-9817-4bbb-9162-b2e8ad79383d" providerId="ADAL" clId="{6086583E-D0B8-4573-8269-488E5DA27CD0}" dt="2025-10-16T15:38:48.694" v="1807" actId="167"/>
        <pc:sldMkLst>
          <pc:docMk/>
          <pc:sldMk cId="2793278269" sldId="263"/>
        </pc:sldMkLst>
        <pc:spChg chg="mod">
          <ac:chgData name="Jeffrey Moe" userId="495852c6-9817-4bbb-9162-b2e8ad79383d" providerId="ADAL" clId="{6086583E-D0B8-4573-8269-488E5DA27CD0}" dt="2025-10-16T15:36:49.846" v="1732" actId="1076"/>
          <ac:spMkLst>
            <pc:docMk/>
            <pc:sldMk cId="2793278269" sldId="263"/>
            <ac:spMk id="2" creationId="{3DA59EFC-BA48-DBF2-9B76-3BD25C2DC1DD}"/>
          </ac:spMkLst>
        </pc:spChg>
        <pc:picChg chg="add mod">
          <ac:chgData name="Jeffrey Moe" userId="495852c6-9817-4bbb-9162-b2e8ad79383d" providerId="ADAL" clId="{6086583E-D0B8-4573-8269-488E5DA27CD0}" dt="2025-10-16T15:35:41.830" v="1667" actId="1076"/>
          <ac:picMkLst>
            <pc:docMk/>
            <pc:sldMk cId="2793278269" sldId="263"/>
            <ac:picMk id="4" creationId="{5295EC3D-24F1-77B0-1896-ADB1B401C698}"/>
          </ac:picMkLst>
        </pc:picChg>
        <pc:picChg chg="add mod ord">
          <ac:chgData name="Jeffrey Moe" userId="495852c6-9817-4bbb-9162-b2e8ad79383d" providerId="ADAL" clId="{6086583E-D0B8-4573-8269-488E5DA27CD0}" dt="2025-10-16T15:38:48.694" v="1807" actId="167"/>
          <ac:picMkLst>
            <pc:docMk/>
            <pc:sldMk cId="2793278269" sldId="263"/>
            <ac:picMk id="5" creationId="{3799B61F-79E4-1DB5-DBE3-08F2384A3E1C}"/>
          </ac:picMkLst>
        </pc:picChg>
      </pc:sldChg>
      <pc:sldChg chg="addSp delSp modSp new mod ord setBg">
        <pc:chgData name="Jeffrey Moe" userId="495852c6-9817-4bbb-9162-b2e8ad79383d" providerId="ADAL" clId="{6086583E-D0B8-4573-8269-488E5DA27CD0}" dt="2025-10-16T13:16:22.962" v="862" actId="255"/>
        <pc:sldMkLst>
          <pc:docMk/>
          <pc:sldMk cId="3408760563" sldId="264"/>
        </pc:sldMkLst>
      </pc:sldChg>
      <pc:sldChg chg="addSp delSp modSp new mod">
        <pc:chgData name="Jeffrey Moe" userId="495852c6-9817-4bbb-9162-b2e8ad79383d" providerId="ADAL" clId="{6086583E-D0B8-4573-8269-488E5DA27CD0}" dt="2025-10-16T15:09:40.890" v="1295" actId="167"/>
        <pc:sldMkLst>
          <pc:docMk/>
          <pc:sldMk cId="4172857768" sldId="265"/>
        </pc:sldMkLst>
        <pc:spChg chg="mod">
          <ac:chgData name="Jeffrey Moe" userId="495852c6-9817-4bbb-9162-b2e8ad79383d" providerId="ADAL" clId="{6086583E-D0B8-4573-8269-488E5DA27CD0}" dt="2025-10-16T15:01:05.894" v="985" actId="313"/>
          <ac:spMkLst>
            <pc:docMk/>
            <pc:sldMk cId="4172857768" sldId="265"/>
            <ac:spMk id="2" creationId="{E039C3AC-1FE6-5E21-E0E1-D59B4ED00AB7}"/>
          </ac:spMkLst>
        </pc:spChg>
        <pc:graphicFrameChg chg="add mod modGraphic">
          <ac:chgData name="Jeffrey Moe" userId="495852c6-9817-4bbb-9162-b2e8ad79383d" providerId="ADAL" clId="{6086583E-D0B8-4573-8269-488E5DA27CD0}" dt="2025-10-16T15:07:58.986" v="1251" actId="20577"/>
          <ac:graphicFrameMkLst>
            <pc:docMk/>
            <pc:sldMk cId="4172857768" sldId="265"/>
            <ac:graphicFrameMk id="4" creationId="{DF4CFFD6-CCB2-6BAE-8137-605500D37934}"/>
          </ac:graphicFrameMkLst>
        </pc:graphicFrameChg>
        <pc:picChg chg="add mod ord">
          <ac:chgData name="Jeffrey Moe" userId="495852c6-9817-4bbb-9162-b2e8ad79383d" providerId="ADAL" clId="{6086583E-D0B8-4573-8269-488E5DA27CD0}" dt="2025-10-16T15:09:40.890" v="1295" actId="167"/>
          <ac:picMkLst>
            <pc:docMk/>
            <pc:sldMk cId="4172857768" sldId="265"/>
            <ac:picMk id="6" creationId="{89BFA04D-2D59-0CDD-C73C-BF1ADD281D5A}"/>
          </ac:picMkLst>
        </pc:picChg>
      </pc:sldChg>
      <pc:sldChg chg="addSp delSp modSp new mod">
        <pc:chgData name="Jeffrey Moe" userId="495852c6-9817-4bbb-9162-b2e8ad79383d" providerId="ADAL" clId="{6086583E-D0B8-4573-8269-488E5DA27CD0}" dt="2025-10-16T15:27:24.329" v="1443" actId="20577"/>
        <pc:sldMkLst>
          <pc:docMk/>
          <pc:sldMk cId="3354631091" sldId="266"/>
        </pc:sldMkLst>
        <pc:spChg chg="mod">
          <ac:chgData name="Jeffrey Moe" userId="495852c6-9817-4bbb-9162-b2e8ad79383d" providerId="ADAL" clId="{6086583E-D0B8-4573-8269-488E5DA27CD0}" dt="2025-10-16T15:02:10.046" v="997"/>
          <ac:spMkLst>
            <pc:docMk/>
            <pc:sldMk cId="3354631091" sldId="266"/>
            <ac:spMk id="2" creationId="{223C45ED-487F-B539-D0A8-4C1FE7172A47}"/>
          </ac:spMkLst>
        </pc:spChg>
        <pc:graphicFrameChg chg="add mod modGraphic">
          <ac:chgData name="Jeffrey Moe" userId="495852c6-9817-4bbb-9162-b2e8ad79383d" providerId="ADAL" clId="{6086583E-D0B8-4573-8269-488E5DA27CD0}" dt="2025-10-16T15:27:24.329" v="1443" actId="20577"/>
          <ac:graphicFrameMkLst>
            <pc:docMk/>
            <pc:sldMk cId="3354631091" sldId="266"/>
            <ac:graphicFrameMk id="4" creationId="{CCB75609-3078-23AF-AE7D-B951C9580277}"/>
          </ac:graphicFrameMkLst>
        </pc:graphicFrameChg>
        <pc:graphicFrameChg chg="add mod modGraphic">
          <ac:chgData name="Jeffrey Moe" userId="495852c6-9817-4bbb-9162-b2e8ad79383d" providerId="ADAL" clId="{6086583E-D0B8-4573-8269-488E5DA27CD0}" dt="2025-10-16T15:07:23.816" v="1186" actId="207"/>
          <ac:graphicFrameMkLst>
            <pc:docMk/>
            <pc:sldMk cId="3354631091" sldId="266"/>
            <ac:graphicFrameMk id="6" creationId="{9F4C3432-96DE-9F27-007B-B5F329B49941}"/>
          </ac:graphicFrameMkLst>
        </pc:graphicFrameChg>
        <pc:picChg chg="add mod ord">
          <ac:chgData name="Jeffrey Moe" userId="495852c6-9817-4bbb-9162-b2e8ad79383d" providerId="ADAL" clId="{6086583E-D0B8-4573-8269-488E5DA27CD0}" dt="2025-10-16T15:10:30.589" v="1299" actId="167"/>
          <ac:picMkLst>
            <pc:docMk/>
            <pc:sldMk cId="3354631091" sldId="266"/>
            <ac:picMk id="7" creationId="{B660CC04-5EFB-7B88-17F4-1766D5DEF6D4}"/>
          </ac:picMkLst>
        </pc:picChg>
      </pc:sldChg>
      <pc:sldChg chg="addSp modSp new mod">
        <pc:chgData name="Jeffrey Moe" userId="495852c6-9817-4bbb-9162-b2e8ad79383d" providerId="ADAL" clId="{6086583E-D0B8-4573-8269-488E5DA27CD0}" dt="2025-10-16T15:46:40.472" v="1930" actId="14100"/>
        <pc:sldMkLst>
          <pc:docMk/>
          <pc:sldMk cId="1438637188" sldId="267"/>
        </pc:sldMkLst>
        <pc:spChg chg="mod">
          <ac:chgData name="Jeffrey Moe" userId="495852c6-9817-4bbb-9162-b2e8ad79383d" providerId="ADAL" clId="{6086583E-D0B8-4573-8269-488E5DA27CD0}" dt="2025-10-16T15:46:14.394" v="1926" actId="2085"/>
          <ac:spMkLst>
            <pc:docMk/>
            <pc:sldMk cId="1438637188" sldId="267"/>
            <ac:spMk id="2" creationId="{E5682421-5E3D-C7E6-6D72-D4F76F288914}"/>
          </ac:spMkLst>
        </pc:spChg>
        <pc:spChg chg="mod">
          <ac:chgData name="Jeffrey Moe" userId="495852c6-9817-4bbb-9162-b2e8ad79383d" providerId="ADAL" clId="{6086583E-D0B8-4573-8269-488E5DA27CD0}" dt="2025-10-16T15:46:14.394" v="1926" actId="2085"/>
          <ac:spMkLst>
            <pc:docMk/>
            <pc:sldMk cId="1438637188" sldId="267"/>
            <ac:spMk id="3" creationId="{DDDFFF96-BDB3-1D4D-A5AC-C7428215B2A5}"/>
          </ac:spMkLst>
        </pc:spChg>
        <pc:spChg chg="mod">
          <ac:chgData name="Jeffrey Moe" userId="495852c6-9817-4bbb-9162-b2e8ad79383d" providerId="ADAL" clId="{6086583E-D0B8-4573-8269-488E5DA27CD0}" dt="2025-10-16T15:46:40.472" v="1930" actId="14100"/>
          <ac:spMkLst>
            <pc:docMk/>
            <pc:sldMk cId="1438637188" sldId="267"/>
            <ac:spMk id="4" creationId="{30871DC0-7EBB-C215-0D03-16F8EAF29B4E}"/>
          </ac:spMkLst>
        </pc:spChg>
        <pc:spChg chg="mod">
          <ac:chgData name="Jeffrey Moe" userId="495852c6-9817-4bbb-9162-b2e8ad79383d" providerId="ADAL" clId="{6086583E-D0B8-4573-8269-488E5DA27CD0}" dt="2025-10-16T15:46:14.394" v="1926" actId="2085"/>
          <ac:spMkLst>
            <pc:docMk/>
            <pc:sldMk cId="1438637188" sldId="267"/>
            <ac:spMk id="5" creationId="{FA662663-9802-EDF2-D706-0356A3F90EAF}"/>
          </ac:spMkLst>
        </pc:spChg>
        <pc:spChg chg="mod">
          <ac:chgData name="Jeffrey Moe" userId="495852c6-9817-4bbb-9162-b2e8ad79383d" providerId="ADAL" clId="{6086583E-D0B8-4573-8269-488E5DA27CD0}" dt="2025-10-16T15:46:23.050" v="1927" actId="1076"/>
          <ac:spMkLst>
            <pc:docMk/>
            <pc:sldMk cId="1438637188" sldId="267"/>
            <ac:spMk id="6" creationId="{5907BC94-DE43-5940-7036-8FC6C3382AEE}"/>
          </ac:spMkLst>
        </pc:spChg>
        <pc:picChg chg="add mod ord">
          <ac:chgData name="Jeffrey Moe" userId="495852c6-9817-4bbb-9162-b2e8ad79383d" providerId="ADAL" clId="{6086583E-D0B8-4573-8269-488E5DA27CD0}" dt="2025-10-16T15:14:12.644" v="1421" actId="1076"/>
          <ac:picMkLst>
            <pc:docMk/>
            <pc:sldMk cId="1438637188" sldId="267"/>
            <ac:picMk id="7" creationId="{FAA937F0-30AC-DC91-7D1D-8A771C191CB6}"/>
          </ac:picMkLst>
        </pc:picChg>
      </pc:sldChg>
      <pc:sldChg chg="addSp modSp new mod">
        <pc:chgData name="Jeffrey Moe" userId="495852c6-9817-4bbb-9162-b2e8ad79383d" providerId="ADAL" clId="{6086583E-D0B8-4573-8269-488E5DA27CD0}" dt="2025-10-16T18:28:23.342" v="2038" actId="1076"/>
        <pc:sldMkLst>
          <pc:docMk/>
          <pc:sldMk cId="533943348" sldId="268"/>
        </pc:sldMkLst>
        <pc:spChg chg="mod">
          <ac:chgData name="Jeffrey Moe" userId="495852c6-9817-4bbb-9162-b2e8ad79383d" providerId="ADAL" clId="{6086583E-D0B8-4573-8269-488E5DA27CD0}" dt="2025-10-16T15:30:44.840" v="1530" actId="20577"/>
          <ac:spMkLst>
            <pc:docMk/>
            <pc:sldMk cId="533943348" sldId="268"/>
            <ac:spMk id="2" creationId="{7F7DD068-6C36-5DBD-8CB4-4679EF9F1028}"/>
          </ac:spMkLst>
        </pc:spChg>
        <pc:picChg chg="add mod">
          <ac:chgData name="Jeffrey Moe" userId="495852c6-9817-4bbb-9162-b2e8ad79383d" providerId="ADAL" clId="{6086583E-D0B8-4573-8269-488E5DA27CD0}" dt="2025-10-16T18:28:17.651" v="2036" actId="1076"/>
          <ac:picMkLst>
            <pc:docMk/>
            <pc:sldMk cId="533943348" sldId="268"/>
            <ac:picMk id="3" creationId="{C62430A3-F5B9-22FC-DFB5-26BCA1869CEE}"/>
          </ac:picMkLst>
        </pc:picChg>
        <pc:picChg chg="add mod">
          <ac:chgData name="Jeffrey Moe" userId="495852c6-9817-4bbb-9162-b2e8ad79383d" providerId="ADAL" clId="{6086583E-D0B8-4573-8269-488E5DA27CD0}" dt="2025-10-16T18:28:23.342" v="2038" actId="1076"/>
          <ac:picMkLst>
            <pc:docMk/>
            <pc:sldMk cId="533943348" sldId="268"/>
            <ac:picMk id="4" creationId="{A0511C3F-8033-0DB2-3B79-1B32B8B4FE7C}"/>
          </ac:picMkLst>
        </pc:picChg>
        <pc:picChg chg="add mod ord">
          <ac:chgData name="Jeffrey Moe" userId="495852c6-9817-4bbb-9162-b2e8ad79383d" providerId="ADAL" clId="{6086583E-D0B8-4573-8269-488E5DA27CD0}" dt="2025-10-16T15:31:01.398" v="1538" actId="171"/>
          <ac:picMkLst>
            <pc:docMk/>
            <pc:sldMk cId="533943348" sldId="268"/>
            <ac:picMk id="5" creationId="{DC20B033-EE38-CD6C-E170-5489B1FFE4F6}"/>
          </ac:picMkLst>
        </pc:picChg>
      </pc:sldChg>
      <pc:sldChg chg="addSp delSp modSp new mod">
        <pc:chgData name="Jeffrey Moe" userId="495852c6-9817-4bbb-9162-b2e8ad79383d" providerId="ADAL" clId="{6086583E-D0B8-4573-8269-488E5DA27CD0}" dt="2025-10-16T15:38:42.231" v="1805" actId="167"/>
        <pc:sldMkLst>
          <pc:docMk/>
          <pc:sldMk cId="1058563832" sldId="269"/>
        </pc:sldMkLst>
        <pc:spChg chg="mod">
          <ac:chgData name="Jeffrey Moe" userId="495852c6-9817-4bbb-9162-b2e8ad79383d" providerId="ADAL" clId="{6086583E-D0B8-4573-8269-488E5DA27CD0}" dt="2025-10-16T15:35:02.694" v="1663" actId="20577"/>
          <ac:spMkLst>
            <pc:docMk/>
            <pc:sldMk cId="1058563832" sldId="269"/>
            <ac:spMk id="2" creationId="{1CC3F29B-FB24-7BC7-3E6A-F019EC731C12}"/>
          </ac:spMkLst>
        </pc:spChg>
        <pc:picChg chg="add mod">
          <ac:chgData name="Jeffrey Moe" userId="495852c6-9817-4bbb-9162-b2e8ad79383d" providerId="ADAL" clId="{6086583E-D0B8-4573-8269-488E5DA27CD0}" dt="2025-10-16T15:35:49.457" v="1669" actId="1076"/>
          <ac:picMkLst>
            <pc:docMk/>
            <pc:sldMk cId="1058563832" sldId="269"/>
            <ac:picMk id="4" creationId="{8299D8EB-0B63-1BBE-E8EE-90237BF7EB9C}"/>
          </ac:picMkLst>
        </pc:picChg>
        <pc:picChg chg="add mod ord">
          <ac:chgData name="Jeffrey Moe" userId="495852c6-9817-4bbb-9162-b2e8ad79383d" providerId="ADAL" clId="{6086583E-D0B8-4573-8269-488E5DA27CD0}" dt="2025-10-16T15:38:42.231" v="1805" actId="167"/>
          <ac:picMkLst>
            <pc:docMk/>
            <pc:sldMk cId="1058563832" sldId="269"/>
            <ac:picMk id="5" creationId="{169BC861-E818-B5FA-0B10-B2EFF611C40F}"/>
          </ac:picMkLst>
        </pc:picChg>
      </pc:sldChg>
      <pc:sldChg chg="addSp delSp modSp new mod">
        <pc:chgData name="Jeffrey Moe" userId="495852c6-9817-4bbb-9162-b2e8ad79383d" providerId="ADAL" clId="{6086583E-D0B8-4573-8269-488E5DA27CD0}" dt="2025-10-16T15:38:53.656" v="1809" actId="167"/>
        <pc:sldMkLst>
          <pc:docMk/>
          <pc:sldMk cId="2203687519" sldId="270"/>
        </pc:sldMkLst>
        <pc:spChg chg="mod">
          <ac:chgData name="Jeffrey Moe" userId="495852c6-9817-4bbb-9162-b2e8ad79383d" providerId="ADAL" clId="{6086583E-D0B8-4573-8269-488E5DA27CD0}" dt="2025-10-16T15:37:32.868" v="1793" actId="20577"/>
          <ac:spMkLst>
            <pc:docMk/>
            <pc:sldMk cId="2203687519" sldId="270"/>
            <ac:spMk id="2" creationId="{64B726DC-3277-B93E-5D9A-816AB3F6CF18}"/>
          </ac:spMkLst>
        </pc:spChg>
        <pc:graphicFrameChg chg="add mod modGraphic">
          <ac:chgData name="Jeffrey Moe" userId="495852c6-9817-4bbb-9162-b2e8ad79383d" providerId="ADAL" clId="{6086583E-D0B8-4573-8269-488E5DA27CD0}" dt="2025-10-16T15:38:08.055" v="1803" actId="403"/>
          <ac:graphicFrameMkLst>
            <pc:docMk/>
            <pc:sldMk cId="2203687519" sldId="270"/>
            <ac:graphicFrameMk id="5" creationId="{67D511A5-5177-239F-425E-03EF52D2216A}"/>
          </ac:graphicFrameMkLst>
        </pc:graphicFrameChg>
        <pc:picChg chg="add mod ord">
          <ac:chgData name="Jeffrey Moe" userId="495852c6-9817-4bbb-9162-b2e8ad79383d" providerId="ADAL" clId="{6086583E-D0B8-4573-8269-488E5DA27CD0}" dt="2025-10-16T15:38:53.656" v="1809" actId="167"/>
          <ac:picMkLst>
            <pc:docMk/>
            <pc:sldMk cId="2203687519" sldId="270"/>
            <ac:picMk id="6" creationId="{0F3C522E-CBC9-FB79-1233-0E8080F6899A}"/>
          </ac:picMkLst>
        </pc:picChg>
      </pc:sldChg>
      <pc:sldChg chg="addSp delSp modSp new mod">
        <pc:chgData name="Jeffrey Moe" userId="495852c6-9817-4bbb-9162-b2e8ad79383d" providerId="ADAL" clId="{6086583E-D0B8-4573-8269-488E5DA27CD0}" dt="2025-10-16T20:26:16.097" v="2437" actId="20577"/>
        <pc:sldMkLst>
          <pc:docMk/>
          <pc:sldMk cId="4133937599" sldId="271"/>
        </pc:sldMkLst>
        <pc:spChg chg="mod">
          <ac:chgData name="Jeffrey Moe" userId="495852c6-9817-4bbb-9162-b2e8ad79383d" providerId="ADAL" clId="{6086583E-D0B8-4573-8269-488E5DA27CD0}" dt="2025-10-16T15:50:05.495" v="2001" actId="20577"/>
          <ac:spMkLst>
            <pc:docMk/>
            <pc:sldMk cId="4133937599" sldId="271"/>
            <ac:spMk id="2" creationId="{ACA40B57-641C-58A8-D119-9695C8297EBD}"/>
          </ac:spMkLst>
        </pc:spChg>
        <pc:spChg chg="add mod">
          <ac:chgData name="Jeffrey Moe" userId="495852c6-9817-4bbb-9162-b2e8ad79383d" providerId="ADAL" clId="{6086583E-D0B8-4573-8269-488E5DA27CD0}" dt="2025-10-16T20:26:16.097" v="2437" actId="20577"/>
          <ac:spMkLst>
            <pc:docMk/>
            <pc:sldMk cId="4133937599" sldId="271"/>
            <ac:spMk id="7" creationId="{0BD9EED5-381F-2397-E11C-8269C573B0DA}"/>
          </ac:spMkLst>
        </pc:spChg>
        <pc:graphicFrameChg chg="add mod modGraphic">
          <ac:chgData name="Jeffrey Moe" userId="495852c6-9817-4bbb-9162-b2e8ad79383d" providerId="ADAL" clId="{6086583E-D0B8-4573-8269-488E5DA27CD0}" dt="2025-10-16T20:22:31.946" v="2315" actId="1076"/>
          <ac:graphicFrameMkLst>
            <pc:docMk/>
            <pc:sldMk cId="4133937599" sldId="271"/>
            <ac:graphicFrameMk id="4" creationId="{3C702B8A-273C-635D-CEED-5235EA6C3D3A}"/>
          </ac:graphicFrameMkLst>
        </pc:graphicFrameChg>
        <pc:picChg chg="add mod ord">
          <ac:chgData name="Jeffrey Moe" userId="495852c6-9817-4bbb-9162-b2e8ad79383d" providerId="ADAL" clId="{6086583E-D0B8-4573-8269-488E5DA27CD0}" dt="2025-10-16T20:17:02.024" v="2185" actId="167"/>
          <ac:picMkLst>
            <pc:docMk/>
            <pc:sldMk cId="4133937599" sldId="271"/>
            <ac:picMk id="5" creationId="{345C87FD-FEBF-1C18-4224-35384E690466}"/>
          </ac:picMkLst>
        </pc:picChg>
      </pc:sldChg>
      <pc:sldChg chg="addSp modSp add mod ord">
        <pc:chgData name="Jeffrey Moe" userId="495852c6-9817-4bbb-9162-b2e8ad79383d" providerId="ADAL" clId="{6086583E-D0B8-4573-8269-488E5DA27CD0}" dt="2025-10-16T15:47:37.138" v="1936" actId="1076"/>
        <pc:sldMkLst>
          <pc:docMk/>
          <pc:sldMk cId="2438721362" sldId="272"/>
        </pc:sldMkLst>
        <pc:spChg chg="mod">
          <ac:chgData name="Jeffrey Moe" userId="495852c6-9817-4bbb-9162-b2e8ad79383d" providerId="ADAL" clId="{6086583E-D0B8-4573-8269-488E5DA27CD0}" dt="2025-10-16T15:41:56.675" v="1859" actId="20577"/>
          <ac:spMkLst>
            <pc:docMk/>
            <pc:sldMk cId="2438721362" sldId="272"/>
            <ac:spMk id="2" creationId="{A0C0929E-03EF-7755-A4AE-6B2B92267F14}"/>
          </ac:spMkLst>
        </pc:spChg>
        <pc:spChg chg="mod ord">
          <ac:chgData name="Jeffrey Moe" userId="495852c6-9817-4bbb-9162-b2e8ad79383d" providerId="ADAL" clId="{6086583E-D0B8-4573-8269-488E5DA27CD0}" dt="2025-10-16T15:47:37.138" v="1936" actId="1076"/>
          <ac:spMkLst>
            <pc:docMk/>
            <pc:sldMk cId="2438721362" sldId="272"/>
            <ac:spMk id="6" creationId="{3619E56E-E2DF-0D88-8B7A-72F3A2170701}"/>
          </ac:spMkLst>
        </pc:spChg>
        <pc:picChg chg="add mod ord">
          <ac:chgData name="Jeffrey Moe" userId="495852c6-9817-4bbb-9162-b2e8ad79383d" providerId="ADAL" clId="{6086583E-D0B8-4573-8269-488E5DA27CD0}" dt="2025-10-16T15:41:11.916" v="1815" actId="167"/>
          <ac:picMkLst>
            <pc:docMk/>
            <pc:sldMk cId="2438721362" sldId="272"/>
            <ac:picMk id="3" creationId="{79C37A8C-BF9F-3C12-8D75-EC216C4135A4}"/>
          </ac:picMkLst>
        </pc:picChg>
      </pc:sldChg>
      <pc:sldChg chg="addSp modSp add mod">
        <pc:chgData name="Jeffrey Moe" userId="495852c6-9817-4bbb-9162-b2e8ad79383d" providerId="ADAL" clId="{6086583E-D0B8-4573-8269-488E5DA27CD0}" dt="2025-10-16T15:45:12.672" v="1919" actId="207"/>
        <pc:sldMkLst>
          <pc:docMk/>
          <pc:sldMk cId="1776734332" sldId="273"/>
        </pc:sldMkLst>
        <pc:spChg chg="mod">
          <ac:chgData name="Jeffrey Moe" userId="495852c6-9817-4bbb-9162-b2e8ad79383d" providerId="ADAL" clId="{6086583E-D0B8-4573-8269-488E5DA27CD0}" dt="2025-10-16T15:42:27.605" v="1862"/>
          <ac:spMkLst>
            <pc:docMk/>
            <pc:sldMk cId="1776734332" sldId="273"/>
            <ac:spMk id="2" creationId="{5982ADB2-9CFB-B545-A084-6F598CE0B515}"/>
          </ac:spMkLst>
        </pc:spChg>
        <pc:spChg chg="mod">
          <ac:chgData name="Jeffrey Moe" userId="495852c6-9817-4bbb-9162-b2e8ad79383d" providerId="ADAL" clId="{6086583E-D0B8-4573-8269-488E5DA27CD0}" dt="2025-10-16T15:45:12.672" v="1919" actId="207"/>
          <ac:spMkLst>
            <pc:docMk/>
            <pc:sldMk cId="1776734332" sldId="273"/>
            <ac:spMk id="3" creationId="{FA73906E-CF20-0D0D-3354-E9F6FE3A7EF1}"/>
          </ac:spMkLst>
        </pc:spChg>
        <pc:picChg chg="add mod ord">
          <ac:chgData name="Jeffrey Moe" userId="495852c6-9817-4bbb-9162-b2e8ad79383d" providerId="ADAL" clId="{6086583E-D0B8-4573-8269-488E5DA27CD0}" dt="2025-10-16T15:42:45.599" v="1865" actId="167"/>
          <ac:picMkLst>
            <pc:docMk/>
            <pc:sldMk cId="1776734332" sldId="273"/>
            <ac:picMk id="4" creationId="{0331D7B6-8F8C-5119-1391-69D3A33466FA}"/>
          </ac:picMkLst>
        </pc:picChg>
      </pc:sldChg>
      <pc:sldChg chg="addSp modSp new mod">
        <pc:chgData name="Jeffrey Moe" userId="495852c6-9817-4bbb-9162-b2e8ad79383d" providerId="ADAL" clId="{6086583E-D0B8-4573-8269-488E5DA27CD0}" dt="2025-10-16T15:51:20.889" v="2035" actId="167"/>
        <pc:sldMkLst>
          <pc:docMk/>
          <pc:sldMk cId="3658648075" sldId="274"/>
        </pc:sldMkLst>
      </pc:sldChg>
      <pc:sldChg chg="modSp new del mod">
        <pc:chgData name="Jeffrey Moe" userId="495852c6-9817-4bbb-9162-b2e8ad79383d" providerId="ADAL" clId="{6086583E-D0B8-4573-8269-488E5DA27CD0}" dt="2025-10-16T15:48:58.554" v="1946" actId="47"/>
        <pc:sldMkLst>
          <pc:docMk/>
          <pc:sldMk cId="3923548900" sldId="274"/>
        </pc:sldMkLst>
      </pc:sldChg>
    </pc:docChg>
  </pc:docChgLst>
</pc:chgInfo>
</file>

<file path=ppt/diagrams/_rels/data2.xml.rels><?xml version="1.0" encoding="UTF-8" standalone="yes"?>
<Relationships xmlns="http://schemas.openxmlformats.org/package/2006/relationships"><Relationship Id="rId1" Type="http://schemas.openxmlformats.org/officeDocument/2006/relationships/image" Target="../media/image1.jp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A7192A-620D-4DA0-83C0-6682E9FE54C7}" type="doc">
      <dgm:prSet loTypeId="urn:microsoft.com/office/officeart/2005/8/layout/list1" loCatId="list" qsTypeId="urn:microsoft.com/office/officeart/2005/8/quickstyle/simple5" qsCatId="simple" csTypeId="urn:microsoft.com/office/officeart/2005/8/colors/colorful2" csCatId="colorful" phldr="1"/>
      <dgm:spPr/>
      <dgm:t>
        <a:bodyPr/>
        <a:lstStyle/>
        <a:p>
          <a:endParaRPr lang="en-US"/>
        </a:p>
      </dgm:t>
    </dgm:pt>
    <dgm:pt modelId="{CA21D4E1-8FA7-4488-9BBB-10507D9F52F8}">
      <dgm:prSet custT="1"/>
      <dgm:spPr>
        <a:solidFill>
          <a:schemeClr val="bg2">
            <a:lumMod val="90000"/>
            <a:lumOff val="10000"/>
          </a:schemeClr>
        </a:solidFill>
      </dgm:spPr>
      <dgm:t>
        <a:bodyPr/>
        <a:lstStyle/>
        <a:p>
          <a:r>
            <a:rPr lang="en-US" sz="1800" dirty="0"/>
            <a:t>Lack of a standardized communication protocol. </a:t>
          </a:r>
        </a:p>
      </dgm:t>
    </dgm:pt>
    <dgm:pt modelId="{40D7E9EB-F613-4778-B7DE-E88B288746E4}" type="parTrans" cxnId="{D2D3E0D2-D20B-4073-B0EF-F6CB58A4A6BB}">
      <dgm:prSet/>
      <dgm:spPr/>
      <dgm:t>
        <a:bodyPr/>
        <a:lstStyle/>
        <a:p>
          <a:endParaRPr lang="en-US" sz="4000"/>
        </a:p>
      </dgm:t>
    </dgm:pt>
    <dgm:pt modelId="{5C483B28-8D8C-4E78-BD78-0BCB0D63220E}" type="sibTrans" cxnId="{D2D3E0D2-D20B-4073-B0EF-F6CB58A4A6BB}">
      <dgm:prSet/>
      <dgm:spPr/>
      <dgm:t>
        <a:bodyPr/>
        <a:lstStyle/>
        <a:p>
          <a:endParaRPr lang="en-US" sz="4000"/>
        </a:p>
      </dgm:t>
    </dgm:pt>
    <dgm:pt modelId="{C28789D0-1B84-4488-AAC4-7CBD77A315F9}">
      <dgm:prSet custT="1"/>
      <dgm:spPr>
        <a:ln>
          <a:noFill/>
        </a:ln>
      </dgm:spPr>
      <dgm:t>
        <a:bodyPr/>
        <a:lstStyle/>
        <a:p>
          <a:r>
            <a:rPr lang="en-US" sz="1800"/>
            <a:t>Reduces the efficiency in multi-department collaborations.</a:t>
          </a:r>
        </a:p>
      </dgm:t>
    </dgm:pt>
    <dgm:pt modelId="{002BAC8A-BD69-458A-A487-AC225162FF7D}" type="parTrans" cxnId="{36576B1B-5934-4184-A285-7C4E1AA37603}">
      <dgm:prSet/>
      <dgm:spPr/>
      <dgm:t>
        <a:bodyPr/>
        <a:lstStyle/>
        <a:p>
          <a:endParaRPr lang="en-US" sz="4000"/>
        </a:p>
      </dgm:t>
    </dgm:pt>
    <dgm:pt modelId="{FCBC363C-A07E-4160-B18F-A7058FDB8C6B}" type="sibTrans" cxnId="{36576B1B-5934-4184-A285-7C4E1AA37603}">
      <dgm:prSet/>
      <dgm:spPr/>
      <dgm:t>
        <a:bodyPr/>
        <a:lstStyle/>
        <a:p>
          <a:endParaRPr lang="en-US" sz="4000"/>
        </a:p>
      </dgm:t>
    </dgm:pt>
    <dgm:pt modelId="{83483FC5-239A-48C8-BF36-7FA6749135AD}">
      <dgm:prSet custT="1"/>
      <dgm:spPr>
        <a:ln>
          <a:noFill/>
        </a:ln>
      </dgm:spPr>
      <dgm:t>
        <a:bodyPr/>
        <a:lstStyle/>
        <a:p>
          <a:r>
            <a:rPr lang="en-US" sz="1800"/>
            <a:t>Causes delays in project timelines. </a:t>
          </a:r>
        </a:p>
      </dgm:t>
    </dgm:pt>
    <dgm:pt modelId="{FF6723E4-BA93-4C80-A723-2091EF2C23CA}" type="parTrans" cxnId="{D579F05E-1500-4EBC-A1DE-E184637E7765}">
      <dgm:prSet/>
      <dgm:spPr/>
      <dgm:t>
        <a:bodyPr/>
        <a:lstStyle/>
        <a:p>
          <a:endParaRPr lang="en-US" sz="4000"/>
        </a:p>
      </dgm:t>
    </dgm:pt>
    <dgm:pt modelId="{4D78D17E-8817-4171-9448-AE407BC3A62B}" type="sibTrans" cxnId="{D579F05E-1500-4EBC-A1DE-E184637E7765}">
      <dgm:prSet/>
      <dgm:spPr/>
      <dgm:t>
        <a:bodyPr/>
        <a:lstStyle/>
        <a:p>
          <a:endParaRPr lang="en-US" sz="4000"/>
        </a:p>
      </dgm:t>
    </dgm:pt>
    <dgm:pt modelId="{E1CDCF42-4C89-4CBB-A0C7-2E8D34467BCA}">
      <dgm:prSet custT="1"/>
      <dgm:spPr>
        <a:ln>
          <a:noFill/>
        </a:ln>
      </dgm:spPr>
      <dgm:t>
        <a:bodyPr/>
        <a:lstStyle/>
        <a:p>
          <a:r>
            <a:rPr lang="en-US" sz="1800"/>
            <a:t>Potential for data breaches and other security vulnerabilities.</a:t>
          </a:r>
        </a:p>
      </dgm:t>
    </dgm:pt>
    <dgm:pt modelId="{218CE504-8BB3-4DA2-AD6D-100F85C5D184}" type="parTrans" cxnId="{23BA441F-1C32-4E1E-8A13-C2E02D68F5CC}">
      <dgm:prSet/>
      <dgm:spPr/>
      <dgm:t>
        <a:bodyPr/>
        <a:lstStyle/>
        <a:p>
          <a:endParaRPr lang="en-US" sz="4000"/>
        </a:p>
      </dgm:t>
    </dgm:pt>
    <dgm:pt modelId="{F512A45E-010C-42D5-9B88-56F559FA17E5}" type="sibTrans" cxnId="{23BA441F-1C32-4E1E-8A13-C2E02D68F5CC}">
      <dgm:prSet/>
      <dgm:spPr/>
      <dgm:t>
        <a:bodyPr/>
        <a:lstStyle/>
        <a:p>
          <a:endParaRPr lang="en-US" sz="4000"/>
        </a:p>
      </dgm:t>
    </dgm:pt>
    <dgm:pt modelId="{DF954A92-CFFB-4629-BC76-F5AE74431C45}">
      <dgm:prSet custT="1"/>
      <dgm:spPr>
        <a:solidFill>
          <a:schemeClr val="bg2">
            <a:lumMod val="90000"/>
            <a:lumOff val="10000"/>
          </a:schemeClr>
        </a:solidFill>
      </dgm:spPr>
      <dgm:t>
        <a:bodyPr/>
        <a:lstStyle/>
        <a:p>
          <a:r>
            <a:rPr lang="en-US" sz="1800"/>
            <a:t>Currently deploy independent data storage across divisions.</a:t>
          </a:r>
        </a:p>
      </dgm:t>
    </dgm:pt>
    <dgm:pt modelId="{77610E71-F765-4519-A73C-0E87A46FCCB7}" type="parTrans" cxnId="{F14A4BA9-AAB0-4AED-821A-06541A7503ED}">
      <dgm:prSet/>
      <dgm:spPr/>
      <dgm:t>
        <a:bodyPr/>
        <a:lstStyle/>
        <a:p>
          <a:endParaRPr lang="en-US" sz="4000"/>
        </a:p>
      </dgm:t>
    </dgm:pt>
    <dgm:pt modelId="{C28793AD-0B6F-48FE-9E92-50529106701B}" type="sibTrans" cxnId="{F14A4BA9-AAB0-4AED-821A-06541A7503ED}">
      <dgm:prSet/>
      <dgm:spPr/>
      <dgm:t>
        <a:bodyPr/>
        <a:lstStyle/>
        <a:p>
          <a:endParaRPr lang="en-US" sz="4000"/>
        </a:p>
      </dgm:t>
    </dgm:pt>
    <dgm:pt modelId="{1E8844C6-783A-459F-8331-6BBF0FEBEC31}">
      <dgm:prSet custT="1"/>
      <dgm:spPr>
        <a:ln>
          <a:noFill/>
        </a:ln>
      </dgm:spPr>
      <dgm:t>
        <a:bodyPr/>
        <a:lstStyle/>
        <a:p>
          <a:r>
            <a:rPr lang="en-US" sz="1800"/>
            <a:t>Increases the operational costs.</a:t>
          </a:r>
        </a:p>
      </dgm:t>
    </dgm:pt>
    <dgm:pt modelId="{27BD46B2-0FCC-4ABD-ACB4-1D5D806B652A}" type="parTrans" cxnId="{90279881-14BA-4064-BC1E-19DF5643923A}">
      <dgm:prSet/>
      <dgm:spPr/>
      <dgm:t>
        <a:bodyPr/>
        <a:lstStyle/>
        <a:p>
          <a:endParaRPr lang="en-US" sz="4000"/>
        </a:p>
      </dgm:t>
    </dgm:pt>
    <dgm:pt modelId="{48679471-07E2-4534-9D6D-CC36F7ED119C}" type="sibTrans" cxnId="{90279881-14BA-4064-BC1E-19DF5643923A}">
      <dgm:prSet/>
      <dgm:spPr/>
      <dgm:t>
        <a:bodyPr/>
        <a:lstStyle/>
        <a:p>
          <a:endParaRPr lang="en-US" sz="4000"/>
        </a:p>
      </dgm:t>
    </dgm:pt>
    <dgm:pt modelId="{7DA15DCF-C99D-498A-B1E6-1BCA1F36803D}">
      <dgm:prSet custT="1"/>
      <dgm:spPr>
        <a:ln>
          <a:noFill/>
        </a:ln>
      </dgm:spPr>
      <dgm:t>
        <a:bodyPr/>
        <a:lstStyle/>
        <a:p>
          <a:r>
            <a:rPr lang="en-US" sz="1800"/>
            <a:t>Creates headaches in data management and backing up of sensitive and important data.</a:t>
          </a:r>
        </a:p>
      </dgm:t>
    </dgm:pt>
    <dgm:pt modelId="{D84A1FBB-4018-49B1-BEA6-4983F813C9EB}" type="parTrans" cxnId="{DB2D9474-5AAC-4B1D-BEBD-7E879A506533}">
      <dgm:prSet/>
      <dgm:spPr/>
      <dgm:t>
        <a:bodyPr/>
        <a:lstStyle/>
        <a:p>
          <a:endParaRPr lang="en-US" sz="4000"/>
        </a:p>
      </dgm:t>
    </dgm:pt>
    <dgm:pt modelId="{B5378983-CFAD-408A-8ECD-EA55A0823951}" type="sibTrans" cxnId="{DB2D9474-5AAC-4B1D-BEBD-7E879A506533}">
      <dgm:prSet/>
      <dgm:spPr/>
      <dgm:t>
        <a:bodyPr/>
        <a:lstStyle/>
        <a:p>
          <a:endParaRPr lang="en-US" sz="4000"/>
        </a:p>
      </dgm:t>
    </dgm:pt>
    <dgm:pt modelId="{F7FA0690-A44F-41DC-B1AB-E79C73A59E7A}">
      <dgm:prSet custT="1"/>
      <dgm:spPr>
        <a:ln>
          <a:noFill/>
        </a:ln>
      </dgm:spPr>
      <dgm:t>
        <a:bodyPr/>
        <a:lstStyle/>
        <a:p>
          <a:r>
            <a:rPr lang="en-US" sz="1800"/>
            <a:t>Causes inconsistencies in the data, leading to compliance concerns.</a:t>
          </a:r>
        </a:p>
      </dgm:t>
    </dgm:pt>
    <dgm:pt modelId="{5E2B5DC7-B67A-41CE-B029-8CED5CA5DD2F}" type="parTrans" cxnId="{F35E7375-0783-469C-864F-A09232AA6007}">
      <dgm:prSet/>
      <dgm:spPr/>
      <dgm:t>
        <a:bodyPr/>
        <a:lstStyle/>
        <a:p>
          <a:endParaRPr lang="en-US" sz="4000"/>
        </a:p>
      </dgm:t>
    </dgm:pt>
    <dgm:pt modelId="{6135DC3A-E14A-4239-AA43-7AABEBECCE8A}" type="sibTrans" cxnId="{F35E7375-0783-469C-864F-A09232AA6007}">
      <dgm:prSet/>
      <dgm:spPr/>
      <dgm:t>
        <a:bodyPr/>
        <a:lstStyle/>
        <a:p>
          <a:endParaRPr lang="en-US" sz="4000"/>
        </a:p>
      </dgm:t>
    </dgm:pt>
    <dgm:pt modelId="{8DD981D5-9918-4CC1-9869-BA073AFB500C}">
      <dgm:prSet custT="1"/>
      <dgm:spPr>
        <a:solidFill>
          <a:schemeClr val="bg2">
            <a:lumMod val="90000"/>
            <a:lumOff val="10000"/>
          </a:schemeClr>
        </a:solidFill>
      </dgm:spPr>
      <dgm:t>
        <a:bodyPr/>
        <a:lstStyle/>
        <a:p>
          <a:r>
            <a:rPr lang="en-US" sz="1800"/>
            <a:t>Outdated software systems and infrastructure.</a:t>
          </a:r>
        </a:p>
      </dgm:t>
    </dgm:pt>
    <dgm:pt modelId="{F18FDC4C-2347-43CD-A226-73F32992655D}" type="parTrans" cxnId="{A1BCEC71-2757-41F7-9EC2-1F48FD3F0BDB}">
      <dgm:prSet/>
      <dgm:spPr/>
      <dgm:t>
        <a:bodyPr/>
        <a:lstStyle/>
        <a:p>
          <a:endParaRPr lang="en-US" sz="4000"/>
        </a:p>
      </dgm:t>
    </dgm:pt>
    <dgm:pt modelId="{66FFCBF3-8FBD-415F-81E3-7F10B965DF62}" type="sibTrans" cxnId="{A1BCEC71-2757-41F7-9EC2-1F48FD3F0BDB}">
      <dgm:prSet/>
      <dgm:spPr/>
      <dgm:t>
        <a:bodyPr/>
        <a:lstStyle/>
        <a:p>
          <a:endParaRPr lang="en-US" sz="4000"/>
        </a:p>
      </dgm:t>
    </dgm:pt>
    <dgm:pt modelId="{08A44A1F-1DE1-41CE-92E7-54C3C7229D93}">
      <dgm:prSet custT="1"/>
      <dgm:spPr>
        <a:solidFill>
          <a:schemeClr val="bg2">
            <a:lumMod val="90000"/>
            <a:lumOff val="10000"/>
          </a:schemeClr>
        </a:solidFill>
      </dgm:spPr>
      <dgm:t>
        <a:bodyPr/>
        <a:lstStyle/>
        <a:p>
          <a:r>
            <a:rPr lang="en-US" sz="1800"/>
            <a:t>Limited scalability in operations.</a:t>
          </a:r>
        </a:p>
      </dgm:t>
    </dgm:pt>
    <dgm:pt modelId="{62F9BB0A-1EFB-448E-8AB1-EE605207BD8B}" type="parTrans" cxnId="{53682A84-B07E-449E-B7AB-D5BF9561B51F}">
      <dgm:prSet/>
      <dgm:spPr/>
      <dgm:t>
        <a:bodyPr/>
        <a:lstStyle/>
        <a:p>
          <a:endParaRPr lang="en-US" sz="4000"/>
        </a:p>
      </dgm:t>
    </dgm:pt>
    <dgm:pt modelId="{7F2812E6-D8A5-40E6-9329-D1530487EEB5}" type="sibTrans" cxnId="{53682A84-B07E-449E-B7AB-D5BF9561B51F}">
      <dgm:prSet/>
      <dgm:spPr/>
      <dgm:t>
        <a:bodyPr/>
        <a:lstStyle/>
        <a:p>
          <a:endParaRPr lang="en-US" sz="4000"/>
        </a:p>
      </dgm:t>
    </dgm:pt>
    <dgm:pt modelId="{4AE4B542-F521-4FBC-8EFE-568973E5D7C0}">
      <dgm:prSet custT="1"/>
      <dgm:spPr>
        <a:solidFill>
          <a:schemeClr val="bg2">
            <a:lumMod val="90000"/>
            <a:lumOff val="10000"/>
          </a:schemeClr>
        </a:solidFill>
      </dgm:spPr>
      <dgm:t>
        <a:bodyPr/>
        <a:lstStyle/>
        <a:p>
          <a:r>
            <a:rPr lang="en-US" sz="1800"/>
            <a:t>Wasteful expenditures in all facets of the business.</a:t>
          </a:r>
        </a:p>
      </dgm:t>
    </dgm:pt>
    <dgm:pt modelId="{CA9DB62F-E123-4C53-A754-0A389342ADD9}" type="parTrans" cxnId="{DAD6E66D-33D9-4ED2-9560-3200A970C8B0}">
      <dgm:prSet/>
      <dgm:spPr/>
      <dgm:t>
        <a:bodyPr/>
        <a:lstStyle/>
        <a:p>
          <a:endParaRPr lang="en-US" sz="4000"/>
        </a:p>
      </dgm:t>
    </dgm:pt>
    <dgm:pt modelId="{E5C0E729-AE49-41F6-9307-1E4D475AD6C8}" type="sibTrans" cxnId="{DAD6E66D-33D9-4ED2-9560-3200A970C8B0}">
      <dgm:prSet/>
      <dgm:spPr/>
      <dgm:t>
        <a:bodyPr/>
        <a:lstStyle/>
        <a:p>
          <a:endParaRPr lang="en-US" sz="4000"/>
        </a:p>
      </dgm:t>
    </dgm:pt>
    <dgm:pt modelId="{12E219F6-FFAC-4783-A628-8328780BDF80}">
      <dgm:prSet custT="1"/>
      <dgm:spPr>
        <a:solidFill>
          <a:schemeClr val="bg2">
            <a:lumMod val="90000"/>
            <a:lumOff val="10000"/>
          </a:schemeClr>
        </a:solidFill>
      </dgm:spPr>
      <dgm:t>
        <a:bodyPr/>
        <a:lstStyle/>
        <a:p>
          <a:r>
            <a:rPr lang="en-US" sz="1800" dirty="0"/>
            <a:t>Data transfer times are very slow, causing bottlenecks in various processes.</a:t>
          </a:r>
        </a:p>
      </dgm:t>
    </dgm:pt>
    <dgm:pt modelId="{A77C8021-6957-410F-95EB-14470CD7A75C}" type="parTrans" cxnId="{2996AD62-B964-4064-B6A5-91D84EAD4EA9}">
      <dgm:prSet/>
      <dgm:spPr/>
      <dgm:t>
        <a:bodyPr/>
        <a:lstStyle/>
        <a:p>
          <a:endParaRPr lang="en-US" sz="4000"/>
        </a:p>
      </dgm:t>
    </dgm:pt>
    <dgm:pt modelId="{BE5321FF-C49C-4232-9BD5-365997278F26}" type="sibTrans" cxnId="{2996AD62-B964-4064-B6A5-91D84EAD4EA9}">
      <dgm:prSet/>
      <dgm:spPr/>
      <dgm:t>
        <a:bodyPr/>
        <a:lstStyle/>
        <a:p>
          <a:endParaRPr lang="en-US" sz="4000"/>
        </a:p>
      </dgm:t>
    </dgm:pt>
    <dgm:pt modelId="{7A4349DA-91EC-433A-9DE8-7A2AA1CC01D0}">
      <dgm:prSet custT="1"/>
      <dgm:spPr>
        <a:ln>
          <a:noFill/>
        </a:ln>
      </dgm:spPr>
      <dgm:t>
        <a:bodyPr/>
        <a:lstStyle/>
        <a:p>
          <a:r>
            <a:rPr lang="en-US" sz="1800"/>
            <a:t>High costs associated with these data transfers.</a:t>
          </a:r>
        </a:p>
      </dgm:t>
    </dgm:pt>
    <dgm:pt modelId="{19FB0C01-35DF-470E-B308-A2321BACBA7B}" type="parTrans" cxnId="{B93E4CFD-A67C-4462-8DEE-28ED58D39F0C}">
      <dgm:prSet/>
      <dgm:spPr/>
      <dgm:t>
        <a:bodyPr/>
        <a:lstStyle/>
        <a:p>
          <a:endParaRPr lang="en-US" sz="4000"/>
        </a:p>
      </dgm:t>
    </dgm:pt>
    <dgm:pt modelId="{71920646-E889-48E7-AE08-4CA67A455455}" type="sibTrans" cxnId="{B93E4CFD-A67C-4462-8DEE-28ED58D39F0C}">
      <dgm:prSet/>
      <dgm:spPr/>
      <dgm:t>
        <a:bodyPr/>
        <a:lstStyle/>
        <a:p>
          <a:endParaRPr lang="en-US" sz="4000"/>
        </a:p>
      </dgm:t>
    </dgm:pt>
    <dgm:pt modelId="{0F006573-8B72-4686-A1E4-45F754A006D7}">
      <dgm:prSet custT="1"/>
      <dgm:spPr>
        <a:ln>
          <a:noFill/>
        </a:ln>
      </dgm:spPr>
      <dgm:t>
        <a:bodyPr/>
        <a:lstStyle/>
        <a:p>
          <a:r>
            <a:rPr lang="en-US" sz="1800"/>
            <a:t>No clear data recovery plan (DRP).</a:t>
          </a:r>
        </a:p>
      </dgm:t>
    </dgm:pt>
    <dgm:pt modelId="{C3337AD1-0242-43A0-B517-B982716A5E73}" type="parTrans" cxnId="{8C3BDDA2-129F-4FC6-A872-26143F598823}">
      <dgm:prSet/>
      <dgm:spPr/>
      <dgm:t>
        <a:bodyPr/>
        <a:lstStyle/>
        <a:p>
          <a:endParaRPr lang="en-US" sz="4000"/>
        </a:p>
      </dgm:t>
    </dgm:pt>
    <dgm:pt modelId="{39B4A4E9-F438-4231-80E2-DC9D0C01AC0E}" type="sibTrans" cxnId="{8C3BDDA2-129F-4FC6-A872-26143F598823}">
      <dgm:prSet/>
      <dgm:spPr/>
      <dgm:t>
        <a:bodyPr/>
        <a:lstStyle/>
        <a:p>
          <a:endParaRPr lang="en-US" sz="4000"/>
        </a:p>
      </dgm:t>
    </dgm:pt>
    <dgm:pt modelId="{483EE8FE-4560-45BF-8D3C-52BA29C1FC12}" type="pres">
      <dgm:prSet presAssocID="{6DA7192A-620D-4DA0-83C0-6682E9FE54C7}" presName="linear" presStyleCnt="0">
        <dgm:presLayoutVars>
          <dgm:dir/>
          <dgm:animLvl val="lvl"/>
          <dgm:resizeHandles val="exact"/>
        </dgm:presLayoutVars>
      </dgm:prSet>
      <dgm:spPr/>
    </dgm:pt>
    <dgm:pt modelId="{234297F8-EAF6-4D4F-9F1F-2EE4B0E12730}" type="pres">
      <dgm:prSet presAssocID="{CA21D4E1-8FA7-4488-9BBB-10507D9F52F8}" presName="parentLin" presStyleCnt="0"/>
      <dgm:spPr/>
    </dgm:pt>
    <dgm:pt modelId="{22058284-9325-4730-B1AB-C2A26738CAC4}" type="pres">
      <dgm:prSet presAssocID="{CA21D4E1-8FA7-4488-9BBB-10507D9F52F8}" presName="parentLeftMargin" presStyleLbl="node1" presStyleIdx="0" presStyleCnt="6"/>
      <dgm:spPr/>
    </dgm:pt>
    <dgm:pt modelId="{C1A62B2F-2D6F-4C55-9BC6-B05146310BD1}" type="pres">
      <dgm:prSet presAssocID="{CA21D4E1-8FA7-4488-9BBB-10507D9F52F8}" presName="parentText" presStyleLbl="node1" presStyleIdx="0" presStyleCnt="6">
        <dgm:presLayoutVars>
          <dgm:chMax val="0"/>
          <dgm:bulletEnabled val="1"/>
        </dgm:presLayoutVars>
      </dgm:prSet>
      <dgm:spPr/>
    </dgm:pt>
    <dgm:pt modelId="{0112F11A-5572-4C38-864E-BB94DDB43CBC}" type="pres">
      <dgm:prSet presAssocID="{CA21D4E1-8FA7-4488-9BBB-10507D9F52F8}" presName="negativeSpace" presStyleCnt="0"/>
      <dgm:spPr/>
    </dgm:pt>
    <dgm:pt modelId="{8D143D4A-17DA-464E-9984-57149EA256D4}" type="pres">
      <dgm:prSet presAssocID="{CA21D4E1-8FA7-4488-9BBB-10507D9F52F8}" presName="childText" presStyleLbl="conFgAcc1" presStyleIdx="0" presStyleCnt="6" custLinFactNeighborY="36028">
        <dgm:presLayoutVars>
          <dgm:bulletEnabled val="1"/>
        </dgm:presLayoutVars>
      </dgm:prSet>
      <dgm:spPr/>
    </dgm:pt>
    <dgm:pt modelId="{D64EF97E-F7FF-423C-AA21-974F9DC4196F}" type="pres">
      <dgm:prSet presAssocID="{5C483B28-8D8C-4E78-BD78-0BCB0D63220E}" presName="spaceBetweenRectangles" presStyleCnt="0"/>
      <dgm:spPr/>
    </dgm:pt>
    <dgm:pt modelId="{319569F4-CBFF-49D8-94AB-9C7FE716A47E}" type="pres">
      <dgm:prSet presAssocID="{DF954A92-CFFB-4629-BC76-F5AE74431C45}" presName="parentLin" presStyleCnt="0"/>
      <dgm:spPr/>
    </dgm:pt>
    <dgm:pt modelId="{F4EA8B26-4A14-4913-8161-E2E9A0A36C33}" type="pres">
      <dgm:prSet presAssocID="{DF954A92-CFFB-4629-BC76-F5AE74431C45}" presName="parentLeftMargin" presStyleLbl="node1" presStyleIdx="0" presStyleCnt="6"/>
      <dgm:spPr/>
    </dgm:pt>
    <dgm:pt modelId="{2802DA05-0C43-48FB-ACD4-D081A677641D}" type="pres">
      <dgm:prSet presAssocID="{DF954A92-CFFB-4629-BC76-F5AE74431C45}" presName="parentText" presStyleLbl="node1" presStyleIdx="1" presStyleCnt="6">
        <dgm:presLayoutVars>
          <dgm:chMax val="0"/>
          <dgm:bulletEnabled val="1"/>
        </dgm:presLayoutVars>
      </dgm:prSet>
      <dgm:spPr/>
    </dgm:pt>
    <dgm:pt modelId="{71BBD7C5-B375-470F-BC7B-CB4C1E6DDC1F}" type="pres">
      <dgm:prSet presAssocID="{DF954A92-CFFB-4629-BC76-F5AE74431C45}" presName="negativeSpace" presStyleCnt="0"/>
      <dgm:spPr/>
    </dgm:pt>
    <dgm:pt modelId="{CBABD444-B147-4D9B-A272-7808B1F94585}" type="pres">
      <dgm:prSet presAssocID="{DF954A92-CFFB-4629-BC76-F5AE74431C45}" presName="childText" presStyleLbl="conFgAcc1" presStyleIdx="1" presStyleCnt="6" custLinFactNeighborY="36028">
        <dgm:presLayoutVars>
          <dgm:bulletEnabled val="1"/>
        </dgm:presLayoutVars>
      </dgm:prSet>
      <dgm:spPr/>
    </dgm:pt>
    <dgm:pt modelId="{6F0FA44E-66BA-4B09-80B5-FB680885EF76}" type="pres">
      <dgm:prSet presAssocID="{C28793AD-0B6F-48FE-9E92-50529106701B}" presName="spaceBetweenRectangles" presStyleCnt="0"/>
      <dgm:spPr/>
    </dgm:pt>
    <dgm:pt modelId="{3C8BBCC8-A0BB-486C-8690-53824D4C0390}" type="pres">
      <dgm:prSet presAssocID="{8DD981D5-9918-4CC1-9869-BA073AFB500C}" presName="parentLin" presStyleCnt="0"/>
      <dgm:spPr/>
    </dgm:pt>
    <dgm:pt modelId="{C4108CCC-2683-49D3-B982-72881D66C5FA}" type="pres">
      <dgm:prSet presAssocID="{8DD981D5-9918-4CC1-9869-BA073AFB500C}" presName="parentLeftMargin" presStyleLbl="node1" presStyleIdx="1" presStyleCnt="6"/>
      <dgm:spPr/>
    </dgm:pt>
    <dgm:pt modelId="{D64CAE2F-EBA1-4BE3-8270-1644C5760D7E}" type="pres">
      <dgm:prSet presAssocID="{8DD981D5-9918-4CC1-9869-BA073AFB500C}" presName="parentText" presStyleLbl="node1" presStyleIdx="2" presStyleCnt="6">
        <dgm:presLayoutVars>
          <dgm:chMax val="0"/>
          <dgm:bulletEnabled val="1"/>
        </dgm:presLayoutVars>
      </dgm:prSet>
      <dgm:spPr/>
    </dgm:pt>
    <dgm:pt modelId="{6393359C-D484-4CB8-A60F-0BFD55B9A598}" type="pres">
      <dgm:prSet presAssocID="{8DD981D5-9918-4CC1-9869-BA073AFB500C}" presName="negativeSpace" presStyleCnt="0"/>
      <dgm:spPr/>
    </dgm:pt>
    <dgm:pt modelId="{692426E2-D491-4B77-A6DC-F67A4A27088C}" type="pres">
      <dgm:prSet presAssocID="{8DD981D5-9918-4CC1-9869-BA073AFB500C}" presName="childText" presStyleLbl="conFgAcc1" presStyleIdx="2" presStyleCnt="6" custLinFactNeighborY="36028">
        <dgm:presLayoutVars>
          <dgm:bulletEnabled val="1"/>
        </dgm:presLayoutVars>
      </dgm:prSet>
      <dgm:spPr>
        <a:ln>
          <a:noFill/>
        </a:ln>
      </dgm:spPr>
    </dgm:pt>
    <dgm:pt modelId="{C1B7954D-CD9D-4BCA-8DB0-04E08FF3F986}" type="pres">
      <dgm:prSet presAssocID="{66FFCBF3-8FBD-415F-81E3-7F10B965DF62}" presName="spaceBetweenRectangles" presStyleCnt="0"/>
      <dgm:spPr/>
    </dgm:pt>
    <dgm:pt modelId="{946755CB-AA8F-4FAA-8DAF-F6C065C3D146}" type="pres">
      <dgm:prSet presAssocID="{08A44A1F-1DE1-41CE-92E7-54C3C7229D93}" presName="parentLin" presStyleCnt="0"/>
      <dgm:spPr/>
    </dgm:pt>
    <dgm:pt modelId="{4F8BF1C6-1C4C-4CD2-9487-487F76EB02DC}" type="pres">
      <dgm:prSet presAssocID="{08A44A1F-1DE1-41CE-92E7-54C3C7229D93}" presName="parentLeftMargin" presStyleLbl="node1" presStyleIdx="2" presStyleCnt="6"/>
      <dgm:spPr/>
    </dgm:pt>
    <dgm:pt modelId="{58052231-074E-4D4B-9C09-D33973C59A9A}" type="pres">
      <dgm:prSet presAssocID="{08A44A1F-1DE1-41CE-92E7-54C3C7229D93}" presName="parentText" presStyleLbl="node1" presStyleIdx="3" presStyleCnt="6">
        <dgm:presLayoutVars>
          <dgm:chMax val="0"/>
          <dgm:bulletEnabled val="1"/>
        </dgm:presLayoutVars>
      </dgm:prSet>
      <dgm:spPr/>
    </dgm:pt>
    <dgm:pt modelId="{FCEA52BD-EEFF-433E-902E-6E7E9CCC85D2}" type="pres">
      <dgm:prSet presAssocID="{08A44A1F-1DE1-41CE-92E7-54C3C7229D93}" presName="negativeSpace" presStyleCnt="0"/>
      <dgm:spPr/>
    </dgm:pt>
    <dgm:pt modelId="{9BC67C97-FA37-4976-8A69-CB7DC8DFD1D2}" type="pres">
      <dgm:prSet presAssocID="{08A44A1F-1DE1-41CE-92E7-54C3C7229D93}" presName="childText" presStyleLbl="conFgAcc1" presStyleIdx="3" presStyleCnt="6" custLinFactNeighborY="36028">
        <dgm:presLayoutVars>
          <dgm:bulletEnabled val="1"/>
        </dgm:presLayoutVars>
      </dgm:prSet>
      <dgm:spPr>
        <a:ln>
          <a:noFill/>
        </a:ln>
      </dgm:spPr>
    </dgm:pt>
    <dgm:pt modelId="{AD707588-BB25-4524-863F-09F4C3FDB115}" type="pres">
      <dgm:prSet presAssocID="{7F2812E6-D8A5-40E6-9329-D1530487EEB5}" presName="spaceBetweenRectangles" presStyleCnt="0"/>
      <dgm:spPr/>
    </dgm:pt>
    <dgm:pt modelId="{1D5A16C5-F77D-4F4B-97BA-2C7CAB977D88}" type="pres">
      <dgm:prSet presAssocID="{4AE4B542-F521-4FBC-8EFE-568973E5D7C0}" presName="parentLin" presStyleCnt="0"/>
      <dgm:spPr/>
    </dgm:pt>
    <dgm:pt modelId="{6062DB1D-B54F-4B50-BA0C-24D848F33526}" type="pres">
      <dgm:prSet presAssocID="{4AE4B542-F521-4FBC-8EFE-568973E5D7C0}" presName="parentLeftMargin" presStyleLbl="node1" presStyleIdx="3" presStyleCnt="6"/>
      <dgm:spPr/>
    </dgm:pt>
    <dgm:pt modelId="{7A0D9498-7321-49A1-86B2-F034718302E7}" type="pres">
      <dgm:prSet presAssocID="{4AE4B542-F521-4FBC-8EFE-568973E5D7C0}" presName="parentText" presStyleLbl="node1" presStyleIdx="4" presStyleCnt="6">
        <dgm:presLayoutVars>
          <dgm:chMax val="0"/>
          <dgm:bulletEnabled val="1"/>
        </dgm:presLayoutVars>
      </dgm:prSet>
      <dgm:spPr/>
    </dgm:pt>
    <dgm:pt modelId="{9394AF07-77B8-41A1-962F-B7BF9D40FA66}" type="pres">
      <dgm:prSet presAssocID="{4AE4B542-F521-4FBC-8EFE-568973E5D7C0}" presName="negativeSpace" presStyleCnt="0"/>
      <dgm:spPr/>
    </dgm:pt>
    <dgm:pt modelId="{44B9C7D8-DB42-4983-8D91-3C163B693CC7}" type="pres">
      <dgm:prSet presAssocID="{4AE4B542-F521-4FBC-8EFE-568973E5D7C0}" presName="childText" presStyleLbl="conFgAcc1" presStyleIdx="4" presStyleCnt="6" custLinFactNeighborY="36028">
        <dgm:presLayoutVars>
          <dgm:bulletEnabled val="1"/>
        </dgm:presLayoutVars>
      </dgm:prSet>
      <dgm:spPr>
        <a:ln>
          <a:noFill/>
        </a:ln>
      </dgm:spPr>
    </dgm:pt>
    <dgm:pt modelId="{A341D986-99E3-4D1D-BCC3-FE714747D9B3}" type="pres">
      <dgm:prSet presAssocID="{E5C0E729-AE49-41F6-9307-1E4D475AD6C8}" presName="spaceBetweenRectangles" presStyleCnt="0"/>
      <dgm:spPr/>
    </dgm:pt>
    <dgm:pt modelId="{399C4AD9-0BBA-4948-BB30-E85B76905C29}" type="pres">
      <dgm:prSet presAssocID="{12E219F6-FFAC-4783-A628-8328780BDF80}" presName="parentLin" presStyleCnt="0"/>
      <dgm:spPr/>
    </dgm:pt>
    <dgm:pt modelId="{47D86B4F-1A01-4565-9980-D92189DC779D}" type="pres">
      <dgm:prSet presAssocID="{12E219F6-FFAC-4783-A628-8328780BDF80}" presName="parentLeftMargin" presStyleLbl="node1" presStyleIdx="4" presStyleCnt="6"/>
      <dgm:spPr/>
    </dgm:pt>
    <dgm:pt modelId="{172F0C54-A482-4CC0-B7E3-EFEA5222FCFD}" type="pres">
      <dgm:prSet presAssocID="{12E219F6-FFAC-4783-A628-8328780BDF80}" presName="parentText" presStyleLbl="node1" presStyleIdx="5" presStyleCnt="6" custScaleY="156517">
        <dgm:presLayoutVars>
          <dgm:chMax val="0"/>
          <dgm:bulletEnabled val="1"/>
        </dgm:presLayoutVars>
      </dgm:prSet>
      <dgm:spPr/>
    </dgm:pt>
    <dgm:pt modelId="{114A626A-926B-495B-B50B-9CD5E6F2291F}" type="pres">
      <dgm:prSet presAssocID="{12E219F6-FFAC-4783-A628-8328780BDF80}" presName="negativeSpace" presStyleCnt="0"/>
      <dgm:spPr/>
    </dgm:pt>
    <dgm:pt modelId="{F6059A5F-1069-4A5D-AC52-94BB76B92C8F}" type="pres">
      <dgm:prSet presAssocID="{12E219F6-FFAC-4783-A628-8328780BDF80}" presName="childText" presStyleLbl="conFgAcc1" presStyleIdx="5" presStyleCnt="6" custScaleY="99808">
        <dgm:presLayoutVars>
          <dgm:bulletEnabled val="1"/>
        </dgm:presLayoutVars>
      </dgm:prSet>
      <dgm:spPr/>
    </dgm:pt>
  </dgm:ptLst>
  <dgm:cxnLst>
    <dgm:cxn modelId="{8447F011-433F-4407-99DD-7F58D8CAFA04}" type="presOf" srcId="{7A4349DA-91EC-433A-9DE8-7A2AA1CC01D0}" destId="{F6059A5F-1069-4A5D-AC52-94BB76B92C8F}" srcOrd="0" destOrd="0" presId="urn:microsoft.com/office/officeart/2005/8/layout/list1"/>
    <dgm:cxn modelId="{36576B1B-5934-4184-A285-7C4E1AA37603}" srcId="{CA21D4E1-8FA7-4488-9BBB-10507D9F52F8}" destId="{C28789D0-1B84-4488-AAC4-7CBD77A315F9}" srcOrd="0" destOrd="0" parTransId="{002BAC8A-BD69-458A-A487-AC225162FF7D}" sibTransId="{FCBC363C-A07E-4160-B18F-A7058FDB8C6B}"/>
    <dgm:cxn modelId="{77A6A61C-DBFF-444D-B3E5-30C0C1A9D90E}" type="presOf" srcId="{8DD981D5-9918-4CC1-9869-BA073AFB500C}" destId="{D64CAE2F-EBA1-4BE3-8270-1644C5760D7E}" srcOrd="1" destOrd="0" presId="urn:microsoft.com/office/officeart/2005/8/layout/list1"/>
    <dgm:cxn modelId="{23BA441F-1C32-4E1E-8A13-C2E02D68F5CC}" srcId="{CA21D4E1-8FA7-4488-9BBB-10507D9F52F8}" destId="{E1CDCF42-4C89-4CBB-A0C7-2E8D34467BCA}" srcOrd="2" destOrd="0" parTransId="{218CE504-8BB3-4DA2-AD6D-100F85C5D184}" sibTransId="{F512A45E-010C-42D5-9B88-56F559FA17E5}"/>
    <dgm:cxn modelId="{663EAC40-44A3-4A03-A581-B125CE60E279}" type="presOf" srcId="{E1CDCF42-4C89-4CBB-A0C7-2E8D34467BCA}" destId="{8D143D4A-17DA-464E-9984-57149EA256D4}" srcOrd="0" destOrd="2" presId="urn:microsoft.com/office/officeart/2005/8/layout/list1"/>
    <dgm:cxn modelId="{E544B75C-FDF4-4FF2-9D46-9108C814AB2C}" type="presOf" srcId="{7DA15DCF-C99D-498A-B1E6-1BCA1F36803D}" destId="{CBABD444-B147-4D9B-A272-7808B1F94585}" srcOrd="0" destOrd="1" presId="urn:microsoft.com/office/officeart/2005/8/layout/list1"/>
    <dgm:cxn modelId="{98C45B5E-EEB9-4AA0-9B86-51073688BBF0}" type="presOf" srcId="{DF954A92-CFFB-4629-BC76-F5AE74431C45}" destId="{2802DA05-0C43-48FB-ACD4-D081A677641D}" srcOrd="1" destOrd="0" presId="urn:microsoft.com/office/officeart/2005/8/layout/list1"/>
    <dgm:cxn modelId="{D579F05E-1500-4EBC-A1DE-E184637E7765}" srcId="{CA21D4E1-8FA7-4488-9BBB-10507D9F52F8}" destId="{83483FC5-239A-48C8-BF36-7FA6749135AD}" srcOrd="1" destOrd="0" parTransId="{FF6723E4-BA93-4C80-A723-2091EF2C23CA}" sibTransId="{4D78D17E-8817-4171-9448-AE407BC3A62B}"/>
    <dgm:cxn modelId="{2996AD62-B964-4064-B6A5-91D84EAD4EA9}" srcId="{6DA7192A-620D-4DA0-83C0-6682E9FE54C7}" destId="{12E219F6-FFAC-4783-A628-8328780BDF80}" srcOrd="5" destOrd="0" parTransId="{A77C8021-6957-410F-95EB-14470CD7A75C}" sibTransId="{BE5321FF-C49C-4232-9BD5-365997278F26}"/>
    <dgm:cxn modelId="{46C3344C-E494-430C-AA35-D5BA21254963}" type="presOf" srcId="{6DA7192A-620D-4DA0-83C0-6682E9FE54C7}" destId="{483EE8FE-4560-45BF-8D3C-52BA29C1FC12}" srcOrd="0" destOrd="0" presId="urn:microsoft.com/office/officeart/2005/8/layout/list1"/>
    <dgm:cxn modelId="{DAD6E66D-33D9-4ED2-9560-3200A970C8B0}" srcId="{6DA7192A-620D-4DA0-83C0-6682E9FE54C7}" destId="{4AE4B542-F521-4FBC-8EFE-568973E5D7C0}" srcOrd="4" destOrd="0" parTransId="{CA9DB62F-E123-4C53-A754-0A389342ADD9}" sibTransId="{E5C0E729-AE49-41F6-9307-1E4D475AD6C8}"/>
    <dgm:cxn modelId="{A1BCEC71-2757-41F7-9EC2-1F48FD3F0BDB}" srcId="{6DA7192A-620D-4DA0-83C0-6682E9FE54C7}" destId="{8DD981D5-9918-4CC1-9869-BA073AFB500C}" srcOrd="2" destOrd="0" parTransId="{F18FDC4C-2347-43CD-A226-73F32992655D}" sibTransId="{66FFCBF3-8FBD-415F-81E3-7F10B965DF62}"/>
    <dgm:cxn modelId="{19090072-78F6-4B27-A7BB-82712598F46A}" type="presOf" srcId="{4AE4B542-F521-4FBC-8EFE-568973E5D7C0}" destId="{7A0D9498-7321-49A1-86B2-F034718302E7}" srcOrd="1" destOrd="0" presId="urn:microsoft.com/office/officeart/2005/8/layout/list1"/>
    <dgm:cxn modelId="{B53C2454-A4C0-4A8F-991F-3C70298A4722}" type="presOf" srcId="{F7FA0690-A44F-41DC-B1AB-E79C73A59E7A}" destId="{CBABD444-B147-4D9B-A272-7808B1F94585}" srcOrd="0" destOrd="2" presId="urn:microsoft.com/office/officeart/2005/8/layout/list1"/>
    <dgm:cxn modelId="{DB2D9474-5AAC-4B1D-BEBD-7E879A506533}" srcId="{DF954A92-CFFB-4629-BC76-F5AE74431C45}" destId="{7DA15DCF-C99D-498A-B1E6-1BCA1F36803D}" srcOrd="1" destOrd="0" parTransId="{D84A1FBB-4018-49B1-BEA6-4983F813C9EB}" sibTransId="{B5378983-CFAD-408A-8ECD-EA55A0823951}"/>
    <dgm:cxn modelId="{F35E7375-0783-469C-864F-A09232AA6007}" srcId="{DF954A92-CFFB-4629-BC76-F5AE74431C45}" destId="{F7FA0690-A44F-41DC-B1AB-E79C73A59E7A}" srcOrd="2" destOrd="0" parTransId="{5E2B5DC7-B67A-41CE-B029-8CED5CA5DD2F}" sibTransId="{6135DC3A-E14A-4239-AA43-7AABEBECCE8A}"/>
    <dgm:cxn modelId="{C5F66458-AD57-4887-99C3-78792E78EDC1}" type="presOf" srcId="{DF954A92-CFFB-4629-BC76-F5AE74431C45}" destId="{F4EA8B26-4A14-4913-8161-E2E9A0A36C33}" srcOrd="0" destOrd="0" presId="urn:microsoft.com/office/officeart/2005/8/layout/list1"/>
    <dgm:cxn modelId="{23E1FD80-D89D-49B1-A443-BA4745C6B0A5}" type="presOf" srcId="{12E219F6-FFAC-4783-A628-8328780BDF80}" destId="{47D86B4F-1A01-4565-9980-D92189DC779D}" srcOrd="0" destOrd="0" presId="urn:microsoft.com/office/officeart/2005/8/layout/list1"/>
    <dgm:cxn modelId="{90279881-14BA-4064-BC1E-19DF5643923A}" srcId="{DF954A92-CFFB-4629-BC76-F5AE74431C45}" destId="{1E8844C6-783A-459F-8331-6BBF0FEBEC31}" srcOrd="0" destOrd="0" parTransId="{27BD46B2-0FCC-4ABD-ACB4-1D5D806B652A}" sibTransId="{48679471-07E2-4534-9D6D-CC36F7ED119C}"/>
    <dgm:cxn modelId="{53682A84-B07E-449E-B7AB-D5BF9561B51F}" srcId="{6DA7192A-620D-4DA0-83C0-6682E9FE54C7}" destId="{08A44A1F-1DE1-41CE-92E7-54C3C7229D93}" srcOrd="3" destOrd="0" parTransId="{62F9BB0A-1EFB-448E-8AB1-EE605207BD8B}" sibTransId="{7F2812E6-D8A5-40E6-9329-D1530487EEB5}"/>
    <dgm:cxn modelId="{7F9F0A85-F890-408D-8F26-78CE23A3B5C2}" type="presOf" srcId="{1E8844C6-783A-459F-8331-6BBF0FEBEC31}" destId="{CBABD444-B147-4D9B-A272-7808B1F94585}" srcOrd="0" destOrd="0" presId="urn:microsoft.com/office/officeart/2005/8/layout/list1"/>
    <dgm:cxn modelId="{86F15B90-F92A-49F5-A881-D0CB690DE272}" type="presOf" srcId="{CA21D4E1-8FA7-4488-9BBB-10507D9F52F8}" destId="{22058284-9325-4730-B1AB-C2A26738CAC4}" srcOrd="0" destOrd="0" presId="urn:microsoft.com/office/officeart/2005/8/layout/list1"/>
    <dgm:cxn modelId="{8C3BDDA2-129F-4FC6-A872-26143F598823}" srcId="{12E219F6-FFAC-4783-A628-8328780BDF80}" destId="{0F006573-8B72-4686-A1E4-45F754A006D7}" srcOrd="1" destOrd="0" parTransId="{C3337AD1-0242-43A0-B517-B982716A5E73}" sibTransId="{39B4A4E9-F438-4231-80E2-DC9D0C01AC0E}"/>
    <dgm:cxn modelId="{37D1D3A3-1E9A-4B51-BCDF-C2FAF99B47E6}" type="presOf" srcId="{8DD981D5-9918-4CC1-9869-BA073AFB500C}" destId="{C4108CCC-2683-49D3-B982-72881D66C5FA}" srcOrd="0" destOrd="0" presId="urn:microsoft.com/office/officeart/2005/8/layout/list1"/>
    <dgm:cxn modelId="{C9A78EA6-7208-4592-BCAE-6BE32AD0457E}" type="presOf" srcId="{C28789D0-1B84-4488-AAC4-7CBD77A315F9}" destId="{8D143D4A-17DA-464E-9984-57149EA256D4}" srcOrd="0" destOrd="0" presId="urn:microsoft.com/office/officeart/2005/8/layout/list1"/>
    <dgm:cxn modelId="{F14A4BA9-AAB0-4AED-821A-06541A7503ED}" srcId="{6DA7192A-620D-4DA0-83C0-6682E9FE54C7}" destId="{DF954A92-CFFB-4629-BC76-F5AE74431C45}" srcOrd="1" destOrd="0" parTransId="{77610E71-F765-4519-A73C-0E87A46FCCB7}" sibTransId="{C28793AD-0B6F-48FE-9E92-50529106701B}"/>
    <dgm:cxn modelId="{C93082B6-7FC4-4690-8AA0-15597060292F}" type="presOf" srcId="{08A44A1F-1DE1-41CE-92E7-54C3C7229D93}" destId="{4F8BF1C6-1C4C-4CD2-9487-487F76EB02DC}" srcOrd="0" destOrd="0" presId="urn:microsoft.com/office/officeart/2005/8/layout/list1"/>
    <dgm:cxn modelId="{9B4665C3-49B7-429E-95DF-D33767C8E467}" type="presOf" srcId="{CA21D4E1-8FA7-4488-9BBB-10507D9F52F8}" destId="{C1A62B2F-2D6F-4C55-9BC6-B05146310BD1}" srcOrd="1" destOrd="0" presId="urn:microsoft.com/office/officeart/2005/8/layout/list1"/>
    <dgm:cxn modelId="{D2D3E0D2-D20B-4073-B0EF-F6CB58A4A6BB}" srcId="{6DA7192A-620D-4DA0-83C0-6682E9FE54C7}" destId="{CA21D4E1-8FA7-4488-9BBB-10507D9F52F8}" srcOrd="0" destOrd="0" parTransId="{40D7E9EB-F613-4778-B7DE-E88B288746E4}" sibTransId="{5C483B28-8D8C-4E78-BD78-0BCB0D63220E}"/>
    <dgm:cxn modelId="{2C6D5CDE-204A-48D8-B241-759F3E25F6A5}" type="presOf" srcId="{08A44A1F-1DE1-41CE-92E7-54C3C7229D93}" destId="{58052231-074E-4D4B-9C09-D33973C59A9A}" srcOrd="1" destOrd="0" presId="urn:microsoft.com/office/officeart/2005/8/layout/list1"/>
    <dgm:cxn modelId="{8E0353E0-0ED0-4CE1-9F6C-C7035A18605A}" type="presOf" srcId="{4AE4B542-F521-4FBC-8EFE-568973E5D7C0}" destId="{6062DB1D-B54F-4B50-BA0C-24D848F33526}" srcOrd="0" destOrd="0" presId="urn:microsoft.com/office/officeart/2005/8/layout/list1"/>
    <dgm:cxn modelId="{DFBCC8E7-86E6-425B-A800-2945F66F511D}" type="presOf" srcId="{0F006573-8B72-4686-A1E4-45F754A006D7}" destId="{F6059A5F-1069-4A5D-AC52-94BB76B92C8F}" srcOrd="0" destOrd="1" presId="urn:microsoft.com/office/officeart/2005/8/layout/list1"/>
    <dgm:cxn modelId="{A43572E8-91A6-40BC-8670-EBC711470D45}" type="presOf" srcId="{83483FC5-239A-48C8-BF36-7FA6749135AD}" destId="{8D143D4A-17DA-464E-9984-57149EA256D4}" srcOrd="0" destOrd="1" presId="urn:microsoft.com/office/officeart/2005/8/layout/list1"/>
    <dgm:cxn modelId="{A94958F5-293D-4DA2-AADB-8D1FBF5A9360}" type="presOf" srcId="{12E219F6-FFAC-4783-A628-8328780BDF80}" destId="{172F0C54-A482-4CC0-B7E3-EFEA5222FCFD}" srcOrd="1" destOrd="0" presId="urn:microsoft.com/office/officeart/2005/8/layout/list1"/>
    <dgm:cxn modelId="{B93E4CFD-A67C-4462-8DEE-28ED58D39F0C}" srcId="{12E219F6-FFAC-4783-A628-8328780BDF80}" destId="{7A4349DA-91EC-433A-9DE8-7A2AA1CC01D0}" srcOrd="0" destOrd="0" parTransId="{19FB0C01-35DF-470E-B308-A2321BACBA7B}" sibTransId="{71920646-E889-48E7-AE08-4CA67A455455}"/>
    <dgm:cxn modelId="{FEB7F2D5-A6FB-463F-84CF-D31E38DAE45E}" type="presParOf" srcId="{483EE8FE-4560-45BF-8D3C-52BA29C1FC12}" destId="{234297F8-EAF6-4D4F-9F1F-2EE4B0E12730}" srcOrd="0" destOrd="0" presId="urn:microsoft.com/office/officeart/2005/8/layout/list1"/>
    <dgm:cxn modelId="{37E4D07D-4183-4384-BF17-E8AA677B9B36}" type="presParOf" srcId="{234297F8-EAF6-4D4F-9F1F-2EE4B0E12730}" destId="{22058284-9325-4730-B1AB-C2A26738CAC4}" srcOrd="0" destOrd="0" presId="urn:microsoft.com/office/officeart/2005/8/layout/list1"/>
    <dgm:cxn modelId="{98FC98FA-BC55-41CD-AE96-877D55A62F54}" type="presParOf" srcId="{234297F8-EAF6-4D4F-9F1F-2EE4B0E12730}" destId="{C1A62B2F-2D6F-4C55-9BC6-B05146310BD1}" srcOrd="1" destOrd="0" presId="urn:microsoft.com/office/officeart/2005/8/layout/list1"/>
    <dgm:cxn modelId="{B8EA1388-AFF1-4B7F-8ED6-E08552CF6FED}" type="presParOf" srcId="{483EE8FE-4560-45BF-8D3C-52BA29C1FC12}" destId="{0112F11A-5572-4C38-864E-BB94DDB43CBC}" srcOrd="1" destOrd="0" presId="urn:microsoft.com/office/officeart/2005/8/layout/list1"/>
    <dgm:cxn modelId="{F904D11A-41DC-4CFE-BB72-923E5798827C}" type="presParOf" srcId="{483EE8FE-4560-45BF-8D3C-52BA29C1FC12}" destId="{8D143D4A-17DA-464E-9984-57149EA256D4}" srcOrd="2" destOrd="0" presId="urn:microsoft.com/office/officeart/2005/8/layout/list1"/>
    <dgm:cxn modelId="{ACA89D16-A048-40B0-B1DB-EBD43FE3DF3E}" type="presParOf" srcId="{483EE8FE-4560-45BF-8D3C-52BA29C1FC12}" destId="{D64EF97E-F7FF-423C-AA21-974F9DC4196F}" srcOrd="3" destOrd="0" presId="urn:microsoft.com/office/officeart/2005/8/layout/list1"/>
    <dgm:cxn modelId="{72E77952-4401-4FD2-9360-A8562510B1BD}" type="presParOf" srcId="{483EE8FE-4560-45BF-8D3C-52BA29C1FC12}" destId="{319569F4-CBFF-49D8-94AB-9C7FE716A47E}" srcOrd="4" destOrd="0" presId="urn:microsoft.com/office/officeart/2005/8/layout/list1"/>
    <dgm:cxn modelId="{06C5CF9A-DF30-49F0-A821-454F78BCABB2}" type="presParOf" srcId="{319569F4-CBFF-49D8-94AB-9C7FE716A47E}" destId="{F4EA8B26-4A14-4913-8161-E2E9A0A36C33}" srcOrd="0" destOrd="0" presId="urn:microsoft.com/office/officeart/2005/8/layout/list1"/>
    <dgm:cxn modelId="{55FA4599-7BB0-4129-9F25-2649CEB5FD11}" type="presParOf" srcId="{319569F4-CBFF-49D8-94AB-9C7FE716A47E}" destId="{2802DA05-0C43-48FB-ACD4-D081A677641D}" srcOrd="1" destOrd="0" presId="urn:microsoft.com/office/officeart/2005/8/layout/list1"/>
    <dgm:cxn modelId="{D50E1C6B-06CE-43EA-9F59-6241F394351B}" type="presParOf" srcId="{483EE8FE-4560-45BF-8D3C-52BA29C1FC12}" destId="{71BBD7C5-B375-470F-BC7B-CB4C1E6DDC1F}" srcOrd="5" destOrd="0" presId="urn:microsoft.com/office/officeart/2005/8/layout/list1"/>
    <dgm:cxn modelId="{0635D38E-A58F-453A-8994-947803AB3D2B}" type="presParOf" srcId="{483EE8FE-4560-45BF-8D3C-52BA29C1FC12}" destId="{CBABD444-B147-4D9B-A272-7808B1F94585}" srcOrd="6" destOrd="0" presId="urn:microsoft.com/office/officeart/2005/8/layout/list1"/>
    <dgm:cxn modelId="{B3A42200-9600-433C-B3AD-C38282BAA0CE}" type="presParOf" srcId="{483EE8FE-4560-45BF-8D3C-52BA29C1FC12}" destId="{6F0FA44E-66BA-4B09-80B5-FB680885EF76}" srcOrd="7" destOrd="0" presId="urn:microsoft.com/office/officeart/2005/8/layout/list1"/>
    <dgm:cxn modelId="{6CEF9CAB-73BF-43DB-B522-387782EBDB94}" type="presParOf" srcId="{483EE8FE-4560-45BF-8D3C-52BA29C1FC12}" destId="{3C8BBCC8-A0BB-486C-8690-53824D4C0390}" srcOrd="8" destOrd="0" presId="urn:microsoft.com/office/officeart/2005/8/layout/list1"/>
    <dgm:cxn modelId="{A723CFFA-9F1A-4E87-BF55-4B5B6AA03575}" type="presParOf" srcId="{3C8BBCC8-A0BB-486C-8690-53824D4C0390}" destId="{C4108CCC-2683-49D3-B982-72881D66C5FA}" srcOrd="0" destOrd="0" presId="urn:microsoft.com/office/officeart/2005/8/layout/list1"/>
    <dgm:cxn modelId="{36969AB7-B8EA-48C1-89DC-C83B29008521}" type="presParOf" srcId="{3C8BBCC8-A0BB-486C-8690-53824D4C0390}" destId="{D64CAE2F-EBA1-4BE3-8270-1644C5760D7E}" srcOrd="1" destOrd="0" presId="urn:microsoft.com/office/officeart/2005/8/layout/list1"/>
    <dgm:cxn modelId="{0C7FD111-10A0-405E-816D-C77A9699207A}" type="presParOf" srcId="{483EE8FE-4560-45BF-8D3C-52BA29C1FC12}" destId="{6393359C-D484-4CB8-A60F-0BFD55B9A598}" srcOrd="9" destOrd="0" presId="urn:microsoft.com/office/officeart/2005/8/layout/list1"/>
    <dgm:cxn modelId="{0BE7549A-2C9D-4654-814E-E6E80A46781A}" type="presParOf" srcId="{483EE8FE-4560-45BF-8D3C-52BA29C1FC12}" destId="{692426E2-D491-4B77-A6DC-F67A4A27088C}" srcOrd="10" destOrd="0" presId="urn:microsoft.com/office/officeart/2005/8/layout/list1"/>
    <dgm:cxn modelId="{87819216-33FC-4712-AF66-32BF1FD8F69B}" type="presParOf" srcId="{483EE8FE-4560-45BF-8D3C-52BA29C1FC12}" destId="{C1B7954D-CD9D-4BCA-8DB0-04E08FF3F986}" srcOrd="11" destOrd="0" presId="urn:microsoft.com/office/officeart/2005/8/layout/list1"/>
    <dgm:cxn modelId="{51FDE342-D0EB-420D-9FF6-CEA6D0FCD88B}" type="presParOf" srcId="{483EE8FE-4560-45BF-8D3C-52BA29C1FC12}" destId="{946755CB-AA8F-4FAA-8DAF-F6C065C3D146}" srcOrd="12" destOrd="0" presId="urn:microsoft.com/office/officeart/2005/8/layout/list1"/>
    <dgm:cxn modelId="{60B80D37-C442-4412-B79D-32FF839BF489}" type="presParOf" srcId="{946755CB-AA8F-4FAA-8DAF-F6C065C3D146}" destId="{4F8BF1C6-1C4C-4CD2-9487-487F76EB02DC}" srcOrd="0" destOrd="0" presId="urn:microsoft.com/office/officeart/2005/8/layout/list1"/>
    <dgm:cxn modelId="{4F4E0E67-777E-4827-96B3-F55D82001B6A}" type="presParOf" srcId="{946755CB-AA8F-4FAA-8DAF-F6C065C3D146}" destId="{58052231-074E-4D4B-9C09-D33973C59A9A}" srcOrd="1" destOrd="0" presId="urn:microsoft.com/office/officeart/2005/8/layout/list1"/>
    <dgm:cxn modelId="{3A647BB2-A321-48CE-B66F-75B5EC0D331A}" type="presParOf" srcId="{483EE8FE-4560-45BF-8D3C-52BA29C1FC12}" destId="{FCEA52BD-EEFF-433E-902E-6E7E9CCC85D2}" srcOrd="13" destOrd="0" presId="urn:microsoft.com/office/officeart/2005/8/layout/list1"/>
    <dgm:cxn modelId="{977C233C-28C5-48DE-AE33-3055C629E150}" type="presParOf" srcId="{483EE8FE-4560-45BF-8D3C-52BA29C1FC12}" destId="{9BC67C97-FA37-4976-8A69-CB7DC8DFD1D2}" srcOrd="14" destOrd="0" presId="urn:microsoft.com/office/officeart/2005/8/layout/list1"/>
    <dgm:cxn modelId="{ABC22D5C-D5CD-4942-B65D-922365A51890}" type="presParOf" srcId="{483EE8FE-4560-45BF-8D3C-52BA29C1FC12}" destId="{AD707588-BB25-4524-863F-09F4C3FDB115}" srcOrd="15" destOrd="0" presId="urn:microsoft.com/office/officeart/2005/8/layout/list1"/>
    <dgm:cxn modelId="{59A471AA-DF70-4C8F-981E-E041149CECDA}" type="presParOf" srcId="{483EE8FE-4560-45BF-8D3C-52BA29C1FC12}" destId="{1D5A16C5-F77D-4F4B-97BA-2C7CAB977D88}" srcOrd="16" destOrd="0" presId="urn:microsoft.com/office/officeart/2005/8/layout/list1"/>
    <dgm:cxn modelId="{4F68EFE5-ACE2-4451-B8C2-C198CFE97DB3}" type="presParOf" srcId="{1D5A16C5-F77D-4F4B-97BA-2C7CAB977D88}" destId="{6062DB1D-B54F-4B50-BA0C-24D848F33526}" srcOrd="0" destOrd="0" presId="urn:microsoft.com/office/officeart/2005/8/layout/list1"/>
    <dgm:cxn modelId="{73F49163-1DFB-4B6E-8948-3C7F6FFF3358}" type="presParOf" srcId="{1D5A16C5-F77D-4F4B-97BA-2C7CAB977D88}" destId="{7A0D9498-7321-49A1-86B2-F034718302E7}" srcOrd="1" destOrd="0" presId="urn:microsoft.com/office/officeart/2005/8/layout/list1"/>
    <dgm:cxn modelId="{32E13762-F5E0-4C90-9825-E1240534DC12}" type="presParOf" srcId="{483EE8FE-4560-45BF-8D3C-52BA29C1FC12}" destId="{9394AF07-77B8-41A1-962F-B7BF9D40FA66}" srcOrd="17" destOrd="0" presId="urn:microsoft.com/office/officeart/2005/8/layout/list1"/>
    <dgm:cxn modelId="{EC84E6A9-200F-4D9E-B09A-70587CEAC81D}" type="presParOf" srcId="{483EE8FE-4560-45BF-8D3C-52BA29C1FC12}" destId="{44B9C7D8-DB42-4983-8D91-3C163B693CC7}" srcOrd="18" destOrd="0" presId="urn:microsoft.com/office/officeart/2005/8/layout/list1"/>
    <dgm:cxn modelId="{EC4EB928-468D-4B95-897D-11D6FB3EFFFC}" type="presParOf" srcId="{483EE8FE-4560-45BF-8D3C-52BA29C1FC12}" destId="{A341D986-99E3-4D1D-BCC3-FE714747D9B3}" srcOrd="19" destOrd="0" presId="urn:microsoft.com/office/officeart/2005/8/layout/list1"/>
    <dgm:cxn modelId="{2CF05F42-7C75-4A73-A654-E9C1CD915924}" type="presParOf" srcId="{483EE8FE-4560-45BF-8D3C-52BA29C1FC12}" destId="{399C4AD9-0BBA-4948-BB30-E85B76905C29}" srcOrd="20" destOrd="0" presId="urn:microsoft.com/office/officeart/2005/8/layout/list1"/>
    <dgm:cxn modelId="{28258274-DAF7-4819-86DB-A0DCE569A26B}" type="presParOf" srcId="{399C4AD9-0BBA-4948-BB30-E85B76905C29}" destId="{47D86B4F-1A01-4565-9980-D92189DC779D}" srcOrd="0" destOrd="0" presId="urn:microsoft.com/office/officeart/2005/8/layout/list1"/>
    <dgm:cxn modelId="{6FBF5578-7EE2-4087-9D29-7DAA6B4C4D02}" type="presParOf" srcId="{399C4AD9-0BBA-4948-BB30-E85B76905C29}" destId="{172F0C54-A482-4CC0-B7E3-EFEA5222FCFD}" srcOrd="1" destOrd="0" presId="urn:microsoft.com/office/officeart/2005/8/layout/list1"/>
    <dgm:cxn modelId="{1B916C0E-5AFB-462D-989D-72678AFD8BAB}" type="presParOf" srcId="{483EE8FE-4560-45BF-8D3C-52BA29C1FC12}" destId="{114A626A-926B-495B-B50B-9CD5E6F2291F}" srcOrd="21" destOrd="0" presId="urn:microsoft.com/office/officeart/2005/8/layout/list1"/>
    <dgm:cxn modelId="{60BA12A5-49FC-47EE-BEF2-0174237F7CFD}" type="presParOf" srcId="{483EE8FE-4560-45BF-8D3C-52BA29C1FC12}" destId="{F6059A5F-1069-4A5D-AC52-94BB76B92C8F}"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4C6183-8D51-46E4-903C-2BF0852DBE7D}"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88DA012C-6DBF-4F34-AEDF-60F7E1FBA8A1}">
      <dgm:prSet phldrT="[Text]" custT="1"/>
      <dgm:spPr>
        <a:solidFill>
          <a:schemeClr val="tx1">
            <a:alpha val="70000"/>
          </a:schemeClr>
        </a:solidFill>
      </dgm:spPr>
      <dgm:t>
        <a:bodyPr/>
        <a:lstStyle/>
        <a:p>
          <a:pPr algn="ctr"/>
          <a:r>
            <a:rPr lang="en-US" sz="3200" b="1" u="sng" dirty="0">
              <a:solidFill>
                <a:sysClr val="windowText" lastClr="000000"/>
              </a:solidFill>
            </a:rPr>
            <a:t>Current State</a:t>
          </a:r>
        </a:p>
      </dgm:t>
    </dgm:pt>
    <dgm:pt modelId="{6D2A3866-94B3-4BF9-8C9B-E4B90DD4DA4A}" type="parTrans" cxnId="{EAA7084E-C2E5-4ADD-A6C5-4F2CF0CC1430}">
      <dgm:prSet/>
      <dgm:spPr/>
      <dgm:t>
        <a:bodyPr/>
        <a:lstStyle/>
        <a:p>
          <a:endParaRPr lang="en-US"/>
        </a:p>
      </dgm:t>
    </dgm:pt>
    <dgm:pt modelId="{B1A05D99-1F5F-43F3-BAC2-DA2DF125AF82}" type="sibTrans" cxnId="{EAA7084E-C2E5-4ADD-A6C5-4F2CF0CC1430}">
      <dgm:prSet/>
      <dgm:spPr>
        <a:solidFill>
          <a:schemeClr val="tx1">
            <a:alpha val="95000"/>
          </a:schemeClr>
        </a:solidFill>
      </dgm:spPr>
      <dgm:t>
        <a:bodyPr/>
        <a:lstStyle/>
        <a:p>
          <a:endParaRPr lang="en-US"/>
        </a:p>
      </dgm:t>
    </dgm:pt>
    <dgm:pt modelId="{3BEF980F-308A-49E1-B4AE-2935B685775F}">
      <dgm:prSet phldrT="[Text]" phldr="0" custT="1"/>
      <dgm:spPr>
        <a:solidFill>
          <a:schemeClr val="tx1">
            <a:alpha val="70000"/>
          </a:schemeClr>
        </a:solidFill>
      </dgm:spPr>
      <dgm:t>
        <a:bodyPr/>
        <a:lstStyle/>
        <a:p>
          <a:pPr algn="ctr"/>
          <a:r>
            <a:rPr lang="en-US" sz="3200" b="1" u="sng" dirty="0">
              <a:solidFill>
                <a:sysClr val="windowText" lastClr="000000"/>
              </a:solidFill>
            </a:rPr>
            <a:t>Future State</a:t>
          </a:r>
        </a:p>
      </dgm:t>
    </dgm:pt>
    <dgm:pt modelId="{8DF693F3-75BC-49BB-9301-0FDCC85AD4B5}" type="parTrans" cxnId="{D8D63259-4396-449D-80F2-D71B4D76B4F7}">
      <dgm:prSet/>
      <dgm:spPr/>
      <dgm:t>
        <a:bodyPr/>
        <a:lstStyle/>
        <a:p>
          <a:endParaRPr lang="en-US"/>
        </a:p>
      </dgm:t>
    </dgm:pt>
    <dgm:pt modelId="{E7CF1B59-AB74-4D38-B8F1-00D8D1A3E3CF}" type="sibTrans" cxnId="{D8D63259-4396-449D-80F2-D71B4D76B4F7}">
      <dgm:prSet/>
      <dgm:spPr/>
      <dgm:t>
        <a:bodyPr/>
        <a:lstStyle/>
        <a:p>
          <a:endParaRPr lang="en-US"/>
        </a:p>
      </dgm:t>
    </dgm:pt>
    <dgm:pt modelId="{B45D031B-9BF6-4B52-8105-E1F33CC537DB}">
      <dgm:prSet custT="1"/>
      <dgm:spPr>
        <a:solidFill>
          <a:schemeClr val="tx1">
            <a:alpha val="70000"/>
          </a:schemeClr>
        </a:solidFill>
      </dgm:spPr>
      <dgm:t>
        <a:bodyPr/>
        <a:lstStyle/>
        <a:p>
          <a:pPr algn="l"/>
          <a:r>
            <a:rPr lang="en-US" sz="1800" dirty="0">
              <a:solidFill>
                <a:sysClr val="windowText" lastClr="000000"/>
              </a:solidFill>
            </a:rPr>
            <a:t>Integration between the three main divisions is very limited.</a:t>
          </a:r>
        </a:p>
      </dgm:t>
    </dgm:pt>
    <dgm:pt modelId="{0E678912-AE38-4C93-AB68-0342B3A00C9D}" type="parTrans" cxnId="{AEC5B5B3-0893-4154-A465-F24644D2551B}">
      <dgm:prSet/>
      <dgm:spPr/>
      <dgm:t>
        <a:bodyPr/>
        <a:lstStyle/>
        <a:p>
          <a:endParaRPr lang="en-US"/>
        </a:p>
      </dgm:t>
    </dgm:pt>
    <dgm:pt modelId="{6BD040CB-C214-488C-AEBE-2E48C5215881}" type="sibTrans" cxnId="{AEC5B5B3-0893-4154-A465-F24644D2551B}">
      <dgm:prSet/>
      <dgm:spPr/>
      <dgm:t>
        <a:bodyPr/>
        <a:lstStyle/>
        <a:p>
          <a:endParaRPr lang="en-US"/>
        </a:p>
      </dgm:t>
    </dgm:pt>
    <dgm:pt modelId="{6EF4A861-5A3C-4065-AA1E-549C94B570CE}">
      <dgm:prSet custT="1"/>
      <dgm:spPr>
        <a:solidFill>
          <a:schemeClr val="tx1">
            <a:alpha val="70000"/>
          </a:schemeClr>
        </a:solidFill>
      </dgm:spPr>
      <dgm:t>
        <a:bodyPr/>
        <a:lstStyle/>
        <a:p>
          <a:pPr algn="l"/>
          <a:r>
            <a:rPr lang="en-US" sz="1800" dirty="0">
              <a:solidFill>
                <a:sysClr val="windowText" lastClr="000000"/>
              </a:solidFill>
            </a:rPr>
            <a:t>Each division operates with legacy and cloud services, creating additional work to move data between the systems. </a:t>
          </a:r>
        </a:p>
      </dgm:t>
    </dgm:pt>
    <dgm:pt modelId="{8A3F5BFC-F1D2-48D3-911E-994A2E9E1830}" type="parTrans" cxnId="{7A891863-20BF-4050-A026-79392BFD84D6}">
      <dgm:prSet/>
      <dgm:spPr/>
      <dgm:t>
        <a:bodyPr/>
        <a:lstStyle/>
        <a:p>
          <a:endParaRPr lang="en-US"/>
        </a:p>
      </dgm:t>
    </dgm:pt>
    <dgm:pt modelId="{0D3D5B24-7AEF-4CE7-A5CD-CAB1E3A99C8D}" type="sibTrans" cxnId="{7A891863-20BF-4050-A026-79392BFD84D6}">
      <dgm:prSet/>
      <dgm:spPr/>
      <dgm:t>
        <a:bodyPr/>
        <a:lstStyle/>
        <a:p>
          <a:endParaRPr lang="en-US"/>
        </a:p>
      </dgm:t>
    </dgm:pt>
    <dgm:pt modelId="{91399C31-BA0F-43DB-A153-8C2665144A79}">
      <dgm:prSet custT="1"/>
      <dgm:spPr>
        <a:solidFill>
          <a:schemeClr val="tx1">
            <a:alpha val="70000"/>
          </a:schemeClr>
        </a:solidFill>
      </dgm:spPr>
      <dgm:t>
        <a:bodyPr/>
        <a:lstStyle/>
        <a:p>
          <a:pPr algn="l"/>
          <a:r>
            <a:rPr lang="en-US" sz="1800" dirty="0">
              <a:solidFill>
                <a:sysClr val="windowText" lastClr="000000"/>
              </a:solidFill>
            </a:rPr>
            <a:t>Security is not consistent across divisions, creating potential gaps and compliance issues.</a:t>
          </a:r>
        </a:p>
      </dgm:t>
    </dgm:pt>
    <dgm:pt modelId="{6110AFE2-C659-4AC0-A359-2AEF14493001}" type="parTrans" cxnId="{845007F6-AE7F-4BE7-8DA7-00B01A518EC3}">
      <dgm:prSet/>
      <dgm:spPr/>
      <dgm:t>
        <a:bodyPr/>
        <a:lstStyle/>
        <a:p>
          <a:endParaRPr lang="en-US"/>
        </a:p>
      </dgm:t>
    </dgm:pt>
    <dgm:pt modelId="{6EC25223-A2A1-497B-92C7-62E1FC58E7BF}" type="sibTrans" cxnId="{845007F6-AE7F-4BE7-8DA7-00B01A518EC3}">
      <dgm:prSet/>
      <dgm:spPr/>
      <dgm:t>
        <a:bodyPr/>
        <a:lstStyle/>
        <a:p>
          <a:endParaRPr lang="en-US"/>
        </a:p>
      </dgm:t>
    </dgm:pt>
    <dgm:pt modelId="{2EC8BA59-9034-436A-A041-E7DB7A95FC6E}">
      <dgm:prSet custT="1"/>
      <dgm:spPr>
        <a:solidFill>
          <a:schemeClr val="tx1">
            <a:alpha val="70000"/>
          </a:schemeClr>
        </a:solidFill>
      </dgm:spPr>
      <dgm:t>
        <a:bodyPr/>
        <a:lstStyle/>
        <a:p>
          <a:pPr algn="l"/>
          <a:r>
            <a:rPr lang="en-US" sz="1800" dirty="0">
              <a:solidFill>
                <a:sysClr val="windowText" lastClr="000000"/>
              </a:solidFill>
            </a:rPr>
            <a:t>Legacy storage solutions do not provide the scalability needed for growth.</a:t>
          </a:r>
        </a:p>
      </dgm:t>
    </dgm:pt>
    <dgm:pt modelId="{14B7F7EA-450B-4E09-8F26-968FCC84761E}" type="parTrans" cxnId="{6F560F1D-9A90-4CD5-AFE0-61DB75202017}">
      <dgm:prSet/>
      <dgm:spPr/>
      <dgm:t>
        <a:bodyPr/>
        <a:lstStyle/>
        <a:p>
          <a:endParaRPr lang="en-US"/>
        </a:p>
      </dgm:t>
    </dgm:pt>
    <dgm:pt modelId="{DB73F44B-C15B-4A8E-B6C9-2FE0EF4F9FB7}" type="sibTrans" cxnId="{6F560F1D-9A90-4CD5-AFE0-61DB75202017}">
      <dgm:prSet/>
      <dgm:spPr/>
      <dgm:t>
        <a:bodyPr/>
        <a:lstStyle/>
        <a:p>
          <a:endParaRPr lang="en-US"/>
        </a:p>
      </dgm:t>
    </dgm:pt>
    <dgm:pt modelId="{DB0180EF-E19F-4BF1-AFF3-101477ED561A}">
      <dgm:prSet phldrT="[Text]" phldr="0" custT="1"/>
      <dgm:spPr>
        <a:solidFill>
          <a:schemeClr val="tx1">
            <a:alpha val="70000"/>
          </a:schemeClr>
        </a:solidFill>
      </dgm:spPr>
      <dgm:t>
        <a:bodyPr/>
        <a:lstStyle/>
        <a:p>
          <a:pPr algn="l"/>
          <a:r>
            <a:rPr lang="en-US" sz="1600" dirty="0">
              <a:solidFill>
                <a:sysClr val="windowText" lastClr="000000"/>
              </a:solidFill>
            </a:rPr>
            <a:t>Creating a unified and modern API strategy for all divisions.</a:t>
          </a:r>
        </a:p>
      </dgm:t>
    </dgm:pt>
    <dgm:pt modelId="{6CB365A8-E3AB-4D98-8E39-19BA50ACC300}" type="parTrans" cxnId="{7935604E-1994-4583-A54A-681284EAB2AB}">
      <dgm:prSet/>
      <dgm:spPr/>
      <dgm:t>
        <a:bodyPr/>
        <a:lstStyle/>
        <a:p>
          <a:endParaRPr lang="en-US"/>
        </a:p>
      </dgm:t>
    </dgm:pt>
    <dgm:pt modelId="{3D5E757D-9068-4234-8EA1-A629BC22B72F}" type="sibTrans" cxnId="{7935604E-1994-4583-A54A-681284EAB2AB}">
      <dgm:prSet/>
      <dgm:spPr/>
      <dgm:t>
        <a:bodyPr/>
        <a:lstStyle/>
        <a:p>
          <a:endParaRPr lang="en-US"/>
        </a:p>
      </dgm:t>
    </dgm:pt>
    <dgm:pt modelId="{321BA7B8-0C2C-4392-8F92-A1769558F4D0}">
      <dgm:prSet custT="1"/>
      <dgm:spPr>
        <a:solidFill>
          <a:schemeClr val="tx1">
            <a:alpha val="70000"/>
          </a:schemeClr>
        </a:solidFill>
      </dgm:spPr>
      <dgm:t>
        <a:bodyPr/>
        <a:lstStyle/>
        <a:p>
          <a:pPr algn="l"/>
          <a:r>
            <a:rPr lang="en-US" sz="1600" dirty="0">
              <a:solidFill>
                <a:sysClr val="windowText" lastClr="000000"/>
              </a:solidFill>
            </a:rPr>
            <a:t>Creating a governance framework for all divisions to operate under.</a:t>
          </a:r>
        </a:p>
      </dgm:t>
    </dgm:pt>
    <dgm:pt modelId="{5041049C-8AF0-4715-B898-6397B7E41E55}" type="parTrans" cxnId="{D25422CC-9C91-4D85-A950-57EC7DD60597}">
      <dgm:prSet/>
      <dgm:spPr/>
      <dgm:t>
        <a:bodyPr/>
        <a:lstStyle/>
        <a:p>
          <a:endParaRPr lang="en-US"/>
        </a:p>
      </dgm:t>
    </dgm:pt>
    <dgm:pt modelId="{2040CD3D-2432-417B-B72A-AF84A12DEC02}" type="sibTrans" cxnId="{D25422CC-9C91-4D85-A950-57EC7DD60597}">
      <dgm:prSet/>
      <dgm:spPr/>
      <dgm:t>
        <a:bodyPr/>
        <a:lstStyle/>
        <a:p>
          <a:endParaRPr lang="en-US"/>
        </a:p>
      </dgm:t>
    </dgm:pt>
    <dgm:pt modelId="{0132F109-FBB3-4543-8FF2-44C5072F21A3}">
      <dgm:prSet custT="1"/>
      <dgm:spPr>
        <a:solidFill>
          <a:schemeClr val="tx1">
            <a:alpha val="70000"/>
          </a:schemeClr>
        </a:solidFill>
      </dgm:spPr>
      <dgm:t>
        <a:bodyPr/>
        <a:lstStyle/>
        <a:p>
          <a:pPr algn="l"/>
          <a:r>
            <a:rPr lang="en-US" sz="1600" dirty="0">
              <a:solidFill>
                <a:sysClr val="windowText" lastClr="000000"/>
              </a:solidFill>
            </a:rPr>
            <a:t>Update legacy systems to modern technology under a phased approach to mitigate associated risks.</a:t>
          </a:r>
        </a:p>
      </dgm:t>
    </dgm:pt>
    <dgm:pt modelId="{09543704-3F88-43BB-86DC-EFCD2FDFA6C1}" type="parTrans" cxnId="{2B20D981-E9E9-4CA1-8000-0D8CD495FB4A}">
      <dgm:prSet/>
      <dgm:spPr/>
      <dgm:t>
        <a:bodyPr/>
        <a:lstStyle/>
        <a:p>
          <a:endParaRPr lang="en-US"/>
        </a:p>
      </dgm:t>
    </dgm:pt>
    <dgm:pt modelId="{CB2A2E37-637B-4E75-9DB2-7CD24295C6BD}" type="sibTrans" cxnId="{2B20D981-E9E9-4CA1-8000-0D8CD495FB4A}">
      <dgm:prSet/>
      <dgm:spPr/>
      <dgm:t>
        <a:bodyPr/>
        <a:lstStyle/>
        <a:p>
          <a:endParaRPr lang="en-US"/>
        </a:p>
      </dgm:t>
    </dgm:pt>
    <dgm:pt modelId="{49F8F9CB-C92F-4876-A1EC-508A1214DB06}">
      <dgm:prSet custT="1"/>
      <dgm:spPr>
        <a:solidFill>
          <a:schemeClr val="tx1">
            <a:alpha val="70000"/>
          </a:schemeClr>
        </a:solidFill>
      </dgm:spPr>
      <dgm:t>
        <a:bodyPr/>
        <a:lstStyle/>
        <a:p>
          <a:pPr algn="l"/>
          <a:r>
            <a:rPr lang="en-US" sz="1600" dirty="0">
              <a:solidFill>
                <a:sysClr val="windowText" lastClr="000000"/>
              </a:solidFill>
            </a:rPr>
            <a:t>Consolidation of database systems to ensure better allocation of resources.</a:t>
          </a:r>
        </a:p>
      </dgm:t>
    </dgm:pt>
    <dgm:pt modelId="{804A97E3-8313-4567-9985-DA65DF8BE45B}" type="parTrans" cxnId="{9F43255B-1424-4485-84A0-1BBC6572EB22}">
      <dgm:prSet/>
      <dgm:spPr/>
      <dgm:t>
        <a:bodyPr/>
        <a:lstStyle/>
        <a:p>
          <a:endParaRPr lang="en-US"/>
        </a:p>
      </dgm:t>
    </dgm:pt>
    <dgm:pt modelId="{BD7AF105-A813-492D-BDF1-7970AF68DA36}" type="sibTrans" cxnId="{9F43255B-1424-4485-84A0-1BBC6572EB22}">
      <dgm:prSet/>
      <dgm:spPr/>
      <dgm:t>
        <a:bodyPr/>
        <a:lstStyle/>
        <a:p>
          <a:endParaRPr lang="en-US"/>
        </a:p>
      </dgm:t>
    </dgm:pt>
    <dgm:pt modelId="{3F1F4E76-96FE-4FF2-8DA3-699658F244B9}">
      <dgm:prSet custT="1"/>
      <dgm:spPr>
        <a:solidFill>
          <a:schemeClr val="tx1">
            <a:alpha val="70000"/>
          </a:schemeClr>
        </a:solidFill>
      </dgm:spPr>
      <dgm:t>
        <a:bodyPr/>
        <a:lstStyle/>
        <a:p>
          <a:pPr algn="l"/>
          <a:r>
            <a:rPr lang="en-US" sz="1600" dirty="0">
              <a:solidFill>
                <a:sysClr val="windowText" lastClr="000000"/>
              </a:solidFill>
            </a:rPr>
            <a:t>Increases security profile by managing access to one system instead of many.</a:t>
          </a:r>
        </a:p>
      </dgm:t>
    </dgm:pt>
    <dgm:pt modelId="{435984DE-D3A4-4E2A-A45E-CBEE900EDA63}" type="parTrans" cxnId="{4D5B3F09-DC34-4CDF-AEB3-F61C2A218A14}">
      <dgm:prSet/>
      <dgm:spPr/>
      <dgm:t>
        <a:bodyPr/>
        <a:lstStyle/>
        <a:p>
          <a:endParaRPr lang="en-US"/>
        </a:p>
      </dgm:t>
    </dgm:pt>
    <dgm:pt modelId="{146ABC80-B7C4-4160-BEC7-B5723FE0E53E}" type="sibTrans" cxnId="{4D5B3F09-DC34-4CDF-AEB3-F61C2A218A14}">
      <dgm:prSet/>
      <dgm:spPr/>
      <dgm:t>
        <a:bodyPr/>
        <a:lstStyle/>
        <a:p>
          <a:endParaRPr lang="en-US"/>
        </a:p>
      </dgm:t>
    </dgm:pt>
    <dgm:pt modelId="{9EBACF62-63C3-4593-8C0F-D8DC96DD48EF}">
      <dgm:prSet custT="1"/>
      <dgm:spPr>
        <a:solidFill>
          <a:schemeClr val="tx1">
            <a:alpha val="70000"/>
          </a:schemeClr>
        </a:solidFill>
      </dgm:spPr>
      <dgm:t>
        <a:bodyPr/>
        <a:lstStyle/>
        <a:p>
          <a:pPr algn="l"/>
          <a:r>
            <a:rPr lang="en-US" sz="1600" dirty="0">
              <a:solidFill>
                <a:sysClr val="windowText" lastClr="000000"/>
              </a:solidFill>
            </a:rPr>
            <a:t>Creating scalable systems to ensure proper growth.</a:t>
          </a:r>
        </a:p>
      </dgm:t>
    </dgm:pt>
    <dgm:pt modelId="{3553C6CB-1D9D-4164-8562-6C64D2B98960}" type="parTrans" cxnId="{6300256D-4FC7-4B10-8037-AE0DAE839FA0}">
      <dgm:prSet/>
      <dgm:spPr/>
      <dgm:t>
        <a:bodyPr/>
        <a:lstStyle/>
        <a:p>
          <a:endParaRPr lang="en-US"/>
        </a:p>
      </dgm:t>
    </dgm:pt>
    <dgm:pt modelId="{00C731D2-71EA-434B-87EF-B5EB4C9DEB50}" type="sibTrans" cxnId="{6300256D-4FC7-4B10-8037-AE0DAE839FA0}">
      <dgm:prSet/>
      <dgm:spPr/>
      <dgm:t>
        <a:bodyPr/>
        <a:lstStyle/>
        <a:p>
          <a:endParaRPr lang="en-US"/>
        </a:p>
      </dgm:t>
    </dgm:pt>
    <dgm:pt modelId="{8696B7B6-36CC-4DD2-89AB-B66EAA3CFD64}">
      <dgm:prSet custT="1"/>
      <dgm:spPr>
        <a:solidFill>
          <a:schemeClr val="tx1">
            <a:alpha val="70000"/>
          </a:schemeClr>
        </a:solidFill>
      </dgm:spPr>
      <dgm:t>
        <a:bodyPr/>
        <a:lstStyle/>
        <a:p>
          <a:pPr algn="l"/>
          <a:r>
            <a:rPr lang="en-US" sz="1600" dirty="0">
              <a:solidFill>
                <a:sysClr val="windowText" lastClr="000000"/>
              </a:solidFill>
            </a:rPr>
            <a:t>Creating a security framework for all divisions to operate under.</a:t>
          </a:r>
        </a:p>
      </dgm:t>
    </dgm:pt>
    <dgm:pt modelId="{8CC6EF1E-038C-47C4-BBCF-DFD6704BEF5D}" type="parTrans" cxnId="{1F550BEA-64E3-4651-BC1D-21A2222012E8}">
      <dgm:prSet/>
      <dgm:spPr/>
      <dgm:t>
        <a:bodyPr/>
        <a:lstStyle/>
        <a:p>
          <a:endParaRPr lang="en-US"/>
        </a:p>
      </dgm:t>
    </dgm:pt>
    <dgm:pt modelId="{673E729F-2E9E-459F-9990-726C614D045B}" type="sibTrans" cxnId="{1F550BEA-64E3-4651-BC1D-21A2222012E8}">
      <dgm:prSet/>
      <dgm:spPr/>
      <dgm:t>
        <a:bodyPr/>
        <a:lstStyle/>
        <a:p>
          <a:endParaRPr lang="en-US"/>
        </a:p>
      </dgm:t>
    </dgm:pt>
    <dgm:pt modelId="{04D5A726-B36B-493B-A135-A233E4463E9F}" type="pres">
      <dgm:prSet presAssocID="{854C6183-8D51-46E4-903C-2BF0852DBE7D}" presName="outerComposite" presStyleCnt="0">
        <dgm:presLayoutVars>
          <dgm:chMax val="5"/>
          <dgm:dir/>
          <dgm:resizeHandles val="exact"/>
        </dgm:presLayoutVars>
      </dgm:prSet>
      <dgm:spPr/>
    </dgm:pt>
    <dgm:pt modelId="{2B075277-718E-4FA7-882E-47C165EEAA11}" type="pres">
      <dgm:prSet presAssocID="{854C6183-8D51-46E4-903C-2BF0852DBE7D}" presName="dummyMaxCanvas" presStyleCnt="0">
        <dgm:presLayoutVars/>
      </dgm:prSet>
      <dgm:spPr/>
    </dgm:pt>
    <dgm:pt modelId="{9243ACC5-5593-41F7-BE88-1E9AD9618AC0}" type="pres">
      <dgm:prSet presAssocID="{854C6183-8D51-46E4-903C-2BF0852DBE7D}" presName="TwoNodes_1" presStyleLbl="node1" presStyleIdx="0" presStyleCnt="2">
        <dgm:presLayoutVars>
          <dgm:bulletEnabled val="1"/>
        </dgm:presLayoutVars>
      </dgm:prSet>
      <dgm:spPr/>
    </dgm:pt>
    <dgm:pt modelId="{22333FFE-3DAE-4664-A54A-2BB08834B86A}" type="pres">
      <dgm:prSet presAssocID="{854C6183-8D51-46E4-903C-2BF0852DBE7D}" presName="TwoNodes_2" presStyleLbl="node1" presStyleIdx="1" presStyleCnt="2">
        <dgm:presLayoutVars>
          <dgm:bulletEnabled val="1"/>
        </dgm:presLayoutVars>
      </dgm:prSet>
      <dgm:spPr/>
    </dgm:pt>
    <dgm:pt modelId="{3A1EC584-A633-40A4-AC38-862AC13A0D60}" type="pres">
      <dgm:prSet presAssocID="{854C6183-8D51-46E4-903C-2BF0852DBE7D}" presName="TwoConn_1-2" presStyleLbl="fgAccFollowNode1" presStyleIdx="0" presStyleCnt="1">
        <dgm:presLayoutVars>
          <dgm:bulletEnabled val="1"/>
        </dgm:presLayoutVars>
      </dgm:prSet>
      <dgm:spPr/>
    </dgm:pt>
    <dgm:pt modelId="{C84615E2-21E8-4357-B7FF-488848E4484D}" type="pres">
      <dgm:prSet presAssocID="{854C6183-8D51-46E4-903C-2BF0852DBE7D}" presName="TwoNodes_1_text" presStyleLbl="node1" presStyleIdx="1" presStyleCnt="2">
        <dgm:presLayoutVars>
          <dgm:bulletEnabled val="1"/>
        </dgm:presLayoutVars>
      </dgm:prSet>
      <dgm:spPr/>
    </dgm:pt>
    <dgm:pt modelId="{3D3AE0A4-2675-4A0F-A566-813D7E4877E9}" type="pres">
      <dgm:prSet presAssocID="{854C6183-8D51-46E4-903C-2BF0852DBE7D}" presName="TwoNodes_2_text" presStyleLbl="node1" presStyleIdx="1" presStyleCnt="2">
        <dgm:presLayoutVars>
          <dgm:bulletEnabled val="1"/>
        </dgm:presLayoutVars>
      </dgm:prSet>
      <dgm:spPr/>
    </dgm:pt>
  </dgm:ptLst>
  <dgm:cxnLst>
    <dgm:cxn modelId="{7310D601-2991-4156-8AC2-71232F6EFEAC}" type="presOf" srcId="{91399C31-BA0F-43DB-A153-8C2665144A79}" destId="{9243ACC5-5593-41F7-BE88-1E9AD9618AC0}" srcOrd="0" destOrd="3" presId="urn:microsoft.com/office/officeart/2005/8/layout/vProcess5"/>
    <dgm:cxn modelId="{4D5B3F09-DC34-4CDF-AEB3-F61C2A218A14}" srcId="{3BEF980F-308A-49E1-B4AE-2935B685775F}" destId="{3F1F4E76-96FE-4FF2-8DA3-699658F244B9}" srcOrd="4" destOrd="0" parTransId="{435984DE-D3A4-4E2A-A45E-CBEE900EDA63}" sibTransId="{146ABC80-B7C4-4160-BEC7-B5723FE0E53E}"/>
    <dgm:cxn modelId="{A00FEC09-DCA9-4A5D-A782-7E96E93A42DC}" type="presOf" srcId="{88DA012C-6DBF-4F34-AEDF-60F7E1FBA8A1}" destId="{C84615E2-21E8-4357-B7FF-488848E4484D}" srcOrd="1" destOrd="0" presId="urn:microsoft.com/office/officeart/2005/8/layout/vProcess5"/>
    <dgm:cxn modelId="{6F560F1D-9A90-4CD5-AFE0-61DB75202017}" srcId="{88DA012C-6DBF-4F34-AEDF-60F7E1FBA8A1}" destId="{2EC8BA59-9034-436A-A041-E7DB7A95FC6E}" srcOrd="3" destOrd="0" parTransId="{14B7F7EA-450B-4E09-8F26-968FCC84761E}" sibTransId="{DB73F44B-C15B-4A8E-B6C9-2FE0EF4F9FB7}"/>
    <dgm:cxn modelId="{C13F9B1D-F521-4DC4-B450-E55EC34F6A81}" type="presOf" srcId="{854C6183-8D51-46E4-903C-2BF0852DBE7D}" destId="{04D5A726-B36B-493B-A135-A233E4463E9F}" srcOrd="0" destOrd="0" presId="urn:microsoft.com/office/officeart/2005/8/layout/vProcess5"/>
    <dgm:cxn modelId="{F33EA13E-C562-41B5-91B4-389886B569B6}" type="presOf" srcId="{321BA7B8-0C2C-4392-8F92-A1769558F4D0}" destId="{22333FFE-3DAE-4664-A54A-2BB08834B86A}" srcOrd="0" destOrd="2" presId="urn:microsoft.com/office/officeart/2005/8/layout/vProcess5"/>
    <dgm:cxn modelId="{9F43255B-1424-4485-84A0-1BBC6572EB22}" srcId="{3BEF980F-308A-49E1-B4AE-2935B685775F}" destId="{49F8F9CB-C92F-4876-A1EC-508A1214DB06}" srcOrd="3" destOrd="0" parTransId="{804A97E3-8313-4567-9985-DA65DF8BE45B}" sibTransId="{BD7AF105-A813-492D-BDF1-7970AF68DA36}"/>
    <dgm:cxn modelId="{7A891863-20BF-4050-A026-79392BFD84D6}" srcId="{88DA012C-6DBF-4F34-AEDF-60F7E1FBA8A1}" destId="{6EF4A861-5A3C-4065-AA1E-549C94B570CE}" srcOrd="1" destOrd="0" parTransId="{8A3F5BFC-F1D2-48D3-911E-994A2E9E1830}" sibTransId="{0D3D5B24-7AEF-4CE7-A5CD-CAB1E3A99C8D}"/>
    <dgm:cxn modelId="{3EE01666-3412-417D-BF32-B0A55D03A77F}" type="presOf" srcId="{DB0180EF-E19F-4BF1-AFF3-101477ED561A}" destId="{3D3AE0A4-2675-4A0F-A566-813D7E4877E9}" srcOrd="1" destOrd="1" presId="urn:microsoft.com/office/officeart/2005/8/layout/vProcess5"/>
    <dgm:cxn modelId="{9F0C5E67-0AFC-4441-8786-5276E66DABC1}" type="presOf" srcId="{DB0180EF-E19F-4BF1-AFF3-101477ED561A}" destId="{22333FFE-3DAE-4664-A54A-2BB08834B86A}" srcOrd="0" destOrd="1" presId="urn:microsoft.com/office/officeart/2005/8/layout/vProcess5"/>
    <dgm:cxn modelId="{6438BE47-AAE3-4F1E-8A7E-3A578F3D8989}" type="presOf" srcId="{6EF4A861-5A3C-4065-AA1E-549C94B570CE}" destId="{C84615E2-21E8-4357-B7FF-488848E4484D}" srcOrd="1" destOrd="2" presId="urn:microsoft.com/office/officeart/2005/8/layout/vProcess5"/>
    <dgm:cxn modelId="{EED4E949-005E-4C42-B41A-DFA55D830C04}" type="presOf" srcId="{2EC8BA59-9034-436A-A041-E7DB7A95FC6E}" destId="{C84615E2-21E8-4357-B7FF-488848E4484D}" srcOrd="1" destOrd="4" presId="urn:microsoft.com/office/officeart/2005/8/layout/vProcess5"/>
    <dgm:cxn modelId="{09A3F96C-FCFA-4823-808B-DC82C214A79F}" type="presOf" srcId="{9EBACF62-63C3-4593-8C0F-D8DC96DD48EF}" destId="{22333FFE-3DAE-4664-A54A-2BB08834B86A}" srcOrd="0" destOrd="6" presId="urn:microsoft.com/office/officeart/2005/8/layout/vProcess5"/>
    <dgm:cxn modelId="{6300256D-4FC7-4B10-8037-AE0DAE839FA0}" srcId="{3BEF980F-308A-49E1-B4AE-2935B685775F}" destId="{9EBACF62-63C3-4593-8C0F-D8DC96DD48EF}" srcOrd="5" destOrd="0" parTransId="{3553C6CB-1D9D-4164-8562-6C64D2B98960}" sibTransId="{00C731D2-71EA-434B-87EF-B5EB4C9DEB50}"/>
    <dgm:cxn modelId="{56C5066E-6D29-4702-BA3C-47C7E1D5DC57}" type="presOf" srcId="{88DA012C-6DBF-4F34-AEDF-60F7E1FBA8A1}" destId="{9243ACC5-5593-41F7-BE88-1E9AD9618AC0}" srcOrd="0" destOrd="0" presId="urn:microsoft.com/office/officeart/2005/8/layout/vProcess5"/>
    <dgm:cxn modelId="{EAA7084E-C2E5-4ADD-A6C5-4F2CF0CC1430}" srcId="{854C6183-8D51-46E4-903C-2BF0852DBE7D}" destId="{88DA012C-6DBF-4F34-AEDF-60F7E1FBA8A1}" srcOrd="0" destOrd="0" parTransId="{6D2A3866-94B3-4BF9-8C9B-E4B90DD4DA4A}" sibTransId="{B1A05D99-1F5F-43F3-BAC2-DA2DF125AF82}"/>
    <dgm:cxn modelId="{7935604E-1994-4583-A54A-681284EAB2AB}" srcId="{3BEF980F-308A-49E1-B4AE-2935B685775F}" destId="{DB0180EF-E19F-4BF1-AFF3-101477ED561A}" srcOrd="0" destOrd="0" parTransId="{6CB365A8-E3AB-4D98-8E39-19BA50ACC300}" sibTransId="{3D5E757D-9068-4234-8EA1-A629BC22B72F}"/>
    <dgm:cxn modelId="{3FA04573-898E-47D2-80A9-10B99683F54A}" type="presOf" srcId="{3F1F4E76-96FE-4FF2-8DA3-699658F244B9}" destId="{22333FFE-3DAE-4664-A54A-2BB08834B86A}" srcOrd="0" destOrd="5" presId="urn:microsoft.com/office/officeart/2005/8/layout/vProcess5"/>
    <dgm:cxn modelId="{343A7F53-CA72-438C-8884-9AC3C802E205}" type="presOf" srcId="{6EF4A861-5A3C-4065-AA1E-549C94B570CE}" destId="{9243ACC5-5593-41F7-BE88-1E9AD9618AC0}" srcOrd="0" destOrd="2" presId="urn:microsoft.com/office/officeart/2005/8/layout/vProcess5"/>
    <dgm:cxn modelId="{D6161B56-6D07-49C3-9588-7304361FC1A4}" type="presOf" srcId="{0132F109-FBB3-4543-8FF2-44C5072F21A3}" destId="{22333FFE-3DAE-4664-A54A-2BB08834B86A}" srcOrd="0" destOrd="3" presId="urn:microsoft.com/office/officeart/2005/8/layout/vProcess5"/>
    <dgm:cxn modelId="{D46ACA78-CC3E-4ACF-BFD7-441C845416C5}" type="presOf" srcId="{9EBACF62-63C3-4593-8C0F-D8DC96DD48EF}" destId="{3D3AE0A4-2675-4A0F-A566-813D7E4877E9}" srcOrd="1" destOrd="6" presId="urn:microsoft.com/office/officeart/2005/8/layout/vProcess5"/>
    <dgm:cxn modelId="{D8D63259-4396-449D-80F2-D71B4D76B4F7}" srcId="{854C6183-8D51-46E4-903C-2BF0852DBE7D}" destId="{3BEF980F-308A-49E1-B4AE-2935B685775F}" srcOrd="1" destOrd="0" parTransId="{8DF693F3-75BC-49BB-9301-0FDCC85AD4B5}" sibTransId="{E7CF1B59-AB74-4D38-B8F1-00D8D1A3E3CF}"/>
    <dgm:cxn modelId="{D11E4359-13BE-4772-B50D-4BB5084DC7D9}" type="presOf" srcId="{3F1F4E76-96FE-4FF2-8DA3-699658F244B9}" destId="{3D3AE0A4-2675-4A0F-A566-813D7E4877E9}" srcOrd="1" destOrd="5" presId="urn:microsoft.com/office/officeart/2005/8/layout/vProcess5"/>
    <dgm:cxn modelId="{01656B7B-A806-480F-A638-266E660AB709}" type="presOf" srcId="{B1A05D99-1F5F-43F3-BAC2-DA2DF125AF82}" destId="{3A1EC584-A633-40A4-AC38-862AC13A0D60}" srcOrd="0" destOrd="0" presId="urn:microsoft.com/office/officeart/2005/8/layout/vProcess5"/>
    <dgm:cxn modelId="{5AF66D7C-9C94-45BE-9F19-1CF76E390F4D}" type="presOf" srcId="{0132F109-FBB3-4543-8FF2-44C5072F21A3}" destId="{3D3AE0A4-2675-4A0F-A566-813D7E4877E9}" srcOrd="1" destOrd="3" presId="urn:microsoft.com/office/officeart/2005/8/layout/vProcess5"/>
    <dgm:cxn modelId="{C4E1437D-D021-4066-BA5E-9A01C04A348B}" type="presOf" srcId="{B45D031B-9BF6-4B52-8105-E1F33CC537DB}" destId="{C84615E2-21E8-4357-B7FF-488848E4484D}" srcOrd="1" destOrd="1" presId="urn:microsoft.com/office/officeart/2005/8/layout/vProcess5"/>
    <dgm:cxn modelId="{2B20D981-E9E9-4CA1-8000-0D8CD495FB4A}" srcId="{3BEF980F-308A-49E1-B4AE-2935B685775F}" destId="{0132F109-FBB3-4543-8FF2-44C5072F21A3}" srcOrd="2" destOrd="0" parTransId="{09543704-3F88-43BB-86DC-EFCD2FDFA6C1}" sibTransId="{CB2A2E37-637B-4E75-9DB2-7CD24295C6BD}"/>
    <dgm:cxn modelId="{449E5A8F-5EBF-4C2A-94E6-0F73D7359EA5}" type="presOf" srcId="{321BA7B8-0C2C-4392-8F92-A1769558F4D0}" destId="{3D3AE0A4-2675-4A0F-A566-813D7E4877E9}" srcOrd="1" destOrd="2" presId="urn:microsoft.com/office/officeart/2005/8/layout/vProcess5"/>
    <dgm:cxn modelId="{4D8099A9-994E-4A17-9B71-1A1197D79B32}" type="presOf" srcId="{49F8F9CB-C92F-4876-A1EC-508A1214DB06}" destId="{3D3AE0A4-2675-4A0F-A566-813D7E4877E9}" srcOrd="1" destOrd="4" presId="urn:microsoft.com/office/officeart/2005/8/layout/vProcess5"/>
    <dgm:cxn modelId="{AEC5B5B3-0893-4154-A465-F24644D2551B}" srcId="{88DA012C-6DBF-4F34-AEDF-60F7E1FBA8A1}" destId="{B45D031B-9BF6-4B52-8105-E1F33CC537DB}" srcOrd="0" destOrd="0" parTransId="{0E678912-AE38-4C93-AB68-0342B3A00C9D}" sibTransId="{6BD040CB-C214-488C-AEBE-2E48C5215881}"/>
    <dgm:cxn modelId="{47AF4FBA-0059-426E-91EC-B47A1D25B54E}" type="presOf" srcId="{3BEF980F-308A-49E1-B4AE-2935B685775F}" destId="{22333FFE-3DAE-4664-A54A-2BB08834B86A}" srcOrd="0" destOrd="0" presId="urn:microsoft.com/office/officeart/2005/8/layout/vProcess5"/>
    <dgm:cxn modelId="{F686A5C2-C1ED-42A6-BF0D-44F2425C40F3}" type="presOf" srcId="{8696B7B6-36CC-4DD2-89AB-B66EAA3CFD64}" destId="{3D3AE0A4-2675-4A0F-A566-813D7E4877E9}" srcOrd="1" destOrd="7" presId="urn:microsoft.com/office/officeart/2005/8/layout/vProcess5"/>
    <dgm:cxn modelId="{551F75C7-27AE-4964-9C6C-2E53178AAB13}" type="presOf" srcId="{49F8F9CB-C92F-4876-A1EC-508A1214DB06}" destId="{22333FFE-3DAE-4664-A54A-2BB08834B86A}" srcOrd="0" destOrd="4" presId="urn:microsoft.com/office/officeart/2005/8/layout/vProcess5"/>
    <dgm:cxn modelId="{0C014FC8-3768-40AC-84A6-F41732BA4471}" type="presOf" srcId="{8696B7B6-36CC-4DD2-89AB-B66EAA3CFD64}" destId="{22333FFE-3DAE-4664-A54A-2BB08834B86A}" srcOrd="0" destOrd="7" presId="urn:microsoft.com/office/officeart/2005/8/layout/vProcess5"/>
    <dgm:cxn modelId="{21BE02C9-827C-4C65-80E4-203E8A8CD534}" type="presOf" srcId="{3BEF980F-308A-49E1-B4AE-2935B685775F}" destId="{3D3AE0A4-2675-4A0F-A566-813D7E4877E9}" srcOrd="1" destOrd="0" presId="urn:microsoft.com/office/officeart/2005/8/layout/vProcess5"/>
    <dgm:cxn modelId="{D25422CC-9C91-4D85-A950-57EC7DD60597}" srcId="{3BEF980F-308A-49E1-B4AE-2935B685775F}" destId="{321BA7B8-0C2C-4392-8F92-A1769558F4D0}" srcOrd="1" destOrd="0" parTransId="{5041049C-8AF0-4715-B898-6397B7E41E55}" sibTransId="{2040CD3D-2432-417B-B72A-AF84A12DEC02}"/>
    <dgm:cxn modelId="{14FF87DE-4F6A-4319-9CE6-CFCE468BAB2F}" type="presOf" srcId="{2EC8BA59-9034-436A-A041-E7DB7A95FC6E}" destId="{9243ACC5-5593-41F7-BE88-1E9AD9618AC0}" srcOrd="0" destOrd="4" presId="urn:microsoft.com/office/officeart/2005/8/layout/vProcess5"/>
    <dgm:cxn modelId="{1F550BEA-64E3-4651-BC1D-21A2222012E8}" srcId="{3BEF980F-308A-49E1-B4AE-2935B685775F}" destId="{8696B7B6-36CC-4DD2-89AB-B66EAA3CFD64}" srcOrd="6" destOrd="0" parTransId="{8CC6EF1E-038C-47C4-BBCF-DFD6704BEF5D}" sibTransId="{673E729F-2E9E-459F-9990-726C614D045B}"/>
    <dgm:cxn modelId="{845007F6-AE7F-4BE7-8DA7-00B01A518EC3}" srcId="{88DA012C-6DBF-4F34-AEDF-60F7E1FBA8A1}" destId="{91399C31-BA0F-43DB-A153-8C2665144A79}" srcOrd="2" destOrd="0" parTransId="{6110AFE2-C659-4AC0-A359-2AEF14493001}" sibTransId="{6EC25223-A2A1-497B-92C7-62E1FC58E7BF}"/>
    <dgm:cxn modelId="{6DC635F7-ECDB-4B18-8EB4-E5651E2A540B}" type="presOf" srcId="{91399C31-BA0F-43DB-A153-8C2665144A79}" destId="{C84615E2-21E8-4357-B7FF-488848E4484D}" srcOrd="1" destOrd="3" presId="urn:microsoft.com/office/officeart/2005/8/layout/vProcess5"/>
    <dgm:cxn modelId="{C36829FA-A7D1-4BC1-AAB5-F1BA1A831334}" type="presOf" srcId="{B45D031B-9BF6-4B52-8105-E1F33CC537DB}" destId="{9243ACC5-5593-41F7-BE88-1E9AD9618AC0}" srcOrd="0" destOrd="1" presId="urn:microsoft.com/office/officeart/2005/8/layout/vProcess5"/>
    <dgm:cxn modelId="{267BEBBF-276D-4E9C-83F4-C9FFD718A611}" type="presParOf" srcId="{04D5A726-B36B-493B-A135-A233E4463E9F}" destId="{2B075277-718E-4FA7-882E-47C165EEAA11}" srcOrd="0" destOrd="0" presId="urn:microsoft.com/office/officeart/2005/8/layout/vProcess5"/>
    <dgm:cxn modelId="{2A56CBF5-6BDB-4F5D-84DB-89EC97A75B65}" type="presParOf" srcId="{04D5A726-B36B-493B-A135-A233E4463E9F}" destId="{9243ACC5-5593-41F7-BE88-1E9AD9618AC0}" srcOrd="1" destOrd="0" presId="urn:microsoft.com/office/officeart/2005/8/layout/vProcess5"/>
    <dgm:cxn modelId="{32AB298D-C918-40E9-90D5-76B1E40F6629}" type="presParOf" srcId="{04D5A726-B36B-493B-A135-A233E4463E9F}" destId="{22333FFE-3DAE-4664-A54A-2BB08834B86A}" srcOrd="2" destOrd="0" presId="urn:microsoft.com/office/officeart/2005/8/layout/vProcess5"/>
    <dgm:cxn modelId="{12A14908-C359-478B-A65D-7710729238C0}" type="presParOf" srcId="{04D5A726-B36B-493B-A135-A233E4463E9F}" destId="{3A1EC584-A633-40A4-AC38-862AC13A0D60}" srcOrd="3" destOrd="0" presId="urn:microsoft.com/office/officeart/2005/8/layout/vProcess5"/>
    <dgm:cxn modelId="{E78D0AC6-6AB3-47AA-9563-04AE4EFCCB2F}" type="presParOf" srcId="{04D5A726-B36B-493B-A135-A233E4463E9F}" destId="{C84615E2-21E8-4357-B7FF-488848E4484D}" srcOrd="4" destOrd="0" presId="urn:microsoft.com/office/officeart/2005/8/layout/vProcess5"/>
    <dgm:cxn modelId="{8A9203A2-1881-497A-B84B-10DF8795F545}" type="presParOf" srcId="{04D5A726-B36B-493B-A135-A233E4463E9F}" destId="{3D3AE0A4-2675-4A0F-A566-813D7E4877E9}" srcOrd="5" destOrd="0" presId="urn:microsoft.com/office/officeart/2005/8/layout/vProcess5"/>
  </dgm:cxnLst>
  <dgm:bg>
    <a:blipFill>
      <a:blip xmlns:r="http://schemas.openxmlformats.org/officeDocument/2006/relationships" r:embed="rId1">
        <a:extLst>
          <a:ext uri="{28A0092B-C50C-407E-A947-70E740481C1C}">
            <a14:useLocalDpi xmlns:a14="http://schemas.microsoft.com/office/drawing/2010/main" val="0"/>
          </a:ext>
        </a:extLst>
      </a:blip>
      <a:stretch>
        <a:fillRect/>
      </a:stretch>
    </a:blip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A1F50-786C-4BC1-994C-FDD98607BDEF}" type="doc">
      <dgm:prSet loTypeId="urn:microsoft.com/office/officeart/2018/2/layout/IconVerticalSolidList" loCatId="icon" qsTypeId="urn:microsoft.com/office/officeart/2005/8/quickstyle/simple1" qsCatId="simple" csTypeId="urn:microsoft.com/office/officeart/2005/8/colors/accent4_4" csCatId="accent4" phldr="1"/>
      <dgm:spPr/>
      <dgm:t>
        <a:bodyPr/>
        <a:lstStyle/>
        <a:p>
          <a:endParaRPr lang="en-US"/>
        </a:p>
      </dgm:t>
    </dgm:pt>
    <dgm:pt modelId="{CB7E9EBE-3805-4DB4-8B3E-A5C1D56931F9}">
      <dgm:prSet/>
      <dgm:spPr>
        <a:solidFill>
          <a:schemeClr val="tx1">
            <a:alpha val="70000"/>
          </a:schemeClr>
        </a:solidFill>
        <a:ln>
          <a:solidFill>
            <a:schemeClr val="bg1"/>
          </a:solidFill>
        </a:ln>
      </dgm:spPr>
      <dgm:t>
        <a:bodyPr/>
        <a:lstStyle/>
        <a:p>
          <a:pPr>
            <a:lnSpc>
              <a:spcPct val="100000"/>
            </a:lnSpc>
          </a:pPr>
          <a:r>
            <a:rPr lang="en-US" dirty="0">
              <a:solidFill>
                <a:sysClr val="windowText" lastClr="000000"/>
              </a:solidFill>
            </a:rPr>
            <a:t>Allows the company to align its IT infrastructure with its business goals.</a:t>
          </a:r>
        </a:p>
      </dgm:t>
    </dgm:pt>
    <dgm:pt modelId="{BE3F031E-DC53-4510-A35B-1A859CD1780F}" type="parTrans" cxnId="{442FA58C-9F3E-41B5-8359-FF12703BAAC3}">
      <dgm:prSet/>
      <dgm:spPr/>
      <dgm:t>
        <a:bodyPr/>
        <a:lstStyle/>
        <a:p>
          <a:endParaRPr lang="en-US"/>
        </a:p>
      </dgm:t>
    </dgm:pt>
    <dgm:pt modelId="{061A2A33-88ED-4C46-9FA5-6AB8C731F003}" type="sibTrans" cxnId="{442FA58C-9F3E-41B5-8359-FF12703BAAC3}">
      <dgm:prSet/>
      <dgm:spPr/>
      <dgm:t>
        <a:bodyPr/>
        <a:lstStyle/>
        <a:p>
          <a:endParaRPr lang="en-US"/>
        </a:p>
      </dgm:t>
    </dgm:pt>
    <dgm:pt modelId="{DBBAB4B8-9FE0-4FF8-A183-2858B59B53CB}">
      <dgm:prSet/>
      <dgm:spPr>
        <a:solidFill>
          <a:schemeClr val="tx1">
            <a:alpha val="70000"/>
          </a:schemeClr>
        </a:solidFill>
        <a:ln>
          <a:solidFill>
            <a:schemeClr val="bg1"/>
          </a:solidFill>
        </a:ln>
      </dgm:spPr>
      <dgm:t>
        <a:bodyPr/>
        <a:lstStyle/>
        <a:p>
          <a:pPr>
            <a:lnSpc>
              <a:spcPct val="100000"/>
            </a:lnSpc>
          </a:pPr>
          <a:r>
            <a:rPr lang="en-US" dirty="0">
              <a:solidFill>
                <a:sysClr val="windowText" lastClr="000000"/>
              </a:solidFill>
            </a:rPr>
            <a:t>Determine what systems and areas are at risk.</a:t>
          </a:r>
        </a:p>
      </dgm:t>
    </dgm:pt>
    <dgm:pt modelId="{C4DB5520-C987-4284-AA2F-0752D7F535F7}" type="parTrans" cxnId="{50696FB2-B307-4763-916A-6F6FA152320E}">
      <dgm:prSet/>
      <dgm:spPr/>
      <dgm:t>
        <a:bodyPr/>
        <a:lstStyle/>
        <a:p>
          <a:endParaRPr lang="en-US"/>
        </a:p>
      </dgm:t>
    </dgm:pt>
    <dgm:pt modelId="{73D36CCE-F6C9-44E2-851B-833C19FDA1CC}" type="sibTrans" cxnId="{50696FB2-B307-4763-916A-6F6FA152320E}">
      <dgm:prSet/>
      <dgm:spPr/>
      <dgm:t>
        <a:bodyPr/>
        <a:lstStyle/>
        <a:p>
          <a:endParaRPr lang="en-US"/>
        </a:p>
      </dgm:t>
    </dgm:pt>
    <dgm:pt modelId="{96A5516A-06FC-45BA-A6A1-152C6B924E9D}">
      <dgm:prSet/>
      <dgm:spPr>
        <a:solidFill>
          <a:schemeClr val="tx1">
            <a:alpha val="70000"/>
          </a:schemeClr>
        </a:solidFill>
        <a:ln>
          <a:solidFill>
            <a:schemeClr val="bg1"/>
          </a:solidFill>
        </a:ln>
      </dgm:spPr>
      <dgm:t>
        <a:bodyPr/>
        <a:lstStyle/>
        <a:p>
          <a:pPr>
            <a:lnSpc>
              <a:spcPct val="100000"/>
            </a:lnSpc>
          </a:pPr>
          <a:r>
            <a:rPr lang="en-US" dirty="0">
              <a:solidFill>
                <a:sysClr val="windowText" lastClr="000000"/>
              </a:solidFill>
            </a:rPr>
            <a:t>Integrate systems across departments.</a:t>
          </a:r>
        </a:p>
      </dgm:t>
    </dgm:pt>
    <dgm:pt modelId="{DB5C89AB-97C2-4AD8-9284-12A1B20DE448}" type="parTrans" cxnId="{11E996FE-5F55-49FC-BE9F-06B691DDF2F9}">
      <dgm:prSet/>
      <dgm:spPr/>
      <dgm:t>
        <a:bodyPr/>
        <a:lstStyle/>
        <a:p>
          <a:endParaRPr lang="en-US"/>
        </a:p>
      </dgm:t>
    </dgm:pt>
    <dgm:pt modelId="{0C82B6DA-0D8D-436C-A0B9-6E3B6F7DA296}" type="sibTrans" cxnId="{11E996FE-5F55-49FC-BE9F-06B691DDF2F9}">
      <dgm:prSet/>
      <dgm:spPr/>
      <dgm:t>
        <a:bodyPr/>
        <a:lstStyle/>
        <a:p>
          <a:endParaRPr lang="en-US"/>
        </a:p>
      </dgm:t>
    </dgm:pt>
    <dgm:pt modelId="{6ED34F50-AAFB-4217-B5C0-D7ECC973AD00}">
      <dgm:prSet custT="1"/>
      <dgm:spPr>
        <a:solidFill>
          <a:schemeClr val="tx1">
            <a:alpha val="70000"/>
          </a:schemeClr>
        </a:solidFill>
        <a:ln>
          <a:solidFill>
            <a:schemeClr val="bg1"/>
          </a:solidFill>
        </a:ln>
      </dgm:spPr>
      <dgm:t>
        <a:bodyPr/>
        <a:lstStyle/>
        <a:p>
          <a:pPr>
            <a:lnSpc>
              <a:spcPct val="100000"/>
            </a:lnSpc>
          </a:pPr>
          <a:r>
            <a:rPr lang="en-US" sz="1600" dirty="0">
              <a:solidFill>
                <a:sysClr val="windowText" lastClr="000000"/>
              </a:solidFill>
            </a:rPr>
            <a:t>Reduces training and redundancy.</a:t>
          </a:r>
        </a:p>
      </dgm:t>
    </dgm:pt>
    <dgm:pt modelId="{D1CDEF64-24B3-4366-9B7F-E24B120A79B4}" type="parTrans" cxnId="{856AEF61-6F04-40DF-B9C4-54B0528133AE}">
      <dgm:prSet/>
      <dgm:spPr/>
      <dgm:t>
        <a:bodyPr/>
        <a:lstStyle/>
        <a:p>
          <a:endParaRPr lang="en-US"/>
        </a:p>
      </dgm:t>
    </dgm:pt>
    <dgm:pt modelId="{F0C988D0-820D-4714-8BBE-9F497EA9DF9E}" type="sibTrans" cxnId="{856AEF61-6F04-40DF-B9C4-54B0528133AE}">
      <dgm:prSet/>
      <dgm:spPr/>
      <dgm:t>
        <a:bodyPr/>
        <a:lstStyle/>
        <a:p>
          <a:endParaRPr lang="en-US"/>
        </a:p>
      </dgm:t>
    </dgm:pt>
    <dgm:pt modelId="{1A210B0F-6712-44A8-8544-5EF9BED96321}">
      <dgm:prSet/>
      <dgm:spPr>
        <a:solidFill>
          <a:schemeClr val="tx1">
            <a:alpha val="70000"/>
          </a:schemeClr>
        </a:solidFill>
        <a:ln>
          <a:solidFill>
            <a:schemeClr val="bg1"/>
          </a:solidFill>
        </a:ln>
      </dgm:spPr>
      <dgm:t>
        <a:bodyPr/>
        <a:lstStyle/>
        <a:p>
          <a:pPr>
            <a:lnSpc>
              <a:spcPct val="100000"/>
            </a:lnSpc>
          </a:pPr>
          <a:r>
            <a:rPr lang="en-US" dirty="0">
              <a:solidFill>
                <a:sysClr val="windowText" lastClr="000000"/>
              </a:solidFill>
            </a:rPr>
            <a:t>Creates a foundation that utilizes data effectively.</a:t>
          </a:r>
        </a:p>
      </dgm:t>
    </dgm:pt>
    <dgm:pt modelId="{9DA7E39E-4698-4957-97CB-346CC34077EE}" type="parTrans" cxnId="{59316650-2B1D-424D-9A2F-B691523D7B44}">
      <dgm:prSet/>
      <dgm:spPr/>
      <dgm:t>
        <a:bodyPr/>
        <a:lstStyle/>
        <a:p>
          <a:endParaRPr lang="en-US"/>
        </a:p>
      </dgm:t>
    </dgm:pt>
    <dgm:pt modelId="{BB785ED1-508A-4791-9D22-55DB910FFF4C}" type="sibTrans" cxnId="{59316650-2B1D-424D-9A2F-B691523D7B44}">
      <dgm:prSet/>
      <dgm:spPr/>
      <dgm:t>
        <a:bodyPr/>
        <a:lstStyle/>
        <a:p>
          <a:endParaRPr lang="en-US"/>
        </a:p>
      </dgm:t>
    </dgm:pt>
    <dgm:pt modelId="{65844FB1-C736-4A66-A3C1-3F775958E7D4}">
      <dgm:prSet custT="1"/>
      <dgm:spPr>
        <a:solidFill>
          <a:schemeClr val="tx1">
            <a:alpha val="70000"/>
          </a:schemeClr>
        </a:solidFill>
        <a:ln>
          <a:solidFill>
            <a:schemeClr val="bg1"/>
          </a:solidFill>
        </a:ln>
      </dgm:spPr>
      <dgm:t>
        <a:bodyPr/>
        <a:lstStyle/>
        <a:p>
          <a:pPr>
            <a:lnSpc>
              <a:spcPct val="100000"/>
            </a:lnSpc>
          </a:pPr>
          <a:r>
            <a:rPr lang="en-US" sz="1600" dirty="0">
              <a:solidFill>
                <a:sysClr val="windowText" lastClr="000000"/>
              </a:solidFill>
            </a:rPr>
            <a:t>Continued growth, scalability, and adaptability of the business. </a:t>
          </a:r>
        </a:p>
      </dgm:t>
    </dgm:pt>
    <dgm:pt modelId="{DA6AEBE6-E863-4AAC-A540-E22A02F6D749}" type="parTrans" cxnId="{2E5194D4-B13C-4309-AE80-1E31C836A1B9}">
      <dgm:prSet/>
      <dgm:spPr/>
      <dgm:t>
        <a:bodyPr/>
        <a:lstStyle/>
        <a:p>
          <a:endParaRPr lang="en-US"/>
        </a:p>
      </dgm:t>
    </dgm:pt>
    <dgm:pt modelId="{FE212E66-C8F4-4E0E-94AF-1BDF7103F86F}" type="sibTrans" cxnId="{2E5194D4-B13C-4309-AE80-1E31C836A1B9}">
      <dgm:prSet/>
      <dgm:spPr/>
      <dgm:t>
        <a:bodyPr/>
        <a:lstStyle/>
        <a:p>
          <a:endParaRPr lang="en-US"/>
        </a:p>
      </dgm:t>
    </dgm:pt>
    <dgm:pt modelId="{BCBC2082-091C-4867-8768-8FD8E6564251}" type="pres">
      <dgm:prSet presAssocID="{E15A1F50-786C-4BC1-994C-FDD98607BDEF}" presName="root" presStyleCnt="0">
        <dgm:presLayoutVars>
          <dgm:dir/>
          <dgm:resizeHandles val="exact"/>
        </dgm:presLayoutVars>
      </dgm:prSet>
      <dgm:spPr/>
    </dgm:pt>
    <dgm:pt modelId="{EA3E08F6-A6D5-4223-ABE4-3D9C1D0FA8CD}" type="pres">
      <dgm:prSet presAssocID="{CB7E9EBE-3805-4DB4-8B3E-A5C1D56931F9}" presName="compNode" presStyleCnt="0"/>
      <dgm:spPr/>
    </dgm:pt>
    <dgm:pt modelId="{0D12094F-C43B-4013-9C15-73C30CF93563}" type="pres">
      <dgm:prSet presAssocID="{CB7E9EBE-3805-4DB4-8B3E-A5C1D56931F9}" presName="bgRect" presStyleLbl="bgShp" presStyleIdx="0" presStyleCnt="4"/>
      <dgm:spPr>
        <a:solidFill>
          <a:schemeClr val="tx1">
            <a:alpha val="70000"/>
          </a:schemeClr>
        </a:solidFill>
      </dgm:spPr>
    </dgm:pt>
    <dgm:pt modelId="{088FD6CF-5089-4BB6-9F18-2F69EEAF8C00}" type="pres">
      <dgm:prSet presAssocID="{CB7E9EBE-3805-4DB4-8B3E-A5C1D56931F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solidFill>
            <a:schemeClr val="bg1"/>
          </a:solidFill>
        </a:ln>
      </dgm:spPr>
      <dgm:extLst>
        <a:ext uri="{E40237B7-FDA0-4F09-8148-C483321AD2D9}">
          <dgm14:cNvPr xmlns:dgm14="http://schemas.microsoft.com/office/drawing/2010/diagram" id="0" name="" descr="Business Growth"/>
        </a:ext>
      </dgm:extLst>
    </dgm:pt>
    <dgm:pt modelId="{77C653BD-14F9-4943-BB36-60E79B35FA79}" type="pres">
      <dgm:prSet presAssocID="{CB7E9EBE-3805-4DB4-8B3E-A5C1D56931F9}" presName="spaceRect" presStyleCnt="0"/>
      <dgm:spPr/>
    </dgm:pt>
    <dgm:pt modelId="{611E8AB8-5068-4ED8-836F-154D1615687E}" type="pres">
      <dgm:prSet presAssocID="{CB7E9EBE-3805-4DB4-8B3E-A5C1D56931F9}" presName="parTx" presStyleLbl="revTx" presStyleIdx="0" presStyleCnt="6">
        <dgm:presLayoutVars>
          <dgm:chMax val="0"/>
          <dgm:chPref val="0"/>
        </dgm:presLayoutVars>
      </dgm:prSet>
      <dgm:spPr/>
    </dgm:pt>
    <dgm:pt modelId="{FA9D1650-9F70-417D-A017-4F782668C51F}" type="pres">
      <dgm:prSet presAssocID="{061A2A33-88ED-4C46-9FA5-6AB8C731F003}" presName="sibTrans" presStyleCnt="0"/>
      <dgm:spPr/>
    </dgm:pt>
    <dgm:pt modelId="{87663A87-46ED-4E04-8E71-A36FC511E785}" type="pres">
      <dgm:prSet presAssocID="{DBBAB4B8-9FE0-4FF8-A183-2858B59B53CB}" presName="compNode" presStyleCnt="0"/>
      <dgm:spPr/>
    </dgm:pt>
    <dgm:pt modelId="{1ADCB3FD-47AB-44A7-86B1-55516F000F78}" type="pres">
      <dgm:prSet presAssocID="{DBBAB4B8-9FE0-4FF8-A183-2858B59B53CB}" presName="bgRect" presStyleLbl="bgShp" presStyleIdx="1" presStyleCnt="4" custLinFactNeighborY="-24"/>
      <dgm:spPr>
        <a:solidFill>
          <a:schemeClr val="tx1">
            <a:alpha val="70000"/>
          </a:schemeClr>
        </a:solidFill>
        <a:ln>
          <a:solidFill>
            <a:schemeClr val="bg1"/>
          </a:solidFill>
        </a:ln>
      </dgm:spPr>
    </dgm:pt>
    <dgm:pt modelId="{500D7FA7-A795-467C-9719-B4FD5ED93ECD}" type="pres">
      <dgm:prSet presAssocID="{DBBAB4B8-9FE0-4FF8-A183-2858B59B53C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solidFill>
            <a:schemeClr val="bg1"/>
          </a:solidFill>
        </a:ln>
      </dgm:spPr>
      <dgm:extLst>
        <a:ext uri="{E40237B7-FDA0-4F09-8148-C483321AD2D9}">
          <dgm14:cNvPr xmlns:dgm14="http://schemas.microsoft.com/office/drawing/2010/diagram" id="0" name="" descr="Radioactive outline"/>
        </a:ext>
      </dgm:extLst>
    </dgm:pt>
    <dgm:pt modelId="{520E1F5C-5367-45F7-A1A7-A53CDF6CAA6E}" type="pres">
      <dgm:prSet presAssocID="{DBBAB4B8-9FE0-4FF8-A183-2858B59B53CB}" presName="spaceRect" presStyleCnt="0"/>
      <dgm:spPr/>
    </dgm:pt>
    <dgm:pt modelId="{33D3B4AB-5F91-4D3C-9B2E-EDED3853A5B9}" type="pres">
      <dgm:prSet presAssocID="{DBBAB4B8-9FE0-4FF8-A183-2858B59B53CB}" presName="parTx" presStyleLbl="revTx" presStyleIdx="1" presStyleCnt="6">
        <dgm:presLayoutVars>
          <dgm:chMax val="0"/>
          <dgm:chPref val="0"/>
        </dgm:presLayoutVars>
      </dgm:prSet>
      <dgm:spPr/>
    </dgm:pt>
    <dgm:pt modelId="{9308FAED-DB66-4AE0-BE28-5CC1CEE043FD}" type="pres">
      <dgm:prSet presAssocID="{73D36CCE-F6C9-44E2-851B-833C19FDA1CC}" presName="sibTrans" presStyleCnt="0"/>
      <dgm:spPr/>
    </dgm:pt>
    <dgm:pt modelId="{3682E059-2178-4280-82A2-BDBF83C730D5}" type="pres">
      <dgm:prSet presAssocID="{96A5516A-06FC-45BA-A6A1-152C6B924E9D}" presName="compNode" presStyleCnt="0"/>
      <dgm:spPr/>
    </dgm:pt>
    <dgm:pt modelId="{EAEEECE6-756C-461E-93A5-D8508D5795FF}" type="pres">
      <dgm:prSet presAssocID="{96A5516A-06FC-45BA-A6A1-152C6B924E9D}" presName="bgRect" presStyleLbl="bgShp" presStyleIdx="2" presStyleCnt="4" custLinFactNeighborX="718"/>
      <dgm:spPr>
        <a:solidFill>
          <a:schemeClr val="tx1">
            <a:alpha val="70000"/>
          </a:schemeClr>
        </a:solidFill>
      </dgm:spPr>
    </dgm:pt>
    <dgm:pt modelId="{AD0E08AC-E9D2-45BC-A80C-C423E7323216}" type="pres">
      <dgm:prSet presAssocID="{96A5516A-06FC-45BA-A6A1-152C6B924E9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solidFill>
            <a:schemeClr val="bg1"/>
          </a:solidFill>
        </a:ln>
      </dgm:spPr>
      <dgm:extLst>
        <a:ext uri="{E40237B7-FDA0-4F09-8148-C483321AD2D9}">
          <dgm14:cNvPr xmlns:dgm14="http://schemas.microsoft.com/office/drawing/2010/diagram" id="0" name="" descr="Link outline"/>
        </a:ext>
      </dgm:extLst>
    </dgm:pt>
    <dgm:pt modelId="{1E1BA936-1CE3-45E1-B0BE-23A5643DF8F8}" type="pres">
      <dgm:prSet presAssocID="{96A5516A-06FC-45BA-A6A1-152C6B924E9D}" presName="spaceRect" presStyleCnt="0"/>
      <dgm:spPr/>
    </dgm:pt>
    <dgm:pt modelId="{3FC92C65-E307-42F2-8764-969A16A7C714}" type="pres">
      <dgm:prSet presAssocID="{96A5516A-06FC-45BA-A6A1-152C6B924E9D}" presName="parTx" presStyleLbl="revTx" presStyleIdx="2" presStyleCnt="6">
        <dgm:presLayoutVars>
          <dgm:chMax val="0"/>
          <dgm:chPref val="0"/>
        </dgm:presLayoutVars>
      </dgm:prSet>
      <dgm:spPr/>
    </dgm:pt>
    <dgm:pt modelId="{2544BE09-FB3D-4400-BB33-98DAE97402CB}" type="pres">
      <dgm:prSet presAssocID="{96A5516A-06FC-45BA-A6A1-152C6B924E9D}" presName="desTx" presStyleLbl="revTx" presStyleIdx="3" presStyleCnt="6">
        <dgm:presLayoutVars/>
      </dgm:prSet>
      <dgm:spPr/>
    </dgm:pt>
    <dgm:pt modelId="{7566356C-4591-4900-B0AD-EB912E6524F2}" type="pres">
      <dgm:prSet presAssocID="{0C82B6DA-0D8D-436C-A0B9-6E3B6F7DA296}" presName="sibTrans" presStyleCnt="0"/>
      <dgm:spPr/>
    </dgm:pt>
    <dgm:pt modelId="{E1221489-19C5-4116-A3B2-EC36ED639E98}" type="pres">
      <dgm:prSet presAssocID="{1A210B0F-6712-44A8-8544-5EF9BED96321}" presName="compNode" presStyleCnt="0"/>
      <dgm:spPr/>
    </dgm:pt>
    <dgm:pt modelId="{53F1F0C6-A633-4B95-A731-74DE6A888E69}" type="pres">
      <dgm:prSet presAssocID="{1A210B0F-6712-44A8-8544-5EF9BED96321}" presName="bgRect" presStyleLbl="bgShp" presStyleIdx="3" presStyleCnt="4"/>
      <dgm:spPr>
        <a:solidFill>
          <a:schemeClr val="tx1">
            <a:alpha val="70000"/>
          </a:schemeClr>
        </a:solidFill>
        <a:ln>
          <a:solidFill>
            <a:schemeClr val="bg1"/>
          </a:solidFill>
        </a:ln>
      </dgm:spPr>
    </dgm:pt>
    <dgm:pt modelId="{6FEABEF9-A3FF-4015-9A80-A9C1473C1EA7}" type="pres">
      <dgm:prSet presAssocID="{1A210B0F-6712-44A8-8544-5EF9BED9632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solidFill>
            <a:schemeClr val="bg1"/>
          </a:solidFill>
        </a:ln>
      </dgm:spPr>
      <dgm:extLst>
        <a:ext uri="{E40237B7-FDA0-4F09-8148-C483321AD2D9}">
          <dgm14:cNvPr xmlns:dgm14="http://schemas.microsoft.com/office/drawing/2010/diagram" id="0" name="" descr="Connections"/>
        </a:ext>
      </dgm:extLst>
    </dgm:pt>
    <dgm:pt modelId="{450E4E9B-B6DC-466A-8932-9E40425E1FE3}" type="pres">
      <dgm:prSet presAssocID="{1A210B0F-6712-44A8-8544-5EF9BED96321}" presName="spaceRect" presStyleCnt="0"/>
      <dgm:spPr/>
    </dgm:pt>
    <dgm:pt modelId="{55BFA8FB-6DC9-4103-9101-F3800DA4288D}" type="pres">
      <dgm:prSet presAssocID="{1A210B0F-6712-44A8-8544-5EF9BED96321}" presName="parTx" presStyleLbl="revTx" presStyleIdx="4" presStyleCnt="6">
        <dgm:presLayoutVars>
          <dgm:chMax val="0"/>
          <dgm:chPref val="0"/>
        </dgm:presLayoutVars>
      </dgm:prSet>
      <dgm:spPr/>
    </dgm:pt>
    <dgm:pt modelId="{1D17AFCB-91F1-441C-A25C-6426FCA7741C}" type="pres">
      <dgm:prSet presAssocID="{1A210B0F-6712-44A8-8544-5EF9BED96321}" presName="desTx" presStyleLbl="revTx" presStyleIdx="5" presStyleCnt="6">
        <dgm:presLayoutVars/>
      </dgm:prSet>
      <dgm:spPr/>
    </dgm:pt>
  </dgm:ptLst>
  <dgm:cxnLst>
    <dgm:cxn modelId="{92B5E35E-E340-40D1-99C1-E0041F78FE5A}" type="presOf" srcId="{CB7E9EBE-3805-4DB4-8B3E-A5C1D56931F9}" destId="{611E8AB8-5068-4ED8-836F-154D1615687E}" srcOrd="0" destOrd="0" presId="urn:microsoft.com/office/officeart/2018/2/layout/IconVerticalSolidList"/>
    <dgm:cxn modelId="{856AEF61-6F04-40DF-B9C4-54B0528133AE}" srcId="{96A5516A-06FC-45BA-A6A1-152C6B924E9D}" destId="{6ED34F50-AAFB-4217-B5C0-D7ECC973AD00}" srcOrd="0" destOrd="0" parTransId="{D1CDEF64-24B3-4366-9B7F-E24B120A79B4}" sibTransId="{F0C988D0-820D-4714-8BBE-9F497EA9DF9E}"/>
    <dgm:cxn modelId="{59316650-2B1D-424D-9A2F-B691523D7B44}" srcId="{E15A1F50-786C-4BC1-994C-FDD98607BDEF}" destId="{1A210B0F-6712-44A8-8544-5EF9BED96321}" srcOrd="3" destOrd="0" parTransId="{9DA7E39E-4698-4957-97CB-346CC34077EE}" sibTransId="{BB785ED1-508A-4791-9D22-55DB910FFF4C}"/>
    <dgm:cxn modelId="{6D601074-07B8-4602-A38F-BF48543725A0}" type="presOf" srcId="{DBBAB4B8-9FE0-4FF8-A183-2858B59B53CB}" destId="{33D3B4AB-5F91-4D3C-9B2E-EDED3853A5B9}" srcOrd="0" destOrd="0" presId="urn:microsoft.com/office/officeart/2018/2/layout/IconVerticalSolidList"/>
    <dgm:cxn modelId="{F5BB255A-82B8-4CC5-BB8F-818083C06CF3}" type="presOf" srcId="{65844FB1-C736-4A66-A3C1-3F775958E7D4}" destId="{1D17AFCB-91F1-441C-A25C-6426FCA7741C}" srcOrd="0" destOrd="0" presId="urn:microsoft.com/office/officeart/2018/2/layout/IconVerticalSolidList"/>
    <dgm:cxn modelId="{442FA58C-9F3E-41B5-8359-FF12703BAAC3}" srcId="{E15A1F50-786C-4BC1-994C-FDD98607BDEF}" destId="{CB7E9EBE-3805-4DB4-8B3E-A5C1D56931F9}" srcOrd="0" destOrd="0" parTransId="{BE3F031E-DC53-4510-A35B-1A859CD1780F}" sibTransId="{061A2A33-88ED-4C46-9FA5-6AB8C731F003}"/>
    <dgm:cxn modelId="{2737FA90-B226-4895-BDEC-611335D92D9A}" type="presOf" srcId="{1A210B0F-6712-44A8-8544-5EF9BED96321}" destId="{55BFA8FB-6DC9-4103-9101-F3800DA4288D}" srcOrd="0" destOrd="0" presId="urn:microsoft.com/office/officeart/2018/2/layout/IconVerticalSolidList"/>
    <dgm:cxn modelId="{6D35759F-1CD0-4ABD-8867-8E06C361A941}" type="presOf" srcId="{6ED34F50-AAFB-4217-B5C0-D7ECC973AD00}" destId="{2544BE09-FB3D-4400-BB33-98DAE97402CB}" srcOrd="0" destOrd="0" presId="urn:microsoft.com/office/officeart/2018/2/layout/IconVerticalSolidList"/>
    <dgm:cxn modelId="{F5F1C3A7-2045-40C0-9B34-D986B17C1FD6}" type="presOf" srcId="{E15A1F50-786C-4BC1-994C-FDD98607BDEF}" destId="{BCBC2082-091C-4867-8768-8FD8E6564251}" srcOrd="0" destOrd="0" presId="urn:microsoft.com/office/officeart/2018/2/layout/IconVerticalSolidList"/>
    <dgm:cxn modelId="{50696FB2-B307-4763-916A-6F6FA152320E}" srcId="{E15A1F50-786C-4BC1-994C-FDD98607BDEF}" destId="{DBBAB4B8-9FE0-4FF8-A183-2858B59B53CB}" srcOrd="1" destOrd="0" parTransId="{C4DB5520-C987-4284-AA2F-0752D7F535F7}" sibTransId="{73D36CCE-F6C9-44E2-851B-833C19FDA1CC}"/>
    <dgm:cxn modelId="{F9AC08C5-715C-409D-92BF-ECABBE2B6BBA}" type="presOf" srcId="{96A5516A-06FC-45BA-A6A1-152C6B924E9D}" destId="{3FC92C65-E307-42F2-8764-969A16A7C714}" srcOrd="0" destOrd="0" presId="urn:microsoft.com/office/officeart/2018/2/layout/IconVerticalSolidList"/>
    <dgm:cxn modelId="{2E5194D4-B13C-4309-AE80-1E31C836A1B9}" srcId="{1A210B0F-6712-44A8-8544-5EF9BED96321}" destId="{65844FB1-C736-4A66-A3C1-3F775958E7D4}" srcOrd="0" destOrd="0" parTransId="{DA6AEBE6-E863-4AAC-A540-E22A02F6D749}" sibTransId="{FE212E66-C8F4-4E0E-94AF-1BDF7103F86F}"/>
    <dgm:cxn modelId="{11E996FE-5F55-49FC-BE9F-06B691DDF2F9}" srcId="{E15A1F50-786C-4BC1-994C-FDD98607BDEF}" destId="{96A5516A-06FC-45BA-A6A1-152C6B924E9D}" srcOrd="2" destOrd="0" parTransId="{DB5C89AB-97C2-4AD8-9284-12A1B20DE448}" sibTransId="{0C82B6DA-0D8D-436C-A0B9-6E3B6F7DA296}"/>
    <dgm:cxn modelId="{A16C6159-EC78-449E-989E-44BCC0938842}" type="presParOf" srcId="{BCBC2082-091C-4867-8768-8FD8E6564251}" destId="{EA3E08F6-A6D5-4223-ABE4-3D9C1D0FA8CD}" srcOrd="0" destOrd="0" presId="urn:microsoft.com/office/officeart/2018/2/layout/IconVerticalSolidList"/>
    <dgm:cxn modelId="{E158F668-27DD-43AD-B206-D8220069E762}" type="presParOf" srcId="{EA3E08F6-A6D5-4223-ABE4-3D9C1D0FA8CD}" destId="{0D12094F-C43B-4013-9C15-73C30CF93563}" srcOrd="0" destOrd="0" presId="urn:microsoft.com/office/officeart/2018/2/layout/IconVerticalSolidList"/>
    <dgm:cxn modelId="{3FECEFF8-F83A-4844-802D-61FF8D640E61}" type="presParOf" srcId="{EA3E08F6-A6D5-4223-ABE4-3D9C1D0FA8CD}" destId="{088FD6CF-5089-4BB6-9F18-2F69EEAF8C00}" srcOrd="1" destOrd="0" presId="urn:microsoft.com/office/officeart/2018/2/layout/IconVerticalSolidList"/>
    <dgm:cxn modelId="{FA5D5A15-3998-4BE7-BC96-7CAAAC8A1AF6}" type="presParOf" srcId="{EA3E08F6-A6D5-4223-ABE4-3D9C1D0FA8CD}" destId="{77C653BD-14F9-4943-BB36-60E79B35FA79}" srcOrd="2" destOrd="0" presId="urn:microsoft.com/office/officeart/2018/2/layout/IconVerticalSolidList"/>
    <dgm:cxn modelId="{0EC3940A-E71A-404A-BDBB-7745EA651C5B}" type="presParOf" srcId="{EA3E08F6-A6D5-4223-ABE4-3D9C1D0FA8CD}" destId="{611E8AB8-5068-4ED8-836F-154D1615687E}" srcOrd="3" destOrd="0" presId="urn:microsoft.com/office/officeart/2018/2/layout/IconVerticalSolidList"/>
    <dgm:cxn modelId="{03DD83CF-6B24-459C-AD89-29E5989D2017}" type="presParOf" srcId="{BCBC2082-091C-4867-8768-8FD8E6564251}" destId="{FA9D1650-9F70-417D-A017-4F782668C51F}" srcOrd="1" destOrd="0" presId="urn:microsoft.com/office/officeart/2018/2/layout/IconVerticalSolidList"/>
    <dgm:cxn modelId="{732B3EA8-0EE8-44A1-8478-5A174A775E54}" type="presParOf" srcId="{BCBC2082-091C-4867-8768-8FD8E6564251}" destId="{87663A87-46ED-4E04-8E71-A36FC511E785}" srcOrd="2" destOrd="0" presId="urn:microsoft.com/office/officeart/2018/2/layout/IconVerticalSolidList"/>
    <dgm:cxn modelId="{49EA1657-FB76-41B3-8589-7CE2AA0A7FE3}" type="presParOf" srcId="{87663A87-46ED-4E04-8E71-A36FC511E785}" destId="{1ADCB3FD-47AB-44A7-86B1-55516F000F78}" srcOrd="0" destOrd="0" presId="urn:microsoft.com/office/officeart/2018/2/layout/IconVerticalSolidList"/>
    <dgm:cxn modelId="{DE5E27A2-1D7B-4154-98A7-C3FD0319D1D4}" type="presParOf" srcId="{87663A87-46ED-4E04-8E71-A36FC511E785}" destId="{500D7FA7-A795-467C-9719-B4FD5ED93ECD}" srcOrd="1" destOrd="0" presId="urn:microsoft.com/office/officeart/2018/2/layout/IconVerticalSolidList"/>
    <dgm:cxn modelId="{20ED7DF3-BBA4-4397-B69C-3F4358D23C4D}" type="presParOf" srcId="{87663A87-46ED-4E04-8E71-A36FC511E785}" destId="{520E1F5C-5367-45F7-A1A7-A53CDF6CAA6E}" srcOrd="2" destOrd="0" presId="urn:microsoft.com/office/officeart/2018/2/layout/IconVerticalSolidList"/>
    <dgm:cxn modelId="{040A796A-BC2C-48FB-A313-61CF2BCBE2D1}" type="presParOf" srcId="{87663A87-46ED-4E04-8E71-A36FC511E785}" destId="{33D3B4AB-5F91-4D3C-9B2E-EDED3853A5B9}" srcOrd="3" destOrd="0" presId="urn:microsoft.com/office/officeart/2018/2/layout/IconVerticalSolidList"/>
    <dgm:cxn modelId="{745E4096-7794-4AC6-A20A-92EF12A32346}" type="presParOf" srcId="{BCBC2082-091C-4867-8768-8FD8E6564251}" destId="{9308FAED-DB66-4AE0-BE28-5CC1CEE043FD}" srcOrd="3" destOrd="0" presId="urn:microsoft.com/office/officeart/2018/2/layout/IconVerticalSolidList"/>
    <dgm:cxn modelId="{57B1C83D-C6DF-4294-8388-5FD9055DF01B}" type="presParOf" srcId="{BCBC2082-091C-4867-8768-8FD8E6564251}" destId="{3682E059-2178-4280-82A2-BDBF83C730D5}" srcOrd="4" destOrd="0" presId="urn:microsoft.com/office/officeart/2018/2/layout/IconVerticalSolidList"/>
    <dgm:cxn modelId="{649902A9-1DE2-41FA-8BB2-204A4ABFBF6B}" type="presParOf" srcId="{3682E059-2178-4280-82A2-BDBF83C730D5}" destId="{EAEEECE6-756C-461E-93A5-D8508D5795FF}" srcOrd="0" destOrd="0" presId="urn:microsoft.com/office/officeart/2018/2/layout/IconVerticalSolidList"/>
    <dgm:cxn modelId="{6290437E-7244-43B0-BAF2-A7E1AE0494EE}" type="presParOf" srcId="{3682E059-2178-4280-82A2-BDBF83C730D5}" destId="{AD0E08AC-E9D2-45BC-A80C-C423E7323216}" srcOrd="1" destOrd="0" presId="urn:microsoft.com/office/officeart/2018/2/layout/IconVerticalSolidList"/>
    <dgm:cxn modelId="{086062D6-8187-4C96-B92A-756CD2C724D5}" type="presParOf" srcId="{3682E059-2178-4280-82A2-BDBF83C730D5}" destId="{1E1BA936-1CE3-45E1-B0BE-23A5643DF8F8}" srcOrd="2" destOrd="0" presId="urn:microsoft.com/office/officeart/2018/2/layout/IconVerticalSolidList"/>
    <dgm:cxn modelId="{A82CE2ED-C4BC-4193-A2B8-38EAAC8D7FDA}" type="presParOf" srcId="{3682E059-2178-4280-82A2-BDBF83C730D5}" destId="{3FC92C65-E307-42F2-8764-969A16A7C714}" srcOrd="3" destOrd="0" presId="urn:microsoft.com/office/officeart/2018/2/layout/IconVerticalSolidList"/>
    <dgm:cxn modelId="{D68DC365-98F2-4B1C-8E1B-E07C7D17CC00}" type="presParOf" srcId="{3682E059-2178-4280-82A2-BDBF83C730D5}" destId="{2544BE09-FB3D-4400-BB33-98DAE97402CB}" srcOrd="4" destOrd="0" presId="urn:microsoft.com/office/officeart/2018/2/layout/IconVerticalSolidList"/>
    <dgm:cxn modelId="{24EC3973-F26A-4383-AF30-67B2E920D874}" type="presParOf" srcId="{BCBC2082-091C-4867-8768-8FD8E6564251}" destId="{7566356C-4591-4900-B0AD-EB912E6524F2}" srcOrd="5" destOrd="0" presId="urn:microsoft.com/office/officeart/2018/2/layout/IconVerticalSolidList"/>
    <dgm:cxn modelId="{9CDBA0B9-C5F5-4D15-A986-524BC69D8BBE}" type="presParOf" srcId="{BCBC2082-091C-4867-8768-8FD8E6564251}" destId="{E1221489-19C5-4116-A3B2-EC36ED639E98}" srcOrd="6" destOrd="0" presId="urn:microsoft.com/office/officeart/2018/2/layout/IconVerticalSolidList"/>
    <dgm:cxn modelId="{D1735776-2748-413C-BD26-2956637E6768}" type="presParOf" srcId="{E1221489-19C5-4116-A3B2-EC36ED639E98}" destId="{53F1F0C6-A633-4B95-A731-74DE6A888E69}" srcOrd="0" destOrd="0" presId="urn:microsoft.com/office/officeart/2018/2/layout/IconVerticalSolidList"/>
    <dgm:cxn modelId="{20C1529D-9299-43C4-8FC0-802A35B57E80}" type="presParOf" srcId="{E1221489-19C5-4116-A3B2-EC36ED639E98}" destId="{6FEABEF9-A3FF-4015-9A80-A9C1473C1EA7}" srcOrd="1" destOrd="0" presId="urn:microsoft.com/office/officeart/2018/2/layout/IconVerticalSolidList"/>
    <dgm:cxn modelId="{BA40B803-3758-4485-BAB7-6C417982BC0C}" type="presParOf" srcId="{E1221489-19C5-4116-A3B2-EC36ED639E98}" destId="{450E4E9B-B6DC-466A-8932-9E40425E1FE3}" srcOrd="2" destOrd="0" presId="urn:microsoft.com/office/officeart/2018/2/layout/IconVerticalSolidList"/>
    <dgm:cxn modelId="{146E6E72-AB92-4ADE-893C-028ADC793404}" type="presParOf" srcId="{E1221489-19C5-4116-A3B2-EC36ED639E98}" destId="{55BFA8FB-6DC9-4103-9101-F3800DA4288D}" srcOrd="3" destOrd="0" presId="urn:microsoft.com/office/officeart/2018/2/layout/IconVerticalSolidList"/>
    <dgm:cxn modelId="{D9B44588-F82C-46ED-BD83-83655F2B874C}" type="presParOf" srcId="{E1221489-19C5-4116-A3B2-EC36ED639E98}" destId="{1D17AFCB-91F1-441C-A25C-6426FCA7741C}" srcOrd="4" destOrd="0" presId="urn:microsoft.com/office/officeart/2018/2/layout/IconVerticalSolidList"/>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264771-E23B-49EB-9130-6C7074D330B4}" type="doc">
      <dgm:prSet loTypeId="urn:microsoft.com/office/officeart/2005/8/layout/radial6" loCatId="relationship" qsTypeId="urn:microsoft.com/office/officeart/2005/8/quickstyle/simple1" qsCatId="simple" csTypeId="urn:microsoft.com/office/officeart/2005/8/colors/accent3_2" csCatId="accent3" phldr="1"/>
      <dgm:spPr/>
      <dgm:t>
        <a:bodyPr/>
        <a:lstStyle/>
        <a:p>
          <a:endParaRPr lang="en-US"/>
        </a:p>
      </dgm:t>
    </dgm:pt>
    <dgm:pt modelId="{870FC0F7-E6CE-449F-BA36-B88B6C4D0022}">
      <dgm:prSet phldrT="[Text]"/>
      <dgm:spPr/>
      <dgm:t>
        <a:bodyPr/>
        <a:lstStyle/>
        <a:p>
          <a:pPr>
            <a:buNone/>
          </a:pPr>
          <a:r>
            <a:rPr lang="en-US" dirty="0"/>
            <a:t>Predictive Modeling</a:t>
          </a:r>
        </a:p>
      </dgm:t>
    </dgm:pt>
    <dgm:pt modelId="{67DAAD62-7561-4AC5-BCFF-F7E345DB7EF2}" type="parTrans" cxnId="{DD72F843-AEA5-41EE-8A35-51E3E59E7E5C}">
      <dgm:prSet/>
      <dgm:spPr/>
      <dgm:t>
        <a:bodyPr/>
        <a:lstStyle/>
        <a:p>
          <a:endParaRPr lang="en-US"/>
        </a:p>
      </dgm:t>
    </dgm:pt>
    <dgm:pt modelId="{934F2607-D311-428F-8388-D0E52789F384}" type="sibTrans" cxnId="{DD72F843-AEA5-41EE-8A35-51E3E59E7E5C}">
      <dgm:prSet/>
      <dgm:spPr/>
      <dgm:t>
        <a:bodyPr/>
        <a:lstStyle/>
        <a:p>
          <a:endParaRPr lang="en-US"/>
        </a:p>
      </dgm:t>
    </dgm:pt>
    <dgm:pt modelId="{BD53BC3E-E2E3-4EB5-A37E-5BDA77398370}">
      <dgm:prSet phldrT="[Text]"/>
      <dgm:spPr/>
      <dgm:t>
        <a:bodyPr/>
        <a:lstStyle/>
        <a:p>
          <a:r>
            <a:rPr lang="en-US" dirty="0"/>
            <a:t>Model Predictive Control Framework</a:t>
          </a:r>
        </a:p>
      </dgm:t>
    </dgm:pt>
    <dgm:pt modelId="{5D21255D-755B-4E53-90F8-5F6C1975C4F3}" type="parTrans" cxnId="{FDD7DC7C-2AEF-4199-B186-B9037860476A}">
      <dgm:prSet/>
      <dgm:spPr/>
      <dgm:t>
        <a:bodyPr/>
        <a:lstStyle/>
        <a:p>
          <a:endParaRPr lang="en-US"/>
        </a:p>
      </dgm:t>
    </dgm:pt>
    <dgm:pt modelId="{1E2ED8F5-4C67-41D7-A459-3017B6B33264}" type="sibTrans" cxnId="{FDD7DC7C-2AEF-4199-B186-B9037860476A}">
      <dgm:prSet/>
      <dgm:spPr/>
      <dgm:t>
        <a:bodyPr/>
        <a:lstStyle/>
        <a:p>
          <a:endParaRPr lang="en-US"/>
        </a:p>
      </dgm:t>
    </dgm:pt>
    <dgm:pt modelId="{44CCE452-E91C-4E17-AA28-9F13AB5F70AE}">
      <dgm:prSet phldrT="[Text]"/>
      <dgm:spPr/>
      <dgm:t>
        <a:bodyPr/>
        <a:lstStyle/>
        <a:p>
          <a:r>
            <a:rPr lang="en-US" dirty="0"/>
            <a:t>Time Series Forecasting</a:t>
          </a:r>
        </a:p>
      </dgm:t>
    </dgm:pt>
    <dgm:pt modelId="{214D90D8-DA22-4A6D-AF85-3A9554C348A7}" type="parTrans" cxnId="{DC0044EE-57D6-497F-90A6-871E5D9D8D17}">
      <dgm:prSet/>
      <dgm:spPr/>
      <dgm:t>
        <a:bodyPr/>
        <a:lstStyle/>
        <a:p>
          <a:endParaRPr lang="en-US"/>
        </a:p>
      </dgm:t>
    </dgm:pt>
    <dgm:pt modelId="{3D99D9A9-1C4F-45FE-9F9A-6F84820FB758}" type="sibTrans" cxnId="{DC0044EE-57D6-497F-90A6-871E5D9D8D17}">
      <dgm:prSet/>
      <dgm:spPr/>
      <dgm:t>
        <a:bodyPr/>
        <a:lstStyle/>
        <a:p>
          <a:endParaRPr lang="en-US"/>
        </a:p>
      </dgm:t>
    </dgm:pt>
    <dgm:pt modelId="{189B2939-C259-43DD-895A-8A7E51F5C107}">
      <dgm:prSet phldrT="[Text]"/>
      <dgm:spPr/>
      <dgm:t>
        <a:bodyPr/>
        <a:lstStyle/>
        <a:p>
          <a:r>
            <a:rPr lang="en-US" dirty="0"/>
            <a:t>Machine Learning Anomaly Detection</a:t>
          </a:r>
        </a:p>
      </dgm:t>
    </dgm:pt>
    <dgm:pt modelId="{BB9E98C4-E859-41A7-B6C5-D590EBBE6F3A}" type="parTrans" cxnId="{04A7E9D1-6721-41A2-B99B-19CCEF9BD05B}">
      <dgm:prSet/>
      <dgm:spPr/>
      <dgm:t>
        <a:bodyPr/>
        <a:lstStyle/>
        <a:p>
          <a:endParaRPr lang="en-US"/>
        </a:p>
      </dgm:t>
    </dgm:pt>
    <dgm:pt modelId="{569E13D4-7705-47BB-98DF-8E945C582214}" type="sibTrans" cxnId="{04A7E9D1-6721-41A2-B99B-19CCEF9BD05B}">
      <dgm:prSet/>
      <dgm:spPr/>
      <dgm:t>
        <a:bodyPr/>
        <a:lstStyle/>
        <a:p>
          <a:endParaRPr lang="en-US"/>
        </a:p>
      </dgm:t>
    </dgm:pt>
    <dgm:pt modelId="{CB927178-EC9E-474F-934E-D7CF1DC756A7}" type="pres">
      <dgm:prSet presAssocID="{DC264771-E23B-49EB-9130-6C7074D330B4}" presName="Name0" presStyleCnt="0">
        <dgm:presLayoutVars>
          <dgm:chMax val="1"/>
          <dgm:dir/>
          <dgm:animLvl val="ctr"/>
          <dgm:resizeHandles val="exact"/>
        </dgm:presLayoutVars>
      </dgm:prSet>
      <dgm:spPr/>
    </dgm:pt>
    <dgm:pt modelId="{7D6C4DCA-7425-43C7-9141-EFFF5767A104}" type="pres">
      <dgm:prSet presAssocID="{870FC0F7-E6CE-449F-BA36-B88B6C4D0022}" presName="centerShape" presStyleLbl="node0" presStyleIdx="0" presStyleCnt="1"/>
      <dgm:spPr/>
    </dgm:pt>
    <dgm:pt modelId="{FC6230B8-A438-4D3C-BCE9-F2857E428C37}" type="pres">
      <dgm:prSet presAssocID="{BD53BC3E-E2E3-4EB5-A37E-5BDA77398370}" presName="node" presStyleLbl="node1" presStyleIdx="0" presStyleCnt="3">
        <dgm:presLayoutVars>
          <dgm:bulletEnabled val="1"/>
        </dgm:presLayoutVars>
      </dgm:prSet>
      <dgm:spPr/>
    </dgm:pt>
    <dgm:pt modelId="{4FB7F0D2-617F-483A-BD44-6768CEF7E134}" type="pres">
      <dgm:prSet presAssocID="{BD53BC3E-E2E3-4EB5-A37E-5BDA77398370}" presName="dummy" presStyleCnt="0"/>
      <dgm:spPr/>
    </dgm:pt>
    <dgm:pt modelId="{AAE26BE4-5B8A-4BDA-BA6D-36468EEB6420}" type="pres">
      <dgm:prSet presAssocID="{1E2ED8F5-4C67-41D7-A459-3017B6B33264}" presName="sibTrans" presStyleLbl="sibTrans2D1" presStyleIdx="0" presStyleCnt="3"/>
      <dgm:spPr/>
    </dgm:pt>
    <dgm:pt modelId="{43CE6A6D-B779-4E3A-92F0-E9BBA266CB64}" type="pres">
      <dgm:prSet presAssocID="{44CCE452-E91C-4E17-AA28-9F13AB5F70AE}" presName="node" presStyleLbl="node1" presStyleIdx="1" presStyleCnt="3">
        <dgm:presLayoutVars>
          <dgm:bulletEnabled val="1"/>
        </dgm:presLayoutVars>
      </dgm:prSet>
      <dgm:spPr/>
    </dgm:pt>
    <dgm:pt modelId="{820346D2-06E8-403E-8513-5560DD4F54D2}" type="pres">
      <dgm:prSet presAssocID="{44CCE452-E91C-4E17-AA28-9F13AB5F70AE}" presName="dummy" presStyleCnt="0"/>
      <dgm:spPr/>
    </dgm:pt>
    <dgm:pt modelId="{0BDFA0ED-0132-4332-8B29-D93FE2731793}" type="pres">
      <dgm:prSet presAssocID="{3D99D9A9-1C4F-45FE-9F9A-6F84820FB758}" presName="sibTrans" presStyleLbl="sibTrans2D1" presStyleIdx="1" presStyleCnt="3"/>
      <dgm:spPr/>
    </dgm:pt>
    <dgm:pt modelId="{5BC1454B-5167-4D16-9DFF-C3AACAF67726}" type="pres">
      <dgm:prSet presAssocID="{189B2939-C259-43DD-895A-8A7E51F5C107}" presName="node" presStyleLbl="node1" presStyleIdx="2" presStyleCnt="3">
        <dgm:presLayoutVars>
          <dgm:bulletEnabled val="1"/>
        </dgm:presLayoutVars>
      </dgm:prSet>
      <dgm:spPr/>
    </dgm:pt>
    <dgm:pt modelId="{C316AC24-7077-4345-AC61-679721367DB7}" type="pres">
      <dgm:prSet presAssocID="{189B2939-C259-43DD-895A-8A7E51F5C107}" presName="dummy" presStyleCnt="0"/>
      <dgm:spPr/>
    </dgm:pt>
    <dgm:pt modelId="{AB39B80E-E175-47C0-8BA6-6D94102820A1}" type="pres">
      <dgm:prSet presAssocID="{569E13D4-7705-47BB-98DF-8E945C582214}" presName="sibTrans" presStyleLbl="sibTrans2D1" presStyleIdx="2" presStyleCnt="3"/>
      <dgm:spPr/>
    </dgm:pt>
  </dgm:ptLst>
  <dgm:cxnLst>
    <dgm:cxn modelId="{1D055D19-F50C-4B0E-9967-92C167D3DB20}" type="presOf" srcId="{189B2939-C259-43DD-895A-8A7E51F5C107}" destId="{5BC1454B-5167-4D16-9DFF-C3AACAF67726}" srcOrd="0" destOrd="0" presId="urn:microsoft.com/office/officeart/2005/8/layout/radial6"/>
    <dgm:cxn modelId="{3FF8603F-2D36-450A-AEC3-9676C55EA092}" type="presOf" srcId="{569E13D4-7705-47BB-98DF-8E945C582214}" destId="{AB39B80E-E175-47C0-8BA6-6D94102820A1}" srcOrd="0" destOrd="0" presId="urn:microsoft.com/office/officeart/2005/8/layout/radial6"/>
    <dgm:cxn modelId="{A4DBA95E-3C50-4962-81C5-7B8AEB4C4FBF}" type="presOf" srcId="{44CCE452-E91C-4E17-AA28-9F13AB5F70AE}" destId="{43CE6A6D-B779-4E3A-92F0-E9BBA266CB64}" srcOrd="0" destOrd="0" presId="urn:microsoft.com/office/officeart/2005/8/layout/radial6"/>
    <dgm:cxn modelId="{DD72F843-AEA5-41EE-8A35-51E3E59E7E5C}" srcId="{DC264771-E23B-49EB-9130-6C7074D330B4}" destId="{870FC0F7-E6CE-449F-BA36-B88B6C4D0022}" srcOrd="0" destOrd="0" parTransId="{67DAAD62-7561-4AC5-BCFF-F7E345DB7EF2}" sibTransId="{934F2607-D311-428F-8388-D0E52789F384}"/>
    <dgm:cxn modelId="{A2E9AB53-6B40-4DC0-A516-0BEF3284B36D}" type="presOf" srcId="{DC264771-E23B-49EB-9130-6C7074D330B4}" destId="{CB927178-EC9E-474F-934E-D7CF1DC756A7}" srcOrd="0" destOrd="0" presId="urn:microsoft.com/office/officeart/2005/8/layout/radial6"/>
    <dgm:cxn modelId="{9467CC55-697B-4FC6-B0D9-4E5BEF515C5E}" type="presOf" srcId="{BD53BC3E-E2E3-4EB5-A37E-5BDA77398370}" destId="{FC6230B8-A438-4D3C-BCE9-F2857E428C37}" srcOrd="0" destOrd="0" presId="urn:microsoft.com/office/officeart/2005/8/layout/radial6"/>
    <dgm:cxn modelId="{FC088E5A-3254-4D45-A346-C1073A7AEA72}" type="presOf" srcId="{1E2ED8F5-4C67-41D7-A459-3017B6B33264}" destId="{AAE26BE4-5B8A-4BDA-BA6D-36468EEB6420}" srcOrd="0" destOrd="0" presId="urn:microsoft.com/office/officeart/2005/8/layout/radial6"/>
    <dgm:cxn modelId="{FDD7DC7C-2AEF-4199-B186-B9037860476A}" srcId="{870FC0F7-E6CE-449F-BA36-B88B6C4D0022}" destId="{BD53BC3E-E2E3-4EB5-A37E-5BDA77398370}" srcOrd="0" destOrd="0" parTransId="{5D21255D-755B-4E53-90F8-5F6C1975C4F3}" sibTransId="{1E2ED8F5-4C67-41D7-A459-3017B6B33264}"/>
    <dgm:cxn modelId="{E02E14A7-E5C9-431F-9F5F-B2354118201E}" type="presOf" srcId="{870FC0F7-E6CE-449F-BA36-B88B6C4D0022}" destId="{7D6C4DCA-7425-43C7-9141-EFFF5767A104}" srcOrd="0" destOrd="0" presId="urn:microsoft.com/office/officeart/2005/8/layout/radial6"/>
    <dgm:cxn modelId="{04A7E9D1-6721-41A2-B99B-19CCEF9BD05B}" srcId="{870FC0F7-E6CE-449F-BA36-B88B6C4D0022}" destId="{189B2939-C259-43DD-895A-8A7E51F5C107}" srcOrd="2" destOrd="0" parTransId="{BB9E98C4-E859-41A7-B6C5-D590EBBE6F3A}" sibTransId="{569E13D4-7705-47BB-98DF-8E945C582214}"/>
    <dgm:cxn modelId="{AB0728E8-EA37-49BC-932A-7788C4F2328E}" type="presOf" srcId="{3D99D9A9-1C4F-45FE-9F9A-6F84820FB758}" destId="{0BDFA0ED-0132-4332-8B29-D93FE2731793}" srcOrd="0" destOrd="0" presId="urn:microsoft.com/office/officeart/2005/8/layout/radial6"/>
    <dgm:cxn modelId="{DC0044EE-57D6-497F-90A6-871E5D9D8D17}" srcId="{870FC0F7-E6CE-449F-BA36-B88B6C4D0022}" destId="{44CCE452-E91C-4E17-AA28-9F13AB5F70AE}" srcOrd="1" destOrd="0" parTransId="{214D90D8-DA22-4A6D-AF85-3A9554C348A7}" sibTransId="{3D99D9A9-1C4F-45FE-9F9A-6F84820FB758}"/>
    <dgm:cxn modelId="{BD2C6DF4-3701-4AE1-90BC-1DFE6CFA1FED}" type="presParOf" srcId="{CB927178-EC9E-474F-934E-D7CF1DC756A7}" destId="{7D6C4DCA-7425-43C7-9141-EFFF5767A104}" srcOrd="0" destOrd="0" presId="urn:microsoft.com/office/officeart/2005/8/layout/radial6"/>
    <dgm:cxn modelId="{52D70DA8-34E5-4743-B3DE-1A9B39373E62}" type="presParOf" srcId="{CB927178-EC9E-474F-934E-D7CF1DC756A7}" destId="{FC6230B8-A438-4D3C-BCE9-F2857E428C37}" srcOrd="1" destOrd="0" presId="urn:microsoft.com/office/officeart/2005/8/layout/radial6"/>
    <dgm:cxn modelId="{BFD51331-D5FF-403D-987E-F5AAB7056A20}" type="presParOf" srcId="{CB927178-EC9E-474F-934E-D7CF1DC756A7}" destId="{4FB7F0D2-617F-483A-BD44-6768CEF7E134}" srcOrd="2" destOrd="0" presId="urn:microsoft.com/office/officeart/2005/8/layout/radial6"/>
    <dgm:cxn modelId="{8C348060-E9D5-4966-8453-086E91816BC0}" type="presParOf" srcId="{CB927178-EC9E-474F-934E-D7CF1DC756A7}" destId="{AAE26BE4-5B8A-4BDA-BA6D-36468EEB6420}" srcOrd="3" destOrd="0" presId="urn:microsoft.com/office/officeart/2005/8/layout/radial6"/>
    <dgm:cxn modelId="{956CAD0F-B04A-491F-9605-DD886CFCCFB8}" type="presParOf" srcId="{CB927178-EC9E-474F-934E-D7CF1DC756A7}" destId="{43CE6A6D-B779-4E3A-92F0-E9BBA266CB64}" srcOrd="4" destOrd="0" presId="urn:microsoft.com/office/officeart/2005/8/layout/radial6"/>
    <dgm:cxn modelId="{05557249-20A7-4F0F-A5FC-D527F6747BD5}" type="presParOf" srcId="{CB927178-EC9E-474F-934E-D7CF1DC756A7}" destId="{820346D2-06E8-403E-8513-5560DD4F54D2}" srcOrd="5" destOrd="0" presId="urn:microsoft.com/office/officeart/2005/8/layout/radial6"/>
    <dgm:cxn modelId="{AF13489F-4C22-48A4-A1B0-491E8C78C6BA}" type="presParOf" srcId="{CB927178-EC9E-474F-934E-D7CF1DC756A7}" destId="{0BDFA0ED-0132-4332-8B29-D93FE2731793}" srcOrd="6" destOrd="0" presId="urn:microsoft.com/office/officeart/2005/8/layout/radial6"/>
    <dgm:cxn modelId="{42D5BE11-4801-4F33-8B49-A1ACC8FCE14F}" type="presParOf" srcId="{CB927178-EC9E-474F-934E-D7CF1DC756A7}" destId="{5BC1454B-5167-4D16-9DFF-C3AACAF67726}" srcOrd="7" destOrd="0" presId="urn:microsoft.com/office/officeart/2005/8/layout/radial6"/>
    <dgm:cxn modelId="{28AA7528-583C-4721-B5A0-DFD546C58F56}" type="presParOf" srcId="{CB927178-EC9E-474F-934E-D7CF1DC756A7}" destId="{C316AC24-7077-4345-AC61-679721367DB7}" srcOrd="8" destOrd="0" presId="urn:microsoft.com/office/officeart/2005/8/layout/radial6"/>
    <dgm:cxn modelId="{1B0621AB-E372-4F67-9594-5016CD60F740}" type="presParOf" srcId="{CB927178-EC9E-474F-934E-D7CF1DC756A7}" destId="{AB39B80E-E175-47C0-8BA6-6D94102820A1}" srcOrd="9"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E99D3A-CE82-478E-AB0A-A4654D3E99A0}" type="doc">
      <dgm:prSet loTypeId="urn:microsoft.com/office/officeart/2016/7/layout/BasicLinearProcessNumbered" loCatId="process" qsTypeId="urn:microsoft.com/office/officeart/2005/8/quickstyle/simple2" qsCatId="simple" csTypeId="urn:microsoft.com/office/officeart/2005/8/colors/accent0_3" csCatId="mainScheme"/>
      <dgm:spPr/>
      <dgm:t>
        <a:bodyPr/>
        <a:lstStyle/>
        <a:p>
          <a:endParaRPr lang="en-US"/>
        </a:p>
      </dgm:t>
    </dgm:pt>
    <dgm:pt modelId="{9E834147-4F96-4041-AB7C-7FC7128FD6D9}">
      <dgm:prSet/>
      <dgm:spPr/>
      <dgm:t>
        <a:bodyPr/>
        <a:lstStyle/>
        <a:p>
          <a:r>
            <a:rPr lang="en-US"/>
            <a:t>Create a phased integration and migration plan for transition from legacy to cloud systems.</a:t>
          </a:r>
        </a:p>
      </dgm:t>
    </dgm:pt>
    <dgm:pt modelId="{E8024116-3959-40DB-A20E-AC524E7E5460}" type="parTrans" cxnId="{1D38F381-1300-4F9D-84A6-70A59B01433C}">
      <dgm:prSet/>
      <dgm:spPr/>
      <dgm:t>
        <a:bodyPr/>
        <a:lstStyle/>
        <a:p>
          <a:endParaRPr lang="en-US"/>
        </a:p>
      </dgm:t>
    </dgm:pt>
    <dgm:pt modelId="{D7C49E34-271D-470A-97A6-D2F114D3D78C}" type="sibTrans" cxnId="{1D38F381-1300-4F9D-84A6-70A59B01433C}">
      <dgm:prSet phldrT="1" phldr="0"/>
      <dgm:spPr/>
      <dgm:t>
        <a:bodyPr/>
        <a:lstStyle/>
        <a:p>
          <a:r>
            <a:rPr lang="en-US"/>
            <a:t>1</a:t>
          </a:r>
        </a:p>
      </dgm:t>
    </dgm:pt>
    <dgm:pt modelId="{5701615C-D178-4349-B6BD-F2AC1FA89EA3}">
      <dgm:prSet/>
      <dgm:spPr/>
      <dgm:t>
        <a:bodyPr/>
        <a:lstStyle/>
        <a:p>
          <a:r>
            <a:rPr lang="en-US"/>
            <a:t>Create a governing body for the compliance and governance framework.</a:t>
          </a:r>
        </a:p>
      </dgm:t>
    </dgm:pt>
    <dgm:pt modelId="{576537BD-B3D1-47BA-ABF6-9091AB97A748}" type="parTrans" cxnId="{996F07EA-A2A7-4904-BF5A-5728B9D070B7}">
      <dgm:prSet/>
      <dgm:spPr/>
      <dgm:t>
        <a:bodyPr/>
        <a:lstStyle/>
        <a:p>
          <a:endParaRPr lang="en-US"/>
        </a:p>
      </dgm:t>
    </dgm:pt>
    <dgm:pt modelId="{68D02D0A-E249-4208-A0F1-59F15517C906}" type="sibTrans" cxnId="{996F07EA-A2A7-4904-BF5A-5728B9D070B7}">
      <dgm:prSet phldrT="2" phldr="0"/>
      <dgm:spPr/>
      <dgm:t>
        <a:bodyPr/>
        <a:lstStyle/>
        <a:p>
          <a:r>
            <a:rPr lang="en-US"/>
            <a:t>2</a:t>
          </a:r>
        </a:p>
      </dgm:t>
    </dgm:pt>
    <dgm:pt modelId="{625AF871-FB22-49CE-A164-176E60D71AF8}">
      <dgm:prSet/>
      <dgm:spPr/>
      <dgm:t>
        <a:bodyPr/>
        <a:lstStyle/>
        <a:p>
          <a:r>
            <a:rPr lang="en-US"/>
            <a:t>Create a beta test on a smaller scale to prove the validity of the proposed approach. </a:t>
          </a:r>
        </a:p>
      </dgm:t>
    </dgm:pt>
    <dgm:pt modelId="{A9222F3C-B193-449F-9652-967759D3F67F}" type="parTrans" cxnId="{2BCDC1EE-EEB1-450D-94C7-B814C8AC1E37}">
      <dgm:prSet/>
      <dgm:spPr/>
      <dgm:t>
        <a:bodyPr/>
        <a:lstStyle/>
        <a:p>
          <a:endParaRPr lang="en-US"/>
        </a:p>
      </dgm:t>
    </dgm:pt>
    <dgm:pt modelId="{D6383EC1-9DA2-446A-B1C8-569B310D8366}" type="sibTrans" cxnId="{2BCDC1EE-EEB1-450D-94C7-B814C8AC1E37}">
      <dgm:prSet phldrT="3" phldr="0"/>
      <dgm:spPr/>
      <dgm:t>
        <a:bodyPr/>
        <a:lstStyle/>
        <a:p>
          <a:r>
            <a:rPr lang="en-US"/>
            <a:t>3</a:t>
          </a:r>
        </a:p>
      </dgm:t>
    </dgm:pt>
    <dgm:pt modelId="{BA8FECBB-4A60-4DE9-B914-7176679B3EA7}" type="pres">
      <dgm:prSet presAssocID="{06E99D3A-CE82-478E-AB0A-A4654D3E99A0}" presName="Name0" presStyleCnt="0">
        <dgm:presLayoutVars>
          <dgm:animLvl val="lvl"/>
          <dgm:resizeHandles val="exact"/>
        </dgm:presLayoutVars>
      </dgm:prSet>
      <dgm:spPr/>
    </dgm:pt>
    <dgm:pt modelId="{CBDE4A20-47A4-4BDD-BB03-C6049089973F}" type="pres">
      <dgm:prSet presAssocID="{9E834147-4F96-4041-AB7C-7FC7128FD6D9}" presName="compositeNode" presStyleCnt="0">
        <dgm:presLayoutVars>
          <dgm:bulletEnabled val="1"/>
        </dgm:presLayoutVars>
      </dgm:prSet>
      <dgm:spPr/>
    </dgm:pt>
    <dgm:pt modelId="{A795F122-1FAB-4101-94D1-2F7FC13352B5}" type="pres">
      <dgm:prSet presAssocID="{9E834147-4F96-4041-AB7C-7FC7128FD6D9}" presName="bgRect" presStyleLbl="bgAccFollowNode1" presStyleIdx="0" presStyleCnt="3"/>
      <dgm:spPr/>
    </dgm:pt>
    <dgm:pt modelId="{0F43CCD6-F619-4344-B70B-AA9995DFA767}" type="pres">
      <dgm:prSet presAssocID="{D7C49E34-271D-470A-97A6-D2F114D3D78C}" presName="sibTransNodeCircle" presStyleLbl="alignNode1" presStyleIdx="0" presStyleCnt="6">
        <dgm:presLayoutVars>
          <dgm:chMax val="0"/>
          <dgm:bulletEnabled/>
        </dgm:presLayoutVars>
      </dgm:prSet>
      <dgm:spPr/>
    </dgm:pt>
    <dgm:pt modelId="{C7A6D060-5741-469F-999A-D848453CA679}" type="pres">
      <dgm:prSet presAssocID="{9E834147-4F96-4041-AB7C-7FC7128FD6D9}" presName="bottomLine" presStyleLbl="alignNode1" presStyleIdx="1" presStyleCnt="6">
        <dgm:presLayoutVars/>
      </dgm:prSet>
      <dgm:spPr/>
    </dgm:pt>
    <dgm:pt modelId="{CA9CED1C-886E-4E30-B2BD-A1476A221E5E}" type="pres">
      <dgm:prSet presAssocID="{9E834147-4F96-4041-AB7C-7FC7128FD6D9}" presName="nodeText" presStyleLbl="bgAccFollowNode1" presStyleIdx="0" presStyleCnt="3">
        <dgm:presLayoutVars>
          <dgm:bulletEnabled val="1"/>
        </dgm:presLayoutVars>
      </dgm:prSet>
      <dgm:spPr/>
    </dgm:pt>
    <dgm:pt modelId="{306261A0-6B81-4FEE-A28F-BB3CF810A3F0}" type="pres">
      <dgm:prSet presAssocID="{D7C49E34-271D-470A-97A6-D2F114D3D78C}" presName="sibTrans" presStyleCnt="0"/>
      <dgm:spPr/>
    </dgm:pt>
    <dgm:pt modelId="{86F59CD0-57E8-4B19-AD91-8402318F56A7}" type="pres">
      <dgm:prSet presAssocID="{5701615C-D178-4349-B6BD-F2AC1FA89EA3}" presName="compositeNode" presStyleCnt="0">
        <dgm:presLayoutVars>
          <dgm:bulletEnabled val="1"/>
        </dgm:presLayoutVars>
      </dgm:prSet>
      <dgm:spPr/>
    </dgm:pt>
    <dgm:pt modelId="{D3A424C2-C39B-4AD0-BA31-9F94E7F58ACF}" type="pres">
      <dgm:prSet presAssocID="{5701615C-D178-4349-B6BD-F2AC1FA89EA3}" presName="bgRect" presStyleLbl="bgAccFollowNode1" presStyleIdx="1" presStyleCnt="3"/>
      <dgm:spPr/>
    </dgm:pt>
    <dgm:pt modelId="{6E150EFA-127E-4BD3-BCAE-F380028B529B}" type="pres">
      <dgm:prSet presAssocID="{68D02D0A-E249-4208-A0F1-59F15517C906}" presName="sibTransNodeCircle" presStyleLbl="alignNode1" presStyleIdx="2" presStyleCnt="6">
        <dgm:presLayoutVars>
          <dgm:chMax val="0"/>
          <dgm:bulletEnabled/>
        </dgm:presLayoutVars>
      </dgm:prSet>
      <dgm:spPr/>
    </dgm:pt>
    <dgm:pt modelId="{44710D4D-1336-434A-A695-96FF05F0201E}" type="pres">
      <dgm:prSet presAssocID="{5701615C-D178-4349-B6BD-F2AC1FA89EA3}" presName="bottomLine" presStyleLbl="alignNode1" presStyleIdx="3" presStyleCnt="6">
        <dgm:presLayoutVars/>
      </dgm:prSet>
      <dgm:spPr/>
    </dgm:pt>
    <dgm:pt modelId="{F64F8031-5FD0-4E28-BC63-6FFACDF00C72}" type="pres">
      <dgm:prSet presAssocID="{5701615C-D178-4349-B6BD-F2AC1FA89EA3}" presName="nodeText" presStyleLbl="bgAccFollowNode1" presStyleIdx="1" presStyleCnt="3">
        <dgm:presLayoutVars>
          <dgm:bulletEnabled val="1"/>
        </dgm:presLayoutVars>
      </dgm:prSet>
      <dgm:spPr/>
    </dgm:pt>
    <dgm:pt modelId="{B3EBF54E-E729-4EFC-9269-C78CABD62BC4}" type="pres">
      <dgm:prSet presAssocID="{68D02D0A-E249-4208-A0F1-59F15517C906}" presName="sibTrans" presStyleCnt="0"/>
      <dgm:spPr/>
    </dgm:pt>
    <dgm:pt modelId="{4C76CCA3-C4C0-4330-B879-7DBAB112691D}" type="pres">
      <dgm:prSet presAssocID="{625AF871-FB22-49CE-A164-176E60D71AF8}" presName="compositeNode" presStyleCnt="0">
        <dgm:presLayoutVars>
          <dgm:bulletEnabled val="1"/>
        </dgm:presLayoutVars>
      </dgm:prSet>
      <dgm:spPr/>
    </dgm:pt>
    <dgm:pt modelId="{7A79F4C3-018B-4413-AEFA-88FF4A9B98D5}" type="pres">
      <dgm:prSet presAssocID="{625AF871-FB22-49CE-A164-176E60D71AF8}" presName="bgRect" presStyleLbl="bgAccFollowNode1" presStyleIdx="2" presStyleCnt="3"/>
      <dgm:spPr/>
    </dgm:pt>
    <dgm:pt modelId="{82F5A555-E866-4DF3-BA0C-5CD41E99C9FE}" type="pres">
      <dgm:prSet presAssocID="{D6383EC1-9DA2-446A-B1C8-569B310D8366}" presName="sibTransNodeCircle" presStyleLbl="alignNode1" presStyleIdx="4" presStyleCnt="6">
        <dgm:presLayoutVars>
          <dgm:chMax val="0"/>
          <dgm:bulletEnabled/>
        </dgm:presLayoutVars>
      </dgm:prSet>
      <dgm:spPr/>
    </dgm:pt>
    <dgm:pt modelId="{97A5A839-5D78-408F-803C-40EE2629A630}" type="pres">
      <dgm:prSet presAssocID="{625AF871-FB22-49CE-A164-176E60D71AF8}" presName="bottomLine" presStyleLbl="alignNode1" presStyleIdx="5" presStyleCnt="6">
        <dgm:presLayoutVars/>
      </dgm:prSet>
      <dgm:spPr/>
    </dgm:pt>
    <dgm:pt modelId="{689C4776-AE2C-46AC-82A2-8A7E536E1FEC}" type="pres">
      <dgm:prSet presAssocID="{625AF871-FB22-49CE-A164-176E60D71AF8}" presName="nodeText" presStyleLbl="bgAccFollowNode1" presStyleIdx="2" presStyleCnt="3">
        <dgm:presLayoutVars>
          <dgm:bulletEnabled val="1"/>
        </dgm:presLayoutVars>
      </dgm:prSet>
      <dgm:spPr/>
    </dgm:pt>
  </dgm:ptLst>
  <dgm:cxnLst>
    <dgm:cxn modelId="{5C839414-D006-4DE9-A967-C5AAC7429E5D}" type="presOf" srcId="{5701615C-D178-4349-B6BD-F2AC1FA89EA3}" destId="{D3A424C2-C39B-4AD0-BA31-9F94E7F58ACF}" srcOrd="0" destOrd="0" presId="urn:microsoft.com/office/officeart/2016/7/layout/BasicLinearProcessNumbered"/>
    <dgm:cxn modelId="{7BDF053C-14AE-4789-B68B-406E0FBF0C74}" type="presOf" srcId="{68D02D0A-E249-4208-A0F1-59F15517C906}" destId="{6E150EFA-127E-4BD3-BCAE-F380028B529B}" srcOrd="0" destOrd="0" presId="urn:microsoft.com/office/officeart/2016/7/layout/BasicLinearProcessNumbered"/>
    <dgm:cxn modelId="{23C3DC5D-047B-4089-9817-9A09692E3CD2}" type="presOf" srcId="{5701615C-D178-4349-B6BD-F2AC1FA89EA3}" destId="{F64F8031-5FD0-4E28-BC63-6FFACDF00C72}" srcOrd="1" destOrd="0" presId="urn:microsoft.com/office/officeart/2016/7/layout/BasicLinearProcessNumbered"/>
    <dgm:cxn modelId="{F1638047-57F7-412F-B747-5663C058E97D}" type="presOf" srcId="{625AF871-FB22-49CE-A164-176E60D71AF8}" destId="{7A79F4C3-018B-4413-AEFA-88FF4A9B98D5}" srcOrd="0" destOrd="0" presId="urn:microsoft.com/office/officeart/2016/7/layout/BasicLinearProcessNumbered"/>
    <dgm:cxn modelId="{CD355869-929B-4F8F-B735-8212CEA7A0CF}" type="presOf" srcId="{625AF871-FB22-49CE-A164-176E60D71AF8}" destId="{689C4776-AE2C-46AC-82A2-8A7E536E1FEC}" srcOrd="1" destOrd="0" presId="urn:microsoft.com/office/officeart/2016/7/layout/BasicLinearProcessNumbered"/>
    <dgm:cxn modelId="{9BBEF96A-3851-4B92-8069-AFC262E13FEF}" type="presOf" srcId="{D6383EC1-9DA2-446A-B1C8-569B310D8366}" destId="{82F5A555-E866-4DF3-BA0C-5CD41E99C9FE}" srcOrd="0" destOrd="0" presId="urn:microsoft.com/office/officeart/2016/7/layout/BasicLinearProcessNumbered"/>
    <dgm:cxn modelId="{E42A2F57-4390-47E4-AD97-88BC01CB8306}" type="presOf" srcId="{9E834147-4F96-4041-AB7C-7FC7128FD6D9}" destId="{CA9CED1C-886E-4E30-B2BD-A1476A221E5E}" srcOrd="1" destOrd="0" presId="urn:microsoft.com/office/officeart/2016/7/layout/BasicLinearProcessNumbered"/>
    <dgm:cxn modelId="{1D38F381-1300-4F9D-84A6-70A59B01433C}" srcId="{06E99D3A-CE82-478E-AB0A-A4654D3E99A0}" destId="{9E834147-4F96-4041-AB7C-7FC7128FD6D9}" srcOrd="0" destOrd="0" parTransId="{E8024116-3959-40DB-A20E-AC524E7E5460}" sibTransId="{D7C49E34-271D-470A-97A6-D2F114D3D78C}"/>
    <dgm:cxn modelId="{72FDFA87-0A84-4364-8B6E-456690EA1E20}" type="presOf" srcId="{06E99D3A-CE82-478E-AB0A-A4654D3E99A0}" destId="{BA8FECBB-4A60-4DE9-B914-7176679B3EA7}" srcOrd="0" destOrd="0" presId="urn:microsoft.com/office/officeart/2016/7/layout/BasicLinearProcessNumbered"/>
    <dgm:cxn modelId="{043C39A6-BC63-45BD-8235-98BD81E09693}" type="presOf" srcId="{9E834147-4F96-4041-AB7C-7FC7128FD6D9}" destId="{A795F122-1FAB-4101-94D1-2F7FC13352B5}" srcOrd="0" destOrd="0" presId="urn:microsoft.com/office/officeart/2016/7/layout/BasicLinearProcessNumbered"/>
    <dgm:cxn modelId="{772D3AB9-F1B6-4891-BD04-6548030CEF2E}" type="presOf" srcId="{D7C49E34-271D-470A-97A6-D2F114D3D78C}" destId="{0F43CCD6-F619-4344-B70B-AA9995DFA767}" srcOrd="0" destOrd="0" presId="urn:microsoft.com/office/officeart/2016/7/layout/BasicLinearProcessNumbered"/>
    <dgm:cxn modelId="{996F07EA-A2A7-4904-BF5A-5728B9D070B7}" srcId="{06E99D3A-CE82-478E-AB0A-A4654D3E99A0}" destId="{5701615C-D178-4349-B6BD-F2AC1FA89EA3}" srcOrd="1" destOrd="0" parTransId="{576537BD-B3D1-47BA-ABF6-9091AB97A748}" sibTransId="{68D02D0A-E249-4208-A0F1-59F15517C906}"/>
    <dgm:cxn modelId="{2BCDC1EE-EEB1-450D-94C7-B814C8AC1E37}" srcId="{06E99D3A-CE82-478E-AB0A-A4654D3E99A0}" destId="{625AF871-FB22-49CE-A164-176E60D71AF8}" srcOrd="2" destOrd="0" parTransId="{A9222F3C-B193-449F-9652-967759D3F67F}" sibTransId="{D6383EC1-9DA2-446A-B1C8-569B310D8366}"/>
    <dgm:cxn modelId="{3AC6356D-F849-4DE4-BA80-ABEF86FD0510}" type="presParOf" srcId="{BA8FECBB-4A60-4DE9-B914-7176679B3EA7}" destId="{CBDE4A20-47A4-4BDD-BB03-C6049089973F}" srcOrd="0" destOrd="0" presId="urn:microsoft.com/office/officeart/2016/7/layout/BasicLinearProcessNumbered"/>
    <dgm:cxn modelId="{86B1B577-5C3F-438C-BFEB-3ED39465569F}" type="presParOf" srcId="{CBDE4A20-47A4-4BDD-BB03-C6049089973F}" destId="{A795F122-1FAB-4101-94D1-2F7FC13352B5}" srcOrd="0" destOrd="0" presId="urn:microsoft.com/office/officeart/2016/7/layout/BasicLinearProcessNumbered"/>
    <dgm:cxn modelId="{BC6F5175-04DC-4F78-A13D-A21E52D254E6}" type="presParOf" srcId="{CBDE4A20-47A4-4BDD-BB03-C6049089973F}" destId="{0F43CCD6-F619-4344-B70B-AA9995DFA767}" srcOrd="1" destOrd="0" presId="urn:microsoft.com/office/officeart/2016/7/layout/BasicLinearProcessNumbered"/>
    <dgm:cxn modelId="{596156F2-8719-4982-A40E-ED5061232D11}" type="presParOf" srcId="{CBDE4A20-47A4-4BDD-BB03-C6049089973F}" destId="{C7A6D060-5741-469F-999A-D848453CA679}" srcOrd="2" destOrd="0" presId="urn:microsoft.com/office/officeart/2016/7/layout/BasicLinearProcessNumbered"/>
    <dgm:cxn modelId="{E35881F8-CD3A-47B8-8AD9-DEB61027E949}" type="presParOf" srcId="{CBDE4A20-47A4-4BDD-BB03-C6049089973F}" destId="{CA9CED1C-886E-4E30-B2BD-A1476A221E5E}" srcOrd="3" destOrd="0" presId="urn:microsoft.com/office/officeart/2016/7/layout/BasicLinearProcessNumbered"/>
    <dgm:cxn modelId="{AB3EE317-BC2F-43DD-B6CC-4B655E1675DF}" type="presParOf" srcId="{BA8FECBB-4A60-4DE9-B914-7176679B3EA7}" destId="{306261A0-6B81-4FEE-A28F-BB3CF810A3F0}" srcOrd="1" destOrd="0" presId="urn:microsoft.com/office/officeart/2016/7/layout/BasicLinearProcessNumbered"/>
    <dgm:cxn modelId="{32C8E5F1-0EA5-4FF7-A34F-9D2F91C266D7}" type="presParOf" srcId="{BA8FECBB-4A60-4DE9-B914-7176679B3EA7}" destId="{86F59CD0-57E8-4B19-AD91-8402318F56A7}" srcOrd="2" destOrd="0" presId="urn:microsoft.com/office/officeart/2016/7/layout/BasicLinearProcessNumbered"/>
    <dgm:cxn modelId="{C012293F-3D15-4398-93C8-50621A6B26BB}" type="presParOf" srcId="{86F59CD0-57E8-4B19-AD91-8402318F56A7}" destId="{D3A424C2-C39B-4AD0-BA31-9F94E7F58ACF}" srcOrd="0" destOrd="0" presId="urn:microsoft.com/office/officeart/2016/7/layout/BasicLinearProcessNumbered"/>
    <dgm:cxn modelId="{458BEFA8-6DBB-4F2F-8BFC-892CEE72FEA6}" type="presParOf" srcId="{86F59CD0-57E8-4B19-AD91-8402318F56A7}" destId="{6E150EFA-127E-4BD3-BCAE-F380028B529B}" srcOrd="1" destOrd="0" presId="urn:microsoft.com/office/officeart/2016/7/layout/BasicLinearProcessNumbered"/>
    <dgm:cxn modelId="{24A7CD13-FDF4-4004-9E5A-185566922259}" type="presParOf" srcId="{86F59CD0-57E8-4B19-AD91-8402318F56A7}" destId="{44710D4D-1336-434A-A695-96FF05F0201E}" srcOrd="2" destOrd="0" presId="urn:microsoft.com/office/officeart/2016/7/layout/BasicLinearProcessNumbered"/>
    <dgm:cxn modelId="{6EF640D8-9CEA-4E91-8823-53156800EE87}" type="presParOf" srcId="{86F59CD0-57E8-4B19-AD91-8402318F56A7}" destId="{F64F8031-5FD0-4E28-BC63-6FFACDF00C72}" srcOrd="3" destOrd="0" presId="urn:microsoft.com/office/officeart/2016/7/layout/BasicLinearProcessNumbered"/>
    <dgm:cxn modelId="{D676AA92-0C0D-4F9A-93DD-A47EE855256E}" type="presParOf" srcId="{BA8FECBB-4A60-4DE9-B914-7176679B3EA7}" destId="{B3EBF54E-E729-4EFC-9269-C78CABD62BC4}" srcOrd="3" destOrd="0" presId="urn:microsoft.com/office/officeart/2016/7/layout/BasicLinearProcessNumbered"/>
    <dgm:cxn modelId="{EB33B3D1-B830-4AD4-A39D-2AD0453A45CF}" type="presParOf" srcId="{BA8FECBB-4A60-4DE9-B914-7176679B3EA7}" destId="{4C76CCA3-C4C0-4330-B879-7DBAB112691D}" srcOrd="4" destOrd="0" presId="urn:microsoft.com/office/officeart/2016/7/layout/BasicLinearProcessNumbered"/>
    <dgm:cxn modelId="{36787FFD-D324-4261-8A60-1FB0D383F034}" type="presParOf" srcId="{4C76CCA3-C4C0-4330-B879-7DBAB112691D}" destId="{7A79F4C3-018B-4413-AEFA-88FF4A9B98D5}" srcOrd="0" destOrd="0" presId="urn:microsoft.com/office/officeart/2016/7/layout/BasicLinearProcessNumbered"/>
    <dgm:cxn modelId="{E1F5BB48-0FD1-4E55-8F07-CCE960AF4F31}" type="presParOf" srcId="{4C76CCA3-C4C0-4330-B879-7DBAB112691D}" destId="{82F5A555-E866-4DF3-BA0C-5CD41E99C9FE}" srcOrd="1" destOrd="0" presId="urn:microsoft.com/office/officeart/2016/7/layout/BasicLinearProcessNumbered"/>
    <dgm:cxn modelId="{16446859-57B3-43BC-ADC2-6C291CF274FA}" type="presParOf" srcId="{4C76CCA3-C4C0-4330-B879-7DBAB112691D}" destId="{97A5A839-5D78-408F-803C-40EE2629A630}" srcOrd="2" destOrd="0" presId="urn:microsoft.com/office/officeart/2016/7/layout/BasicLinearProcessNumbered"/>
    <dgm:cxn modelId="{D0F0D163-82BC-4B9D-8CDB-DF19BAC3A445}" type="presParOf" srcId="{4C76CCA3-C4C0-4330-B879-7DBAB112691D}" destId="{689C4776-AE2C-46AC-82A2-8A7E536E1FEC}" srcOrd="3" destOrd="0" presId="urn:microsoft.com/office/officeart/2016/7/layout/BasicLinear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43D4A-17DA-464E-9984-57149EA256D4}">
      <dsp:nvSpPr>
        <dsp:cNvPr id="0" name=""/>
        <dsp:cNvSpPr/>
      </dsp:nvSpPr>
      <dsp:spPr>
        <a:xfrm>
          <a:off x="0" y="190354"/>
          <a:ext cx="10515600" cy="11970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16127" tIns="208280"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Reduces the efficiency in multi-department collaborations.</a:t>
          </a:r>
        </a:p>
        <a:p>
          <a:pPr marL="171450" lvl="1" indent="-171450" algn="l" defTabSz="800100">
            <a:lnSpc>
              <a:spcPct val="90000"/>
            </a:lnSpc>
            <a:spcBef>
              <a:spcPct val="0"/>
            </a:spcBef>
            <a:spcAft>
              <a:spcPct val="15000"/>
            </a:spcAft>
            <a:buChar char="•"/>
          </a:pPr>
          <a:r>
            <a:rPr lang="en-US" sz="1800" kern="1200"/>
            <a:t>Causes delays in project timelines. </a:t>
          </a:r>
        </a:p>
        <a:p>
          <a:pPr marL="171450" lvl="1" indent="-171450" algn="l" defTabSz="800100">
            <a:lnSpc>
              <a:spcPct val="90000"/>
            </a:lnSpc>
            <a:spcBef>
              <a:spcPct val="0"/>
            </a:spcBef>
            <a:spcAft>
              <a:spcPct val="15000"/>
            </a:spcAft>
            <a:buChar char="•"/>
          </a:pPr>
          <a:r>
            <a:rPr lang="en-US" sz="1800" kern="1200"/>
            <a:t>Potential for data breaches and other security vulnerabilities.</a:t>
          </a:r>
        </a:p>
      </dsp:txBody>
      <dsp:txXfrm>
        <a:off x="0" y="190354"/>
        <a:ext cx="10515600" cy="1197000"/>
      </dsp:txXfrm>
    </dsp:sp>
    <dsp:sp modelId="{C1A62B2F-2D6F-4C55-9BC6-B05146310BD1}">
      <dsp:nvSpPr>
        <dsp:cNvPr id="0" name=""/>
        <dsp:cNvSpPr/>
      </dsp:nvSpPr>
      <dsp:spPr>
        <a:xfrm>
          <a:off x="525780" y="23299"/>
          <a:ext cx="7360920" cy="295200"/>
        </a:xfrm>
        <a:prstGeom prst="roundRect">
          <a:avLst/>
        </a:prstGeom>
        <a:solidFill>
          <a:schemeClr val="bg2">
            <a:lumMod val="90000"/>
            <a:lumOff val="1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dirty="0"/>
            <a:t>Lack of a standardized communication protocol. </a:t>
          </a:r>
        </a:p>
      </dsp:txBody>
      <dsp:txXfrm>
        <a:off x="540190" y="37709"/>
        <a:ext cx="7332100" cy="266380"/>
      </dsp:txXfrm>
    </dsp:sp>
    <dsp:sp modelId="{CBABD444-B147-4D9B-A272-7808B1F94585}">
      <dsp:nvSpPr>
        <dsp:cNvPr id="0" name=""/>
        <dsp:cNvSpPr/>
      </dsp:nvSpPr>
      <dsp:spPr>
        <a:xfrm>
          <a:off x="0" y="1588954"/>
          <a:ext cx="10515600" cy="11970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16127" tIns="208280"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Increases the operational costs.</a:t>
          </a:r>
        </a:p>
        <a:p>
          <a:pPr marL="171450" lvl="1" indent="-171450" algn="l" defTabSz="800100">
            <a:lnSpc>
              <a:spcPct val="90000"/>
            </a:lnSpc>
            <a:spcBef>
              <a:spcPct val="0"/>
            </a:spcBef>
            <a:spcAft>
              <a:spcPct val="15000"/>
            </a:spcAft>
            <a:buChar char="•"/>
          </a:pPr>
          <a:r>
            <a:rPr lang="en-US" sz="1800" kern="1200"/>
            <a:t>Creates headaches in data management and backing up of sensitive and important data.</a:t>
          </a:r>
        </a:p>
        <a:p>
          <a:pPr marL="171450" lvl="1" indent="-171450" algn="l" defTabSz="800100">
            <a:lnSpc>
              <a:spcPct val="90000"/>
            </a:lnSpc>
            <a:spcBef>
              <a:spcPct val="0"/>
            </a:spcBef>
            <a:spcAft>
              <a:spcPct val="15000"/>
            </a:spcAft>
            <a:buChar char="•"/>
          </a:pPr>
          <a:r>
            <a:rPr lang="en-US" sz="1800" kern="1200"/>
            <a:t>Causes inconsistencies in the data, leading to compliance concerns.</a:t>
          </a:r>
        </a:p>
      </dsp:txBody>
      <dsp:txXfrm>
        <a:off x="0" y="1588954"/>
        <a:ext cx="10515600" cy="1197000"/>
      </dsp:txXfrm>
    </dsp:sp>
    <dsp:sp modelId="{2802DA05-0C43-48FB-ACD4-D081A677641D}">
      <dsp:nvSpPr>
        <dsp:cNvPr id="0" name=""/>
        <dsp:cNvSpPr/>
      </dsp:nvSpPr>
      <dsp:spPr>
        <a:xfrm>
          <a:off x="525780" y="1421899"/>
          <a:ext cx="7360920" cy="295200"/>
        </a:xfrm>
        <a:prstGeom prst="roundRect">
          <a:avLst/>
        </a:prstGeom>
        <a:solidFill>
          <a:schemeClr val="bg2">
            <a:lumMod val="90000"/>
            <a:lumOff val="1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Currently deploy independent data storage across divisions.</a:t>
          </a:r>
        </a:p>
      </dsp:txBody>
      <dsp:txXfrm>
        <a:off x="540190" y="1436309"/>
        <a:ext cx="7332100" cy="266380"/>
      </dsp:txXfrm>
    </dsp:sp>
    <dsp:sp modelId="{692426E2-D491-4B77-A6DC-F67A4A27088C}">
      <dsp:nvSpPr>
        <dsp:cNvPr id="0" name=""/>
        <dsp:cNvSpPr/>
      </dsp:nvSpPr>
      <dsp:spPr>
        <a:xfrm>
          <a:off x="0" y="2987554"/>
          <a:ext cx="10515600" cy="2520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2">
          <a:scrgbClr r="0" g="0" b="0"/>
        </a:effectRef>
        <a:fontRef idx="minor"/>
      </dsp:style>
    </dsp:sp>
    <dsp:sp modelId="{D64CAE2F-EBA1-4BE3-8270-1644C5760D7E}">
      <dsp:nvSpPr>
        <dsp:cNvPr id="0" name=""/>
        <dsp:cNvSpPr/>
      </dsp:nvSpPr>
      <dsp:spPr>
        <a:xfrm>
          <a:off x="525780" y="2820499"/>
          <a:ext cx="7360920" cy="295200"/>
        </a:xfrm>
        <a:prstGeom prst="roundRect">
          <a:avLst/>
        </a:prstGeom>
        <a:solidFill>
          <a:schemeClr val="bg2">
            <a:lumMod val="90000"/>
            <a:lumOff val="1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Outdated software systems and infrastructure.</a:t>
          </a:r>
        </a:p>
      </dsp:txBody>
      <dsp:txXfrm>
        <a:off x="540190" y="2834909"/>
        <a:ext cx="7332100" cy="266380"/>
      </dsp:txXfrm>
    </dsp:sp>
    <dsp:sp modelId="{9BC67C97-FA37-4976-8A69-CB7DC8DFD1D2}">
      <dsp:nvSpPr>
        <dsp:cNvPr id="0" name=""/>
        <dsp:cNvSpPr/>
      </dsp:nvSpPr>
      <dsp:spPr>
        <a:xfrm>
          <a:off x="0" y="3441154"/>
          <a:ext cx="10515600" cy="2520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2">
          <a:scrgbClr r="0" g="0" b="0"/>
        </a:effectRef>
        <a:fontRef idx="minor"/>
      </dsp:style>
    </dsp:sp>
    <dsp:sp modelId="{58052231-074E-4D4B-9C09-D33973C59A9A}">
      <dsp:nvSpPr>
        <dsp:cNvPr id="0" name=""/>
        <dsp:cNvSpPr/>
      </dsp:nvSpPr>
      <dsp:spPr>
        <a:xfrm>
          <a:off x="525780" y="3274099"/>
          <a:ext cx="7360920" cy="295200"/>
        </a:xfrm>
        <a:prstGeom prst="roundRect">
          <a:avLst/>
        </a:prstGeom>
        <a:solidFill>
          <a:schemeClr val="bg2">
            <a:lumMod val="90000"/>
            <a:lumOff val="1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Limited scalability in operations.</a:t>
          </a:r>
        </a:p>
      </dsp:txBody>
      <dsp:txXfrm>
        <a:off x="540190" y="3288509"/>
        <a:ext cx="7332100" cy="266380"/>
      </dsp:txXfrm>
    </dsp:sp>
    <dsp:sp modelId="{44B9C7D8-DB42-4983-8D91-3C163B693CC7}">
      <dsp:nvSpPr>
        <dsp:cNvPr id="0" name=""/>
        <dsp:cNvSpPr/>
      </dsp:nvSpPr>
      <dsp:spPr>
        <a:xfrm>
          <a:off x="0" y="3894754"/>
          <a:ext cx="10515600" cy="2520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2">
          <a:scrgbClr r="0" g="0" b="0"/>
        </a:effectRef>
        <a:fontRef idx="minor"/>
      </dsp:style>
    </dsp:sp>
    <dsp:sp modelId="{7A0D9498-7321-49A1-86B2-F034718302E7}">
      <dsp:nvSpPr>
        <dsp:cNvPr id="0" name=""/>
        <dsp:cNvSpPr/>
      </dsp:nvSpPr>
      <dsp:spPr>
        <a:xfrm>
          <a:off x="525780" y="3727699"/>
          <a:ext cx="7360920" cy="295200"/>
        </a:xfrm>
        <a:prstGeom prst="roundRect">
          <a:avLst/>
        </a:prstGeom>
        <a:solidFill>
          <a:schemeClr val="bg2">
            <a:lumMod val="90000"/>
            <a:lumOff val="1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Wasteful expenditures in all facets of the business.</a:t>
          </a:r>
        </a:p>
      </dsp:txBody>
      <dsp:txXfrm>
        <a:off x="540190" y="3742109"/>
        <a:ext cx="7332100" cy="266380"/>
      </dsp:txXfrm>
    </dsp:sp>
    <dsp:sp modelId="{F6059A5F-1069-4A5D-AC52-94BB76B92C8F}">
      <dsp:nvSpPr>
        <dsp:cNvPr id="0" name=""/>
        <dsp:cNvSpPr/>
      </dsp:nvSpPr>
      <dsp:spPr>
        <a:xfrm>
          <a:off x="0" y="4495737"/>
          <a:ext cx="10515600" cy="896026"/>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16127" tIns="208280"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High costs associated with these data transfers.</a:t>
          </a:r>
        </a:p>
        <a:p>
          <a:pPr marL="171450" lvl="1" indent="-171450" algn="l" defTabSz="800100">
            <a:lnSpc>
              <a:spcPct val="90000"/>
            </a:lnSpc>
            <a:spcBef>
              <a:spcPct val="0"/>
            </a:spcBef>
            <a:spcAft>
              <a:spcPct val="15000"/>
            </a:spcAft>
            <a:buChar char="•"/>
          </a:pPr>
          <a:r>
            <a:rPr lang="en-US" sz="1800" kern="1200"/>
            <a:t>No clear data recovery plan (DRP).</a:t>
          </a:r>
        </a:p>
      </dsp:txBody>
      <dsp:txXfrm>
        <a:off x="0" y="4495737"/>
        <a:ext cx="10515600" cy="896026"/>
      </dsp:txXfrm>
    </dsp:sp>
    <dsp:sp modelId="{172F0C54-A482-4CC0-B7E3-EFEA5222FCFD}">
      <dsp:nvSpPr>
        <dsp:cNvPr id="0" name=""/>
        <dsp:cNvSpPr/>
      </dsp:nvSpPr>
      <dsp:spPr>
        <a:xfrm>
          <a:off x="525780" y="4181299"/>
          <a:ext cx="7360920" cy="462038"/>
        </a:xfrm>
        <a:prstGeom prst="roundRect">
          <a:avLst/>
        </a:prstGeom>
        <a:solidFill>
          <a:schemeClr val="bg2">
            <a:lumMod val="90000"/>
            <a:lumOff val="1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dirty="0"/>
            <a:t>Data transfer times are very slow, causing bottlenecks in various processes.</a:t>
          </a:r>
        </a:p>
      </dsp:txBody>
      <dsp:txXfrm>
        <a:off x="548335" y="4203854"/>
        <a:ext cx="7315810" cy="4169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3ACC5-5593-41F7-BE88-1E9AD9618AC0}">
      <dsp:nvSpPr>
        <dsp:cNvPr id="0" name=""/>
        <dsp:cNvSpPr/>
      </dsp:nvSpPr>
      <dsp:spPr>
        <a:xfrm>
          <a:off x="0" y="0"/>
          <a:ext cx="10363200" cy="3086099"/>
        </a:xfrm>
        <a:prstGeom prst="roundRect">
          <a:avLst>
            <a:gd name="adj" fmla="val 10000"/>
          </a:avLst>
        </a:prstGeom>
        <a:solidFill>
          <a:schemeClr val="tx1">
            <a:alpha val="7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u="sng" kern="1200" dirty="0">
              <a:solidFill>
                <a:sysClr val="windowText" lastClr="000000"/>
              </a:solidFill>
            </a:rPr>
            <a:t>Current State</a:t>
          </a:r>
        </a:p>
        <a:p>
          <a:pPr marL="171450" lvl="1" indent="-171450" algn="l" defTabSz="800100">
            <a:lnSpc>
              <a:spcPct val="90000"/>
            </a:lnSpc>
            <a:spcBef>
              <a:spcPct val="0"/>
            </a:spcBef>
            <a:spcAft>
              <a:spcPct val="15000"/>
            </a:spcAft>
            <a:buChar char="•"/>
          </a:pPr>
          <a:r>
            <a:rPr lang="en-US" sz="1800" kern="1200" dirty="0">
              <a:solidFill>
                <a:sysClr val="windowText" lastClr="000000"/>
              </a:solidFill>
            </a:rPr>
            <a:t>Integration between the three main divisions is very limited.</a:t>
          </a:r>
        </a:p>
        <a:p>
          <a:pPr marL="171450" lvl="1" indent="-171450" algn="l" defTabSz="800100">
            <a:lnSpc>
              <a:spcPct val="90000"/>
            </a:lnSpc>
            <a:spcBef>
              <a:spcPct val="0"/>
            </a:spcBef>
            <a:spcAft>
              <a:spcPct val="15000"/>
            </a:spcAft>
            <a:buChar char="•"/>
          </a:pPr>
          <a:r>
            <a:rPr lang="en-US" sz="1800" kern="1200" dirty="0">
              <a:solidFill>
                <a:sysClr val="windowText" lastClr="000000"/>
              </a:solidFill>
            </a:rPr>
            <a:t>Each division operates with legacy and cloud services, creating additional work to move data between the systems. </a:t>
          </a:r>
        </a:p>
        <a:p>
          <a:pPr marL="171450" lvl="1" indent="-171450" algn="l" defTabSz="800100">
            <a:lnSpc>
              <a:spcPct val="90000"/>
            </a:lnSpc>
            <a:spcBef>
              <a:spcPct val="0"/>
            </a:spcBef>
            <a:spcAft>
              <a:spcPct val="15000"/>
            </a:spcAft>
            <a:buChar char="•"/>
          </a:pPr>
          <a:r>
            <a:rPr lang="en-US" sz="1800" kern="1200" dirty="0">
              <a:solidFill>
                <a:sysClr val="windowText" lastClr="000000"/>
              </a:solidFill>
            </a:rPr>
            <a:t>Security is not consistent across divisions, creating potential gaps and compliance issues.</a:t>
          </a:r>
        </a:p>
        <a:p>
          <a:pPr marL="171450" lvl="1" indent="-171450" algn="l" defTabSz="800100">
            <a:lnSpc>
              <a:spcPct val="90000"/>
            </a:lnSpc>
            <a:spcBef>
              <a:spcPct val="0"/>
            </a:spcBef>
            <a:spcAft>
              <a:spcPct val="15000"/>
            </a:spcAft>
            <a:buChar char="•"/>
          </a:pPr>
          <a:r>
            <a:rPr lang="en-US" sz="1800" kern="1200" dirty="0">
              <a:solidFill>
                <a:sysClr val="windowText" lastClr="000000"/>
              </a:solidFill>
            </a:rPr>
            <a:t>Legacy storage solutions do not provide the scalability needed for growth.</a:t>
          </a:r>
        </a:p>
      </dsp:txBody>
      <dsp:txXfrm>
        <a:off x="90389" y="90389"/>
        <a:ext cx="7173474" cy="2905321"/>
      </dsp:txXfrm>
    </dsp:sp>
    <dsp:sp modelId="{22333FFE-3DAE-4664-A54A-2BB08834B86A}">
      <dsp:nvSpPr>
        <dsp:cNvPr id="0" name=""/>
        <dsp:cNvSpPr/>
      </dsp:nvSpPr>
      <dsp:spPr>
        <a:xfrm>
          <a:off x="1828799" y="3771899"/>
          <a:ext cx="10363200" cy="3086099"/>
        </a:xfrm>
        <a:prstGeom prst="roundRect">
          <a:avLst>
            <a:gd name="adj" fmla="val 10000"/>
          </a:avLst>
        </a:prstGeom>
        <a:solidFill>
          <a:schemeClr val="tx1">
            <a:alpha val="7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u="sng" kern="1200" dirty="0">
              <a:solidFill>
                <a:sysClr val="windowText" lastClr="000000"/>
              </a:solidFill>
            </a:rPr>
            <a:t>Future State</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Creating a unified and modern API strategy for all divisions.</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Creating a governance framework for all divisions to operate under.</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Update legacy systems to modern technology under a phased approach to mitigate associated risks.</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Consolidation of database systems to ensure better allocation of resources.</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Increases security profile by managing access to one system instead of many.</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Creating scalable systems to ensure proper growth.</a:t>
          </a:r>
        </a:p>
        <a:p>
          <a:pPr marL="171450" lvl="1" indent="-171450" algn="l" defTabSz="711200">
            <a:lnSpc>
              <a:spcPct val="90000"/>
            </a:lnSpc>
            <a:spcBef>
              <a:spcPct val="0"/>
            </a:spcBef>
            <a:spcAft>
              <a:spcPct val="15000"/>
            </a:spcAft>
            <a:buChar char="•"/>
          </a:pPr>
          <a:r>
            <a:rPr lang="en-US" sz="1600" kern="1200" dirty="0">
              <a:solidFill>
                <a:sysClr val="windowText" lastClr="000000"/>
              </a:solidFill>
            </a:rPr>
            <a:t>Creating a security framework for all divisions to operate under.</a:t>
          </a:r>
        </a:p>
      </dsp:txBody>
      <dsp:txXfrm>
        <a:off x="1919188" y="3862288"/>
        <a:ext cx="6347657" cy="2905321"/>
      </dsp:txXfrm>
    </dsp:sp>
    <dsp:sp modelId="{3A1EC584-A633-40A4-AC38-862AC13A0D60}">
      <dsp:nvSpPr>
        <dsp:cNvPr id="0" name=""/>
        <dsp:cNvSpPr/>
      </dsp:nvSpPr>
      <dsp:spPr>
        <a:xfrm>
          <a:off x="8357235" y="2426017"/>
          <a:ext cx="2005964" cy="2005964"/>
        </a:xfrm>
        <a:prstGeom prst="downArrow">
          <a:avLst>
            <a:gd name="adj1" fmla="val 55000"/>
            <a:gd name="adj2" fmla="val 45000"/>
          </a:avLst>
        </a:prstGeom>
        <a:solidFill>
          <a:schemeClr val="tx1">
            <a:alpha val="95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808577" y="2426017"/>
        <a:ext cx="1103280" cy="15094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12094F-C43B-4013-9C15-73C30CF93563}">
      <dsp:nvSpPr>
        <dsp:cNvPr id="0" name=""/>
        <dsp:cNvSpPr/>
      </dsp:nvSpPr>
      <dsp:spPr>
        <a:xfrm>
          <a:off x="0" y="1805"/>
          <a:ext cx="10515600" cy="915310"/>
        </a:xfrm>
        <a:prstGeom prst="roundRect">
          <a:avLst>
            <a:gd name="adj" fmla="val 10000"/>
          </a:avLst>
        </a:prstGeom>
        <a:solidFill>
          <a:schemeClr val="tx1">
            <a:alpha val="70000"/>
          </a:schemeClr>
        </a:solidFill>
        <a:ln>
          <a:noFill/>
        </a:ln>
        <a:effectLst/>
      </dsp:spPr>
      <dsp:style>
        <a:lnRef idx="0">
          <a:scrgbClr r="0" g="0" b="0"/>
        </a:lnRef>
        <a:fillRef idx="1">
          <a:scrgbClr r="0" g="0" b="0"/>
        </a:fillRef>
        <a:effectRef idx="0">
          <a:scrgbClr r="0" g="0" b="0"/>
        </a:effectRef>
        <a:fontRef idx="minor"/>
      </dsp:style>
    </dsp:sp>
    <dsp:sp modelId="{088FD6CF-5089-4BB6-9F18-2F69EEAF8C00}">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1E8AB8-5068-4ED8-836F-154D1615687E}">
      <dsp:nvSpPr>
        <dsp:cNvPr id="0" name=""/>
        <dsp:cNvSpPr/>
      </dsp:nvSpPr>
      <dsp:spPr>
        <a:xfrm>
          <a:off x="1057183" y="1805"/>
          <a:ext cx="9458416" cy="915310"/>
        </a:xfrm>
        <a:prstGeom prst="rect">
          <a:avLst/>
        </a:prstGeom>
        <a:solidFill>
          <a:schemeClr val="tx1">
            <a:alpha val="70000"/>
          </a:schemeClr>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ysClr val="windowText" lastClr="000000"/>
              </a:solidFill>
            </a:rPr>
            <a:t>Allows the company to align its IT infrastructure with its business goals.</a:t>
          </a:r>
        </a:p>
      </dsp:txBody>
      <dsp:txXfrm>
        <a:off x="1057183" y="1805"/>
        <a:ext cx="9458416" cy="915310"/>
      </dsp:txXfrm>
    </dsp:sp>
    <dsp:sp modelId="{1ADCB3FD-47AB-44A7-86B1-55516F000F78}">
      <dsp:nvSpPr>
        <dsp:cNvPr id="0" name=""/>
        <dsp:cNvSpPr/>
      </dsp:nvSpPr>
      <dsp:spPr>
        <a:xfrm>
          <a:off x="0" y="1145724"/>
          <a:ext cx="10515600" cy="915310"/>
        </a:xfrm>
        <a:prstGeom prst="roundRect">
          <a:avLst>
            <a:gd name="adj" fmla="val 10000"/>
          </a:avLst>
        </a:prstGeom>
        <a:solidFill>
          <a:schemeClr val="tx1">
            <a:alpha val="70000"/>
          </a:schemeClr>
        </a:solidFill>
        <a:ln>
          <a:solidFill>
            <a:schemeClr val="bg1"/>
          </a:solidFill>
        </a:ln>
        <a:effectLst/>
      </dsp:spPr>
      <dsp:style>
        <a:lnRef idx="0">
          <a:scrgbClr r="0" g="0" b="0"/>
        </a:lnRef>
        <a:fillRef idx="1">
          <a:scrgbClr r="0" g="0" b="0"/>
        </a:fillRef>
        <a:effectRef idx="0">
          <a:scrgbClr r="0" g="0" b="0"/>
        </a:effectRef>
        <a:fontRef idx="minor"/>
      </dsp:style>
    </dsp:sp>
    <dsp:sp modelId="{500D7FA7-A795-467C-9719-B4FD5ED93ECD}">
      <dsp:nvSpPr>
        <dsp:cNvPr id="0" name=""/>
        <dsp:cNvSpPr/>
      </dsp:nvSpPr>
      <dsp:spPr>
        <a:xfrm>
          <a:off x="276881" y="1351889"/>
          <a:ext cx="503420" cy="50342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D3B4AB-5F91-4D3C-9B2E-EDED3853A5B9}">
      <dsp:nvSpPr>
        <dsp:cNvPr id="0" name=""/>
        <dsp:cNvSpPr/>
      </dsp:nvSpPr>
      <dsp:spPr>
        <a:xfrm>
          <a:off x="1057183" y="1145944"/>
          <a:ext cx="9458416" cy="915310"/>
        </a:xfrm>
        <a:prstGeom prst="rect">
          <a:avLst/>
        </a:prstGeom>
        <a:solidFill>
          <a:schemeClr val="tx1">
            <a:alpha val="70000"/>
          </a:schemeClr>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ysClr val="windowText" lastClr="000000"/>
              </a:solidFill>
            </a:rPr>
            <a:t>Determine what systems and areas are at risk.</a:t>
          </a:r>
        </a:p>
      </dsp:txBody>
      <dsp:txXfrm>
        <a:off x="1057183" y="1145944"/>
        <a:ext cx="9458416" cy="915310"/>
      </dsp:txXfrm>
    </dsp:sp>
    <dsp:sp modelId="{EAEEECE6-756C-461E-93A5-D8508D5795FF}">
      <dsp:nvSpPr>
        <dsp:cNvPr id="0" name=""/>
        <dsp:cNvSpPr/>
      </dsp:nvSpPr>
      <dsp:spPr>
        <a:xfrm>
          <a:off x="0" y="2290082"/>
          <a:ext cx="10515600" cy="915310"/>
        </a:xfrm>
        <a:prstGeom prst="roundRect">
          <a:avLst>
            <a:gd name="adj" fmla="val 10000"/>
          </a:avLst>
        </a:prstGeom>
        <a:solidFill>
          <a:schemeClr val="tx1">
            <a:alpha val="70000"/>
          </a:schemeClr>
        </a:solidFill>
        <a:ln>
          <a:noFill/>
        </a:ln>
        <a:effectLst/>
      </dsp:spPr>
      <dsp:style>
        <a:lnRef idx="0">
          <a:scrgbClr r="0" g="0" b="0"/>
        </a:lnRef>
        <a:fillRef idx="1">
          <a:scrgbClr r="0" g="0" b="0"/>
        </a:fillRef>
        <a:effectRef idx="0">
          <a:scrgbClr r="0" g="0" b="0"/>
        </a:effectRef>
        <a:fontRef idx="minor"/>
      </dsp:style>
    </dsp:sp>
    <dsp:sp modelId="{AD0E08AC-E9D2-45BC-A80C-C423E7323216}">
      <dsp:nvSpPr>
        <dsp:cNvPr id="0" name=""/>
        <dsp:cNvSpPr/>
      </dsp:nvSpPr>
      <dsp:spPr>
        <a:xfrm>
          <a:off x="276881" y="2496027"/>
          <a:ext cx="503420" cy="50342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C92C65-E307-42F2-8764-969A16A7C714}">
      <dsp:nvSpPr>
        <dsp:cNvPr id="0" name=""/>
        <dsp:cNvSpPr/>
      </dsp:nvSpPr>
      <dsp:spPr>
        <a:xfrm>
          <a:off x="1057183" y="2290082"/>
          <a:ext cx="4732020" cy="915310"/>
        </a:xfrm>
        <a:prstGeom prst="rect">
          <a:avLst/>
        </a:prstGeom>
        <a:solidFill>
          <a:schemeClr val="tx1">
            <a:alpha val="70000"/>
          </a:schemeClr>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ysClr val="windowText" lastClr="000000"/>
              </a:solidFill>
            </a:rPr>
            <a:t>Integrate systems across departments.</a:t>
          </a:r>
        </a:p>
      </dsp:txBody>
      <dsp:txXfrm>
        <a:off x="1057183" y="2290082"/>
        <a:ext cx="4732020" cy="915310"/>
      </dsp:txXfrm>
    </dsp:sp>
    <dsp:sp modelId="{2544BE09-FB3D-4400-BB33-98DAE97402CB}">
      <dsp:nvSpPr>
        <dsp:cNvPr id="0" name=""/>
        <dsp:cNvSpPr/>
      </dsp:nvSpPr>
      <dsp:spPr>
        <a:xfrm>
          <a:off x="5789203" y="2290082"/>
          <a:ext cx="4726396" cy="915310"/>
        </a:xfrm>
        <a:prstGeom prst="rect">
          <a:avLst/>
        </a:prstGeom>
        <a:solidFill>
          <a:schemeClr val="tx1">
            <a:alpha val="70000"/>
          </a:schemeClr>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US" sz="1600" kern="1200" dirty="0">
              <a:solidFill>
                <a:sysClr val="windowText" lastClr="000000"/>
              </a:solidFill>
            </a:rPr>
            <a:t>Reduces training and redundancy.</a:t>
          </a:r>
        </a:p>
      </dsp:txBody>
      <dsp:txXfrm>
        <a:off x="5789203" y="2290082"/>
        <a:ext cx="4726396" cy="915310"/>
      </dsp:txXfrm>
    </dsp:sp>
    <dsp:sp modelId="{53F1F0C6-A633-4B95-A731-74DE6A888E69}">
      <dsp:nvSpPr>
        <dsp:cNvPr id="0" name=""/>
        <dsp:cNvSpPr/>
      </dsp:nvSpPr>
      <dsp:spPr>
        <a:xfrm>
          <a:off x="0" y="3434221"/>
          <a:ext cx="10515600" cy="915310"/>
        </a:xfrm>
        <a:prstGeom prst="roundRect">
          <a:avLst>
            <a:gd name="adj" fmla="val 10000"/>
          </a:avLst>
        </a:prstGeom>
        <a:solidFill>
          <a:schemeClr val="tx1">
            <a:alpha val="70000"/>
          </a:schemeClr>
        </a:solidFill>
        <a:ln>
          <a:solidFill>
            <a:schemeClr val="bg1"/>
          </a:solidFill>
        </a:ln>
        <a:effectLst/>
      </dsp:spPr>
      <dsp:style>
        <a:lnRef idx="0">
          <a:scrgbClr r="0" g="0" b="0"/>
        </a:lnRef>
        <a:fillRef idx="1">
          <a:scrgbClr r="0" g="0" b="0"/>
        </a:fillRef>
        <a:effectRef idx="0">
          <a:scrgbClr r="0" g="0" b="0"/>
        </a:effectRef>
        <a:fontRef idx="minor"/>
      </dsp:style>
    </dsp:sp>
    <dsp:sp modelId="{6FEABEF9-A3FF-4015-9A80-A9C1473C1EA7}">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BFA8FB-6DC9-4103-9101-F3800DA4288D}">
      <dsp:nvSpPr>
        <dsp:cNvPr id="0" name=""/>
        <dsp:cNvSpPr/>
      </dsp:nvSpPr>
      <dsp:spPr>
        <a:xfrm>
          <a:off x="1057183" y="3434221"/>
          <a:ext cx="4732020" cy="915310"/>
        </a:xfrm>
        <a:prstGeom prst="rect">
          <a:avLst/>
        </a:prstGeom>
        <a:solidFill>
          <a:schemeClr val="tx1">
            <a:alpha val="70000"/>
          </a:schemeClr>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ysClr val="windowText" lastClr="000000"/>
              </a:solidFill>
            </a:rPr>
            <a:t>Creates a foundation that utilizes data effectively.</a:t>
          </a:r>
        </a:p>
      </dsp:txBody>
      <dsp:txXfrm>
        <a:off x="1057183" y="3434221"/>
        <a:ext cx="4732020" cy="915310"/>
      </dsp:txXfrm>
    </dsp:sp>
    <dsp:sp modelId="{1D17AFCB-91F1-441C-A25C-6426FCA7741C}">
      <dsp:nvSpPr>
        <dsp:cNvPr id="0" name=""/>
        <dsp:cNvSpPr/>
      </dsp:nvSpPr>
      <dsp:spPr>
        <a:xfrm>
          <a:off x="5789203" y="3434221"/>
          <a:ext cx="4726396" cy="915310"/>
        </a:xfrm>
        <a:prstGeom prst="rect">
          <a:avLst/>
        </a:prstGeom>
        <a:solidFill>
          <a:schemeClr val="tx1">
            <a:alpha val="70000"/>
          </a:schemeClr>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US" sz="1600" kern="1200" dirty="0">
              <a:solidFill>
                <a:sysClr val="windowText" lastClr="000000"/>
              </a:solidFill>
            </a:rPr>
            <a:t>Continued growth, scalability, and adaptability of the business. </a:t>
          </a:r>
        </a:p>
      </dsp:txBody>
      <dsp:txXfrm>
        <a:off x="5789203" y="3434221"/>
        <a:ext cx="4726396" cy="915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9B80E-E175-47C0-8BA6-6D94102820A1}">
      <dsp:nvSpPr>
        <dsp:cNvPr id="0" name=""/>
        <dsp:cNvSpPr/>
      </dsp:nvSpPr>
      <dsp:spPr>
        <a:xfrm>
          <a:off x="823166" y="540870"/>
          <a:ext cx="3611467" cy="3611467"/>
        </a:xfrm>
        <a:prstGeom prst="blockArc">
          <a:avLst>
            <a:gd name="adj1" fmla="val 9000000"/>
            <a:gd name="adj2" fmla="val 16200000"/>
            <a:gd name="adj3" fmla="val 4643"/>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BDFA0ED-0132-4332-8B29-D93FE2731793}">
      <dsp:nvSpPr>
        <dsp:cNvPr id="0" name=""/>
        <dsp:cNvSpPr/>
      </dsp:nvSpPr>
      <dsp:spPr>
        <a:xfrm>
          <a:off x="823166" y="540870"/>
          <a:ext cx="3611467" cy="3611467"/>
        </a:xfrm>
        <a:prstGeom prst="blockArc">
          <a:avLst>
            <a:gd name="adj1" fmla="val 1800000"/>
            <a:gd name="adj2" fmla="val 9000000"/>
            <a:gd name="adj3" fmla="val 4643"/>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E26BE4-5B8A-4BDA-BA6D-36468EEB6420}">
      <dsp:nvSpPr>
        <dsp:cNvPr id="0" name=""/>
        <dsp:cNvSpPr/>
      </dsp:nvSpPr>
      <dsp:spPr>
        <a:xfrm>
          <a:off x="823166" y="540870"/>
          <a:ext cx="3611467" cy="3611467"/>
        </a:xfrm>
        <a:prstGeom prst="blockArc">
          <a:avLst>
            <a:gd name="adj1" fmla="val 16200000"/>
            <a:gd name="adj2" fmla="val 1800000"/>
            <a:gd name="adj3" fmla="val 4643"/>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D6C4DCA-7425-43C7-9141-EFFF5767A104}">
      <dsp:nvSpPr>
        <dsp:cNvPr id="0" name=""/>
        <dsp:cNvSpPr/>
      </dsp:nvSpPr>
      <dsp:spPr>
        <a:xfrm>
          <a:off x="1797099" y="1514804"/>
          <a:ext cx="1663600" cy="166360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Predictive Modeling</a:t>
          </a:r>
        </a:p>
      </dsp:txBody>
      <dsp:txXfrm>
        <a:off x="2040728" y="1758433"/>
        <a:ext cx="1176342" cy="1176342"/>
      </dsp:txXfrm>
    </dsp:sp>
    <dsp:sp modelId="{FC6230B8-A438-4D3C-BCE9-F2857E428C37}">
      <dsp:nvSpPr>
        <dsp:cNvPr id="0" name=""/>
        <dsp:cNvSpPr/>
      </dsp:nvSpPr>
      <dsp:spPr>
        <a:xfrm>
          <a:off x="2046639" y="533"/>
          <a:ext cx="1164520" cy="116452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Model Predictive Control Framework</a:t>
          </a:r>
        </a:p>
      </dsp:txBody>
      <dsp:txXfrm>
        <a:off x="2217179" y="171073"/>
        <a:ext cx="823440" cy="823440"/>
      </dsp:txXfrm>
    </dsp:sp>
    <dsp:sp modelId="{43CE6A6D-B779-4E3A-92F0-E9BBA266CB64}">
      <dsp:nvSpPr>
        <dsp:cNvPr id="0" name=""/>
        <dsp:cNvSpPr/>
      </dsp:nvSpPr>
      <dsp:spPr>
        <a:xfrm>
          <a:off x="3574144" y="2646250"/>
          <a:ext cx="1164520" cy="116452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Time Series Forecasting</a:t>
          </a:r>
        </a:p>
      </dsp:txBody>
      <dsp:txXfrm>
        <a:off x="3744684" y="2816790"/>
        <a:ext cx="823440" cy="823440"/>
      </dsp:txXfrm>
    </dsp:sp>
    <dsp:sp modelId="{5BC1454B-5167-4D16-9DFF-C3AACAF67726}">
      <dsp:nvSpPr>
        <dsp:cNvPr id="0" name=""/>
        <dsp:cNvSpPr/>
      </dsp:nvSpPr>
      <dsp:spPr>
        <a:xfrm>
          <a:off x="519134" y="2646250"/>
          <a:ext cx="1164520" cy="116452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Machine Learning Anomaly Detection</a:t>
          </a:r>
        </a:p>
      </dsp:txBody>
      <dsp:txXfrm>
        <a:off x="689674" y="2816790"/>
        <a:ext cx="823440" cy="8234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5F122-1FAB-4101-94D1-2F7FC13352B5}">
      <dsp:nvSpPr>
        <dsp:cNvPr id="0" name=""/>
        <dsp:cNvSpPr/>
      </dsp:nvSpPr>
      <dsp:spPr>
        <a:xfrm>
          <a:off x="0" y="0"/>
          <a:ext cx="3286125" cy="4351338"/>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022350">
            <a:lnSpc>
              <a:spcPct val="90000"/>
            </a:lnSpc>
            <a:spcBef>
              <a:spcPct val="0"/>
            </a:spcBef>
            <a:spcAft>
              <a:spcPct val="35000"/>
            </a:spcAft>
            <a:buNone/>
          </a:pPr>
          <a:r>
            <a:rPr lang="en-US" sz="2300" kern="1200"/>
            <a:t>Create a phased integration and migration plan for transition from legacy to cloud systems.</a:t>
          </a:r>
        </a:p>
      </dsp:txBody>
      <dsp:txXfrm>
        <a:off x="0" y="1653508"/>
        <a:ext cx="3286125" cy="2610802"/>
      </dsp:txXfrm>
    </dsp:sp>
    <dsp:sp modelId="{0F43CCD6-F619-4344-B70B-AA9995DFA767}">
      <dsp:nvSpPr>
        <dsp:cNvPr id="0" name=""/>
        <dsp:cNvSpPr/>
      </dsp:nvSpPr>
      <dsp:spPr>
        <a:xfrm>
          <a:off x="990361" y="435133"/>
          <a:ext cx="1305401" cy="1305401"/>
        </a:xfrm>
        <a:prstGeom prst="ellips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81533" y="626305"/>
        <a:ext cx="923057" cy="923057"/>
      </dsp:txXfrm>
    </dsp:sp>
    <dsp:sp modelId="{C7A6D060-5741-469F-999A-D848453CA679}">
      <dsp:nvSpPr>
        <dsp:cNvPr id="0" name=""/>
        <dsp:cNvSpPr/>
      </dsp:nvSpPr>
      <dsp:spPr>
        <a:xfrm>
          <a:off x="0" y="4351266"/>
          <a:ext cx="3286125" cy="7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3A424C2-C39B-4AD0-BA31-9F94E7F58ACF}">
      <dsp:nvSpPr>
        <dsp:cNvPr id="0" name=""/>
        <dsp:cNvSpPr/>
      </dsp:nvSpPr>
      <dsp:spPr>
        <a:xfrm>
          <a:off x="3614737" y="0"/>
          <a:ext cx="3286125" cy="4351338"/>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022350">
            <a:lnSpc>
              <a:spcPct val="90000"/>
            </a:lnSpc>
            <a:spcBef>
              <a:spcPct val="0"/>
            </a:spcBef>
            <a:spcAft>
              <a:spcPct val="35000"/>
            </a:spcAft>
            <a:buNone/>
          </a:pPr>
          <a:r>
            <a:rPr lang="en-US" sz="2300" kern="1200"/>
            <a:t>Create a governing body for the compliance and governance framework.</a:t>
          </a:r>
        </a:p>
      </dsp:txBody>
      <dsp:txXfrm>
        <a:off x="3614737" y="1653508"/>
        <a:ext cx="3286125" cy="2610802"/>
      </dsp:txXfrm>
    </dsp:sp>
    <dsp:sp modelId="{6E150EFA-127E-4BD3-BCAE-F380028B529B}">
      <dsp:nvSpPr>
        <dsp:cNvPr id="0" name=""/>
        <dsp:cNvSpPr/>
      </dsp:nvSpPr>
      <dsp:spPr>
        <a:xfrm>
          <a:off x="4605099" y="435133"/>
          <a:ext cx="1305401" cy="1305401"/>
        </a:xfrm>
        <a:prstGeom prst="ellips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796271" y="626305"/>
        <a:ext cx="923057" cy="923057"/>
      </dsp:txXfrm>
    </dsp:sp>
    <dsp:sp modelId="{44710D4D-1336-434A-A695-96FF05F0201E}">
      <dsp:nvSpPr>
        <dsp:cNvPr id="0" name=""/>
        <dsp:cNvSpPr/>
      </dsp:nvSpPr>
      <dsp:spPr>
        <a:xfrm>
          <a:off x="3614737" y="4351266"/>
          <a:ext cx="3286125" cy="7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A79F4C3-018B-4413-AEFA-88FF4A9B98D5}">
      <dsp:nvSpPr>
        <dsp:cNvPr id="0" name=""/>
        <dsp:cNvSpPr/>
      </dsp:nvSpPr>
      <dsp:spPr>
        <a:xfrm>
          <a:off x="7229475" y="0"/>
          <a:ext cx="3286125" cy="4351338"/>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022350">
            <a:lnSpc>
              <a:spcPct val="90000"/>
            </a:lnSpc>
            <a:spcBef>
              <a:spcPct val="0"/>
            </a:spcBef>
            <a:spcAft>
              <a:spcPct val="35000"/>
            </a:spcAft>
            <a:buNone/>
          </a:pPr>
          <a:r>
            <a:rPr lang="en-US" sz="2300" kern="1200"/>
            <a:t>Create a beta test on a smaller scale to prove the validity of the proposed approach. </a:t>
          </a:r>
        </a:p>
      </dsp:txBody>
      <dsp:txXfrm>
        <a:off x="7229475" y="1653508"/>
        <a:ext cx="3286125" cy="2610802"/>
      </dsp:txXfrm>
    </dsp:sp>
    <dsp:sp modelId="{82F5A555-E866-4DF3-BA0C-5CD41E99C9FE}">
      <dsp:nvSpPr>
        <dsp:cNvPr id="0" name=""/>
        <dsp:cNvSpPr/>
      </dsp:nvSpPr>
      <dsp:spPr>
        <a:xfrm>
          <a:off x="8219836" y="435133"/>
          <a:ext cx="1305401" cy="1305401"/>
        </a:xfrm>
        <a:prstGeom prst="ellips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11008" y="626305"/>
        <a:ext cx="923057" cy="923057"/>
      </dsp:txXfrm>
    </dsp:sp>
    <dsp:sp modelId="{97A5A839-5D78-408F-803C-40EE2629A630}">
      <dsp:nvSpPr>
        <dsp:cNvPr id="0" name=""/>
        <dsp:cNvSpPr/>
      </dsp:nvSpPr>
      <dsp:spPr>
        <a:xfrm>
          <a:off x="7229475" y="4351266"/>
          <a:ext cx="3286125" cy="7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4B7BBD-CD40-464A-BB6C-D978A5440BE9}" type="datetimeFigureOut">
              <a:rPr lang="en-US" smtClean="0"/>
              <a:t>10/18/2025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A74CBD-EC4A-4042-AED2-F5625ECFC5CA}" type="slidenum">
              <a:rPr lang="en-US" smtClean="0"/>
              <a:t>‹#›</a:t>
            </a:fld>
            <a:endParaRPr lang="en-US"/>
          </a:p>
        </p:txBody>
      </p:sp>
    </p:spTree>
    <p:extLst>
      <p:ext uri="{BB962C8B-B14F-4D97-AF65-F5344CB8AC3E}">
        <p14:creationId xmlns:p14="http://schemas.microsoft.com/office/powerpoint/2010/main" val="2203191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dirty="0"/>
              <a:t>There are three main divisions of AlphaCorp as we know which are Healthcare, Fintech, and E-Commerce with each division having their own strategic goals and challenges. Starting with Healthcare, their strategic goals are to </a:t>
            </a:r>
            <a:r>
              <a:rPr lang="en-US" sz="1200" dirty="0"/>
              <a:t>enhance patient care through innovative technology integration, achieve top-tier data security and compliance with healthcare regulations, and streamline operations for cost efficiency and service quality. The challenges the Healthcare division faces are addressing the rising cybersecurity threats to patient data and integrating telehealth services with existing healthcare and cross-domain systems. Moving on to Fintech they have the goals of being a leader in cybersecurity measures to protect financial transactions, drive innovation in financial services to enhance customer experience, and optimize operational costs through technological advancements. Their challenges are adapting to rapid changes in fintech regulations and cybersecurity threats and ensuring seamless integration of payment solutions with healthcare and e-commerce platforms. Last but not least, E-commerce has the goals of enhancing user experience with personalized shopping and efficient service, expanding market reach through diversified product offerings and marketing strategies, and scaling operations effectively to support growth without significant cost increases. The challenges they face are balancing rapid expansion with maintaining high customer satisfaction and integrating e-commerce platforms with fintech and healthcare services for a unified customer experience.</a:t>
            </a:r>
          </a:p>
          <a:p>
            <a:pPr marL="0" lvl="0" indent="0">
              <a:buFont typeface="Arial" panose="020B0604020202020204" pitchFamily="34" charset="0"/>
              <a:buNone/>
            </a:pPr>
            <a:r>
              <a:rPr lang="en-US" sz="1200" dirty="0"/>
              <a:t>The overall goal by introducing an Enterprise Architecture framework is to create a unified user experience and architecture across AlphaCorp. </a:t>
            </a:r>
          </a:p>
          <a:p>
            <a:pPr marL="171450" indent="-171450">
              <a:buFont typeface="Arial" panose="020B0604020202020204" pitchFamily="34" charset="0"/>
              <a:buChar char="•"/>
            </a:pPr>
            <a:endParaRPr lang="en-US" sz="1200" dirty="0"/>
          </a:p>
          <a:p>
            <a:pPr marL="171450" lvl="0" indent="-171450">
              <a:buFont typeface="Arial" panose="020B0604020202020204" pitchFamily="34" charset="0"/>
              <a:buChar char="•"/>
            </a:pPr>
            <a:endParaRPr lang="en-US" sz="1200" dirty="0"/>
          </a:p>
          <a:p>
            <a:pPr marL="0" indent="0">
              <a:buFont typeface="Arial" panose="020B0604020202020204" pitchFamily="34" charset="0"/>
              <a:buNone/>
            </a:pPr>
            <a:endParaRPr lang="en-US" sz="1200" dirty="0"/>
          </a:p>
          <a:p>
            <a:pPr marL="171450" lvl="0" indent="-171450">
              <a:buFont typeface="Arial" panose="020B0604020202020204" pitchFamily="34" charset="0"/>
              <a:buChar char="•"/>
            </a:pPr>
            <a:endParaRPr lang="en-US" sz="1200" dirty="0"/>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647E40BC-11AE-484D-93DF-EE915262774D}" type="slidenum">
              <a:rPr lang="en-US" smtClean="0"/>
              <a:t>4</a:t>
            </a:fld>
            <a:endParaRPr lang="en-US"/>
          </a:p>
        </p:txBody>
      </p:sp>
    </p:spTree>
    <p:extLst>
      <p:ext uri="{BB962C8B-B14F-4D97-AF65-F5344CB8AC3E}">
        <p14:creationId xmlns:p14="http://schemas.microsoft.com/office/powerpoint/2010/main" val="2122458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6</a:t>
            </a:fld>
            <a:endParaRPr lang="en-US"/>
          </a:p>
        </p:txBody>
      </p:sp>
    </p:spTree>
    <p:extLst>
      <p:ext uri="{BB962C8B-B14F-4D97-AF65-F5344CB8AC3E}">
        <p14:creationId xmlns:p14="http://schemas.microsoft.com/office/powerpoint/2010/main" val="2024313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take a closer look at the current state of Healthcare. Each division is broken down into three distinct layers </a:t>
            </a:r>
            <a:r>
              <a:rPr lang="en-US"/>
              <a:t>being user </a:t>
            </a:r>
            <a:r>
              <a:rPr lang="en-US" dirty="0"/>
              <a:t>i</a:t>
            </a:r>
            <a:r>
              <a:rPr lang="en-US"/>
              <a:t>nterface, connection</a:t>
            </a:r>
            <a:r>
              <a:rPr lang="en-US" dirty="0"/>
              <a:t>, </a:t>
            </a:r>
            <a:r>
              <a:rPr lang="en-US"/>
              <a:t>and storage</a:t>
            </a:r>
            <a:r>
              <a:rPr lang="en-US" dirty="0"/>
              <a:t>. In the user interface layer, we have the patient portal, AlphaCorp’s telehealth application, the doctor intake forms, and the dashboard for the doctor for each patient. In the connection layer, we have the cloud infrastructure on Azure or AWS, our web API, the middleware connection gateway, AlphaCorp’s private server infrastructure, and the current compliance checks that are being performed for this type of data. In the storage layer, we have separate databases for medical records, images, and other patient data. We also have lab results stored in a different process as well as the logs for auditing of the data. As you can see, things are disjointed, and there are legacy systems which lead to inefficiencies in the business. </a:t>
            </a:r>
          </a:p>
        </p:txBody>
      </p:sp>
      <p:sp>
        <p:nvSpPr>
          <p:cNvPr id="4" name="Slide Number Placeholder 3"/>
          <p:cNvSpPr>
            <a:spLocks noGrp="1"/>
          </p:cNvSpPr>
          <p:nvPr>
            <p:ph type="sldNum" sz="quarter" idx="5"/>
          </p:nvPr>
        </p:nvSpPr>
        <p:spPr/>
        <p:txBody>
          <a:bodyPr/>
          <a:lstStyle/>
          <a:p>
            <a:fld id="{647E40BC-11AE-484D-93DF-EE915262774D}" type="slidenum">
              <a:rPr lang="en-US" smtClean="0"/>
              <a:t>8</a:t>
            </a:fld>
            <a:endParaRPr lang="en-US"/>
          </a:p>
        </p:txBody>
      </p:sp>
    </p:spTree>
    <p:extLst>
      <p:ext uri="{BB962C8B-B14F-4D97-AF65-F5344CB8AC3E}">
        <p14:creationId xmlns:p14="http://schemas.microsoft.com/office/powerpoint/2010/main" val="424685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look at Fintech. Again, we have our user interface, connection, and storage layers. Starting with the user interface we have the banking application, web interface, and a portal for sellers within the AlphaCorp ecosystem to access their information (inventories, etc.). Moving on to the connections, there are APIs connecting the </a:t>
            </a:r>
            <a:r>
              <a:rPr lang="en-US" dirty="0" err="1"/>
              <a:t>Uis</a:t>
            </a:r>
            <a:r>
              <a:rPr lang="en-US" dirty="0"/>
              <a:t> to the AI fraud detection, payment processing, and customer payment process procedures. There is also a separate API for transactions for sellers. Finally in the storage layer there are separate databases for orders and customer profiles. There are also processes for audit logs, key management storage for security keys on the cloud network, and the analysis of the data for fraud detection. Fintech also has disjointed infrastructure with several legacy systems. </a:t>
            </a:r>
          </a:p>
        </p:txBody>
      </p:sp>
      <p:sp>
        <p:nvSpPr>
          <p:cNvPr id="4" name="Slide Number Placeholder 3"/>
          <p:cNvSpPr>
            <a:spLocks noGrp="1"/>
          </p:cNvSpPr>
          <p:nvPr>
            <p:ph type="sldNum" sz="quarter" idx="5"/>
          </p:nvPr>
        </p:nvSpPr>
        <p:spPr/>
        <p:txBody>
          <a:bodyPr/>
          <a:lstStyle/>
          <a:p>
            <a:fld id="{647E40BC-11AE-484D-93DF-EE915262774D}" type="slidenum">
              <a:rPr lang="en-US" smtClean="0"/>
              <a:t>9</a:t>
            </a:fld>
            <a:endParaRPr lang="en-US"/>
          </a:p>
        </p:txBody>
      </p:sp>
    </p:spTree>
    <p:extLst>
      <p:ext uri="{BB962C8B-B14F-4D97-AF65-F5344CB8AC3E}">
        <p14:creationId xmlns:p14="http://schemas.microsoft.com/office/powerpoint/2010/main" val="3133446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let’s look at the E-commerce side of the business. There is a portal for the AlphaCorp store on the web along with a mobile application and an internal admin dashboard for the user interface layer. There is again a separate gateway, some additional legacy infrastructure, a 3</a:t>
            </a:r>
            <a:r>
              <a:rPr lang="en-US" baseline="30000" dirty="0"/>
              <a:t>rd</a:t>
            </a:r>
            <a:r>
              <a:rPr lang="en-US" dirty="0"/>
              <a:t> party payment service which connects the E-commerce store to AlphaCorp’s Fintech division, and a personalized shopping AI procedure that the data goes through. Again, AlphaCorp is separately storing data for its products, customers, AI algorithms, and order management. There are also several legacy systems here that need updating. </a:t>
            </a:r>
          </a:p>
        </p:txBody>
      </p:sp>
      <p:sp>
        <p:nvSpPr>
          <p:cNvPr id="4" name="Slide Number Placeholder 3"/>
          <p:cNvSpPr>
            <a:spLocks noGrp="1"/>
          </p:cNvSpPr>
          <p:nvPr>
            <p:ph type="sldNum" sz="quarter" idx="5"/>
          </p:nvPr>
        </p:nvSpPr>
        <p:spPr/>
        <p:txBody>
          <a:bodyPr/>
          <a:lstStyle/>
          <a:p>
            <a:fld id="{647E40BC-11AE-484D-93DF-EE915262774D}" type="slidenum">
              <a:rPr lang="en-US" smtClean="0"/>
              <a:t>10</a:t>
            </a:fld>
            <a:endParaRPr lang="en-US"/>
          </a:p>
        </p:txBody>
      </p:sp>
    </p:spTree>
    <p:extLst>
      <p:ext uri="{BB962C8B-B14F-4D97-AF65-F5344CB8AC3E}">
        <p14:creationId xmlns:p14="http://schemas.microsoft.com/office/powerpoint/2010/main" val="1146130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gn="l"/>
            <a:r>
              <a:rPr lang="en-US" dirty="0"/>
              <a:t>Analyzing each business unit individually leads us to the following conclusions about the current state of AlphaCorp. </a:t>
            </a:r>
            <a:r>
              <a:rPr lang="en-US" sz="1200" dirty="0"/>
              <a:t>Integration between the three main divisions is very limited. Each division operates with legacy and cloud services, creating additional work to move data between the systems. Security is not consistent across divisions, creating potential gaps and compliance issues. Legacy storage solutions do not provide the scalability needed for growth. To solve these issues we need to do the following for the future state of the company. Create a unified and modern API strategy for all divisions. Create a governance framework for all divisions to operate under. Update legacy systems to modern technology under a phased approach to mitigate associated risks. Consolidate database systems to ensure better allocation of resources. This also increases the security profile by managing access to one system instead of many. Create scalable systems to ensure proper growth. Create a security framework for all divisions to operate under.</a:t>
            </a:r>
          </a:p>
          <a:p>
            <a:pPr lvl="0" algn="l"/>
            <a:endParaRPr lang="en-US" sz="1200" dirty="0"/>
          </a:p>
          <a:p>
            <a:endParaRPr lang="en-US" dirty="0"/>
          </a:p>
        </p:txBody>
      </p:sp>
      <p:sp>
        <p:nvSpPr>
          <p:cNvPr id="4" name="Slide Number Placeholder 3"/>
          <p:cNvSpPr>
            <a:spLocks noGrp="1"/>
          </p:cNvSpPr>
          <p:nvPr>
            <p:ph type="sldNum" sz="quarter" idx="5"/>
          </p:nvPr>
        </p:nvSpPr>
        <p:spPr/>
        <p:txBody>
          <a:bodyPr/>
          <a:lstStyle/>
          <a:p>
            <a:fld id="{647E40BC-11AE-484D-93DF-EE915262774D}" type="slidenum">
              <a:rPr lang="en-US" smtClean="0"/>
              <a:t>11</a:t>
            </a:fld>
            <a:endParaRPr lang="en-US"/>
          </a:p>
        </p:txBody>
      </p:sp>
    </p:spTree>
    <p:extLst>
      <p:ext uri="{BB962C8B-B14F-4D97-AF65-F5344CB8AC3E}">
        <p14:creationId xmlns:p14="http://schemas.microsoft.com/office/powerpoint/2010/main" val="517491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is a $750,000 cap for our initial implementation of the framework and repository and $100,000 available for yearly operating costs. Current IT systems have a budget of $300,000 for EA implementation which can be broken down into software licensing, hardware procurement, and training. The ongoing operational costs are $100,000 which are broken down into maintenance, additional training, security measures, and a contingency fund of $50,000.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is a $200,000 hard cap that has been allocated for this fiscal year. The budget can be broken down into the three main categories of initial implementation, operational costs, and contingency funds. The budget for initial implementation has been set aside for the costs associated with data migration and integration. Maintenance and management of cloud architecture and data storage are grouped into the operational costs category. Lastly, a portion of the budget is left alone for unforeseen costs and issues that may occur during the implementation.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Healthcare product development a budget of $300,000 is in place for the next fiscal year. The budget is firm cap and needs to be followed. Allocated resources must stay within this constraint. Additional funding cannot be moved from other projects or departments either. </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12</a:t>
            </a:fld>
            <a:endParaRPr lang="en-US"/>
          </a:p>
        </p:txBody>
      </p:sp>
    </p:spTree>
    <p:extLst>
      <p:ext uri="{BB962C8B-B14F-4D97-AF65-F5344CB8AC3E}">
        <p14:creationId xmlns:p14="http://schemas.microsoft.com/office/powerpoint/2010/main" val="1463774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13</a:t>
            </a:fld>
            <a:endParaRPr lang="en-US"/>
          </a:p>
        </p:txBody>
      </p:sp>
    </p:spTree>
    <p:extLst>
      <p:ext uri="{BB962C8B-B14F-4D97-AF65-F5344CB8AC3E}">
        <p14:creationId xmlns:p14="http://schemas.microsoft.com/office/powerpoint/2010/main" val="1880783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 needs and gaps of the current state of the business, a unified architecture framework is being proposed, as you can see in this composite diagram. We have included a shared services section in the business layer. This is to allow for better resource allocation and cost savings, as we consolidate redundant infrastructure and other resources. In our technology layer, we propose having a central data lake for all of AlphaCorp’s generated data. This not only provides the cost savings, but it makes it easier to perform analytics and implement security and AI. We also propose migrating to the cloud for all infrastructure to provide the scalability that is needed for future growth. In our security and governance layer, we propose a unified standard compliance framework, which includes standard data encryption protocols as well as ID and access management that is consistent across all business units and threat detection as well. Lastly in our data layer we propose creation of content integration / content delivery pipeline guidelines, so that the language that is used is consistent across all divisions. We also want to implement real time analytics across the board, with synchronous data access and centralized API gateways.</a:t>
            </a:r>
          </a:p>
        </p:txBody>
      </p:sp>
      <p:sp>
        <p:nvSpPr>
          <p:cNvPr id="4" name="Slide Number Placeholder 3"/>
          <p:cNvSpPr>
            <a:spLocks noGrp="1"/>
          </p:cNvSpPr>
          <p:nvPr>
            <p:ph type="sldNum" sz="quarter" idx="5"/>
          </p:nvPr>
        </p:nvSpPr>
        <p:spPr/>
        <p:txBody>
          <a:bodyPr/>
          <a:lstStyle/>
          <a:p>
            <a:fld id="{647E40BC-11AE-484D-93DF-EE915262774D}" type="slidenum">
              <a:rPr lang="en-US" smtClean="0"/>
              <a:t>14</a:t>
            </a:fld>
            <a:endParaRPr lang="en-US"/>
          </a:p>
        </p:txBody>
      </p:sp>
    </p:spTree>
    <p:extLst>
      <p:ext uri="{BB962C8B-B14F-4D97-AF65-F5344CB8AC3E}">
        <p14:creationId xmlns:p14="http://schemas.microsoft.com/office/powerpoint/2010/main" val="753809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 enterprise architecture program allows the company to align its IT infrastructure with its business goals, determine what systems and areas are at risk, integrate systems across departments to reduce training and redundancy, and create a foundation that utilizes data for continued growth, scalability, and adaptability of the business. </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16</a:t>
            </a:fld>
            <a:endParaRPr lang="en-US"/>
          </a:p>
        </p:txBody>
      </p:sp>
    </p:spTree>
    <p:extLst>
      <p:ext uri="{BB962C8B-B14F-4D97-AF65-F5344CB8AC3E}">
        <p14:creationId xmlns:p14="http://schemas.microsoft.com/office/powerpoint/2010/main" val="1308370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Zachman Framework is a structured model for understanding and organizing the architecture of an enterprise. It is broken down into a grid with rows representing the different roles in the business and the columns representing the different aspects. The columns are What, How, Where, When, Who, and Why (3). The rows are broken down into Planner’s view, Owner’s view, Designer’s view, Engineer’s view, Technician’s view, and the User’s view </a:t>
            </a:r>
          </a:p>
          <a:p>
            <a:r>
              <a:rPr lang="en-US" sz="1200" kern="1200" dirty="0">
                <a:solidFill>
                  <a:schemeClr val="tx1"/>
                </a:solidFill>
                <a:effectLst/>
                <a:latin typeface="+mn-lt"/>
                <a:ea typeface="+mn-ea"/>
                <a:cs typeface="+mn-cs"/>
              </a:rPr>
              <a:t>TOGAF is one of the most widely used frameworks today by business. It is complete in the sense that it provides the blueprint but also the tools to implement and maintain the framework. TOGAF keeps the business goals in mind and works to align the infrastructure with them. At the center of TOGAF is the architecture development method or ADM. It includes ten phases which are cyclical in nature. In the middle of the circle is requirements management to represent that these are always driving each part of the cycle.</a:t>
            </a:r>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17</a:t>
            </a:fld>
            <a:endParaRPr lang="en-US"/>
          </a:p>
        </p:txBody>
      </p:sp>
    </p:spTree>
    <p:extLst>
      <p:ext uri="{BB962C8B-B14F-4D97-AF65-F5344CB8AC3E}">
        <p14:creationId xmlns:p14="http://schemas.microsoft.com/office/powerpoint/2010/main" val="1849370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18</a:t>
            </a:fld>
            <a:endParaRPr lang="en-US"/>
          </a:p>
        </p:txBody>
      </p:sp>
    </p:spTree>
    <p:extLst>
      <p:ext uri="{BB962C8B-B14F-4D97-AF65-F5344CB8AC3E}">
        <p14:creationId xmlns:p14="http://schemas.microsoft.com/office/powerpoint/2010/main" val="787838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many tools out there that provide functionality and work alongside The Open Group Architecture Framework. The company Gartner has amassed a collection of widely used repository tools and ranked them based on user reviews. By filtering by AlphaCorp’s three main industries of finance, healthcare, and e-commerce, the tool that has the highest rating is the OrbusInfinity published by Orbus software.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***********Talk Through Table**********************************</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 new heads will need to be added as the existing IT staff will be re-purposed to perform these tasks. A skeleton crew will be in place to ensure that the business runs at 100% while systems are being updated. </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21</a:t>
            </a:fld>
            <a:endParaRPr lang="en-US"/>
          </a:p>
        </p:txBody>
      </p:sp>
    </p:spTree>
    <p:extLst>
      <p:ext uri="{BB962C8B-B14F-4D97-AF65-F5344CB8AC3E}">
        <p14:creationId xmlns:p14="http://schemas.microsoft.com/office/powerpoint/2010/main" val="4135563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classification models would be for the task of anomaly detection, which would cover the threat protection portion of the security gap. What the model does is notify and call out data points that lie outside of normal activity within a process. A use case would be flagging access patterns that do not fall under normal activity.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Time series models do well with historical and seasonal data, as they treat time as one of the axes for data analysis. Autoregressive Integrated Moving Average (ARIMA) is a specific time series model that excels at forecasting future values based on the historical data. This relates to AlphaCorp’s e-commerce business sector and the seasonality of markets.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addition, predictive models are great, but they inherently do not lead to actions by themselves. To create an effective dynamic resource allocation plan, additional architectures are needed such as model predictive control. This framework takes the predictions from the models and automatically acts on them.</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23</a:t>
            </a:fld>
            <a:endParaRPr lang="en-US"/>
          </a:p>
        </p:txBody>
      </p:sp>
    </p:spTree>
    <p:extLst>
      <p:ext uri="{BB962C8B-B14F-4D97-AF65-F5344CB8AC3E}">
        <p14:creationId xmlns:p14="http://schemas.microsoft.com/office/powerpoint/2010/main" val="3605874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recommendation is a phased approach that is consistent with industry standards for project management in an effort to reduce the risk involved and provide value for AlphaCorp. This allows for more funds to be used during the more intensive resource phases in the middle while still allowing funding for continuous development after initial deployment. </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24</a:t>
            </a:fld>
            <a:endParaRPr lang="en-US"/>
          </a:p>
        </p:txBody>
      </p:sp>
    </p:spTree>
    <p:extLst>
      <p:ext uri="{BB962C8B-B14F-4D97-AF65-F5344CB8AC3E}">
        <p14:creationId xmlns:p14="http://schemas.microsoft.com/office/powerpoint/2010/main" val="3505330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some critical risks that have been identified that need to be addressed by the recommendations for this project, as shown in the table here.</a:t>
            </a:r>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25</a:t>
            </a:fld>
            <a:endParaRPr lang="en-US"/>
          </a:p>
        </p:txBody>
      </p:sp>
    </p:spTree>
    <p:extLst>
      <p:ext uri="{BB962C8B-B14F-4D97-AF65-F5344CB8AC3E}">
        <p14:creationId xmlns:p14="http://schemas.microsoft.com/office/powerpoint/2010/main" val="1137650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recommendation is that a continuous monitoring and evaluation system be put into place for this project. These metric and monitoring recommendations come from case studies and industry standards in the banking and healthcare fields. The recommendation is to have four categories of KPIs for this project based on the specific situation for AlphaCorp. The first category is cost, with a KPI that looks at current spending in both cloud environments and compares it to previous spending on a monthly basis. An additional cost KPI should be created for a cost per transaction ratio. The next category of KPIs is compliance. Two critical KPIs that need to be implemented in this category are number of security incidents and data recovery time. The next category of KPIs is predictive models. Two specific KPIs in this category should be the accuracy of the predictions and the frequency of false positives and false negatives from the anomaly detection model. The last category of KPIs is performance of operations. Two specific indicators in this category should be resource utilization rate and application latency. With these categories there should be a solid coverage of metrics to determine the success and health of the predictive modeling system. A dashboard will be created to continuously monitor these KPIs in real time. As mentioned above, the dashboard will include KPIs that monitor the models and the health of the infrastructure which provides a complete overview of the process. The monitoring system will also allow manual intervention from IT to retrain and keep improving the models. This is considered industry best practice. By implementing monitoring patterns, AlphaCorp can help mitigate data transfer limits by scheduling larger data migrations during non-peak times which will lower resource utilization and ensure that they are not exceeding the limits set by their cloud contracts.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26</a:t>
            </a:fld>
            <a:endParaRPr lang="en-US"/>
          </a:p>
        </p:txBody>
      </p:sp>
    </p:spTree>
    <p:extLst>
      <p:ext uri="{BB962C8B-B14F-4D97-AF65-F5344CB8AC3E}">
        <p14:creationId xmlns:p14="http://schemas.microsoft.com/office/powerpoint/2010/main" val="413349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determine what cybersecurity measures need to be invested in, an audit of the inventory of the current cyber assets at AlphaCorp is needed. This is an important step for creating an effective investment plan. Included in the inventory assessment are hardware, software, and items that interact with data and other information systems. The Zero Trust framework provides the guide to creation of the below catalog. The catalog provides attributes of ownership, location, configuration and criticality to each asset. </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28</a:t>
            </a:fld>
            <a:endParaRPr lang="en-US"/>
          </a:p>
        </p:txBody>
      </p:sp>
    </p:spTree>
    <p:extLst>
      <p:ext uri="{BB962C8B-B14F-4D97-AF65-F5344CB8AC3E}">
        <p14:creationId xmlns:p14="http://schemas.microsoft.com/office/powerpoint/2010/main" val="3955998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next step is to classify and categorize our information assets. To have an effective cyber security umbrella it needs to be risk based and focus on the data. The data that relates back to business value and that needs to be secured is the focus here. This joins the cyber security of AlphaCorp with their specific business goals creating a best practice in enterprise architecture. The data is classified based on confidentiality, sensitivity, and how important it is to the business. This step is required to create a Zero Trust Architecture as it will provide the justification for data access. Highlighting owners of each data section creates accountability which is a key aspect of risk management. The last piece is to link the associated information asset to the cyber asset to provide a clear picture of the business and where security is needed the most.</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29</a:t>
            </a:fld>
            <a:endParaRPr lang="en-US"/>
          </a:p>
        </p:txBody>
      </p:sp>
    </p:spTree>
    <p:extLst>
      <p:ext uri="{BB962C8B-B14F-4D97-AF65-F5344CB8AC3E}">
        <p14:creationId xmlns:p14="http://schemas.microsoft.com/office/powerpoint/2010/main" val="3171695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compliance and regulatory framework map compare the current processes and assets in AlphaCorp against the legal and regulatory requirements that are standard in the healthcare industries, fintech, and e-commerce. The goal is to reinforce the enterprise architecture philosophy of compliance by design. By providing a direct look at the cyber assets and regulations required, the gaps in the current security profile can be addressed effectively. </a:t>
            </a: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30</a:t>
            </a:fld>
            <a:endParaRPr lang="en-US"/>
          </a:p>
        </p:txBody>
      </p:sp>
    </p:spTree>
    <p:extLst>
      <p:ext uri="{BB962C8B-B14F-4D97-AF65-F5344CB8AC3E}">
        <p14:creationId xmlns:p14="http://schemas.microsoft.com/office/powerpoint/2010/main" val="226581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Next is to map the operations of AlphaCorp’s business with the cyber assets to continue the integration of security into the overall enterprise architecture. The goal is the visualization of the important data moves and changes through business systems. With the mapping of business processes, bottlenecks and failure points become apparent and is a core philosophy of a Zero Trust framework. It allows AlphaCorp to create and implement granular controls in security. The map below shows a process that connects all three of AlphaCorp’s main domains together.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can be seen in the diagram, this example flow connects all three core businesses of AlphaCorp together, highlights some risks and dependencies, and helps to combine IT with the goals of AlphaCorp’s leadership team. Cyber assets A3, A6, and A5 all support this process that could be a core profit generator for the company. Cloud infrastructure, APIs, and databases are all necessary for this process to work and highlight the need for security between cloud environments. Information assets IA1, IA2, IA4, and IA5 are also needed for this process. Those information assets represent high risk within this business process, as any kind of threat at any point in the process could lead to financial and image loss for AlphaCorp.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diagram highlights the movement of data across AlphaCorp in relation to the business process described in the previous section of this report. This visualization shows where the data is processed, accessed, and stored. This is another component to properly place encryption and access polices.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above diagram shows how the sensitive data flows through the hybrid cloud infrastructure that AlphaCorp has deployed. The flow of IA2 through the public cloud e-commerce site to the fintech payment processing into the private cloud AlphaCorp database shows a critical path that requires many security features to remain compliant and safeguard the sensitive information. Similar security measures need to be in place for the flow of IA1 and IA5 from the customer to the healthcare database. Employees accessing these databases also highlights internal threat risks and should adhere to principals of least access.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31</a:t>
            </a:fld>
            <a:endParaRPr lang="en-US"/>
          </a:p>
        </p:txBody>
      </p:sp>
    </p:spTree>
    <p:extLst>
      <p:ext uri="{BB962C8B-B14F-4D97-AF65-F5344CB8AC3E}">
        <p14:creationId xmlns:p14="http://schemas.microsoft.com/office/powerpoint/2010/main" val="3581290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Next a linkage model is created to provide an interpretable connection between the information and technology assets at AlphaCorp. It allows for visualization of the link between the business and infrastructure which is a core component of a risk informed enterprise architecture. By creating linkages in this way, we are provided with quantifiable measures of the impact on the business a cyber-attack, data breach, or other architectural failure will have. This is a core philosophy of NIST based risk assessment.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shown in the linkage model above, asset A2 and asset A4 present the most risk in the fact that they directly interact with multiple information assets. A2 is more important however because it is a centralized location that stores all critical data that AlphaCorp has. Any breach or failure here would be catastrophic to the organization, whether that be from government fines, financial loss, and loss of customer trust leading to customers going to competitors instead. A1 highlights a need to tighten perimeter security as it could lead to a direct access point to critical data in transit.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32</a:t>
            </a:fld>
            <a:endParaRPr lang="en-US"/>
          </a:p>
        </p:txBody>
      </p:sp>
    </p:spTree>
    <p:extLst>
      <p:ext uri="{BB962C8B-B14F-4D97-AF65-F5344CB8AC3E}">
        <p14:creationId xmlns:p14="http://schemas.microsoft.com/office/powerpoint/2010/main" val="3366680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risk and vulnerability assessment is another part of the NIST risk assessment process. The creation of the linkage model in the previous step will aid in the creation of the risk and vulnerability assessment in this section. The assessment will create a measure of how much risk is involved based on factors like likelihood and overall business impact. It provides AlphaCorp with a tool to properly allocate resources in a way that will be the most effective</a:t>
            </a:r>
            <a:r>
              <a:rPr lang="en-US" sz="1200" i="1"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33</a:t>
            </a:fld>
            <a:endParaRPr lang="en-US"/>
          </a:p>
        </p:txBody>
      </p:sp>
    </p:spTree>
    <p:extLst>
      <p:ext uri="{BB962C8B-B14F-4D97-AF65-F5344CB8AC3E}">
        <p14:creationId xmlns:p14="http://schemas.microsoft.com/office/powerpoint/2010/main" val="26309272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investment plan is put together by combining the information from the previous process maps and classifications done in this report. They are put in order based on the level of risk to AlphaCorp, while considering the impact to the business and the potential return on investment.  Below is the formula used to estimate the ROI:</a:t>
                </a:r>
              </a:p>
              <a:p>
                <a:pPr/>
                <a14:m>
                  <m:oMathPara xmlns:m="http://schemas.openxmlformats.org/officeDocument/2006/math">
                    <m:oMathParaPr>
                      <m:jc m:val="centerGroup"/>
                    </m:oMathParaPr>
                    <m:oMath xmlns:m="http://schemas.openxmlformats.org/officeDocument/2006/math">
                      <m:r>
                        <a:rPr lang="en-US" sz="1200" i="1" kern="1200">
                          <a:solidFill>
                            <a:schemeClr val="tx1"/>
                          </a:solidFill>
                          <a:effectLst/>
                          <a:latin typeface="Cambria Math" panose="02040503050406030204" pitchFamily="18" charset="0"/>
                          <a:ea typeface="+mn-ea"/>
                          <a:cs typeface="+mn-cs"/>
                        </a:rPr>
                        <m:t>𝑅𝑂𝐼</m:t>
                      </m:r>
                      <m:r>
                        <a:rPr lang="en-US" sz="1200" i="1" kern="1200">
                          <a:solidFill>
                            <a:schemeClr val="tx1"/>
                          </a:solidFill>
                          <a:effectLst/>
                          <a:latin typeface="Cambria Math" panose="02040503050406030204" pitchFamily="18" charset="0"/>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𝑅𝑖𝑠𝑘</m:t>
                          </m:r>
                          <m:r>
                            <a:rPr lang="en-US" sz="1200" i="1" kern="1200">
                              <a:solidFill>
                                <a:schemeClr val="tx1"/>
                              </a:solidFill>
                              <a:effectLst/>
                              <a:latin typeface="Cambria Math" panose="02040503050406030204" pitchFamily="18" charset="0"/>
                              <a:ea typeface="+mn-ea"/>
                              <a:cs typeface="+mn-cs"/>
                            </a:rPr>
                            <m:t> </m:t>
                          </m:r>
                          <m:r>
                            <a:rPr lang="en-US" sz="1200" i="1" kern="1200">
                              <a:solidFill>
                                <a:schemeClr val="tx1"/>
                              </a:solidFill>
                              <a:effectLst/>
                              <a:latin typeface="Cambria Math" panose="02040503050406030204" pitchFamily="18" charset="0"/>
                              <a:ea typeface="+mn-ea"/>
                              <a:cs typeface="+mn-cs"/>
                            </a:rPr>
                            <m:t>𝑅𝑒𝑑𝑢𝑐𝑡𝑖𝑜𝑛</m:t>
                          </m:r>
                          <m:r>
                            <a:rPr lang="en-US" sz="1200" i="1" kern="1200">
                              <a:solidFill>
                                <a:schemeClr val="tx1"/>
                              </a:solidFill>
                              <a:effectLst/>
                              <a:latin typeface="Cambria Math" panose="02040503050406030204" pitchFamily="18" charset="0"/>
                              <a:ea typeface="+mn-ea"/>
                              <a:cs typeface="+mn-cs"/>
                            </a:rPr>
                            <m:t> </m:t>
                          </m:r>
                          <m:r>
                            <a:rPr lang="en-US" sz="1200" i="1" kern="1200">
                              <a:solidFill>
                                <a:schemeClr val="tx1"/>
                              </a:solidFill>
                              <a:effectLst/>
                              <a:latin typeface="Cambria Math" panose="02040503050406030204" pitchFamily="18" charset="0"/>
                              <a:ea typeface="+mn-ea"/>
                              <a:cs typeface="+mn-cs"/>
                            </a:rPr>
                            <m:t>𝑉𝑎𝑙𝑢𝑒</m:t>
                          </m:r>
                          <m:r>
                            <a:rPr lang="en-US" sz="1200" i="1" kern="1200">
                              <a:solidFill>
                                <a:schemeClr val="tx1"/>
                              </a:solidFill>
                              <a:effectLst/>
                              <a:latin typeface="Cambria Math" panose="02040503050406030204" pitchFamily="18" charset="0"/>
                              <a:ea typeface="+mn-ea"/>
                              <a:cs typeface="+mn-cs"/>
                            </a:rPr>
                            <m:t> + </m:t>
                          </m:r>
                          <m:r>
                            <a:rPr lang="en-US" sz="1200" i="1" kern="1200">
                              <a:solidFill>
                                <a:schemeClr val="tx1"/>
                              </a:solidFill>
                              <a:effectLst/>
                              <a:latin typeface="Cambria Math" panose="02040503050406030204" pitchFamily="18" charset="0"/>
                              <a:ea typeface="+mn-ea"/>
                              <a:cs typeface="+mn-cs"/>
                            </a:rPr>
                            <m:t>𝐶𝑜𝑚𝑝𝑙𝑖𝑎𝑛𝑐𝑒</m:t>
                          </m:r>
                          <m:r>
                            <a:rPr lang="en-US" sz="1200" i="1" kern="1200">
                              <a:solidFill>
                                <a:schemeClr val="tx1"/>
                              </a:solidFill>
                              <a:effectLst/>
                              <a:latin typeface="Cambria Math" panose="02040503050406030204" pitchFamily="18" charset="0"/>
                              <a:ea typeface="+mn-ea"/>
                              <a:cs typeface="+mn-cs"/>
                            </a:rPr>
                            <m:t> </m:t>
                          </m:r>
                          <m:r>
                            <a:rPr lang="en-US" sz="1200" i="1" kern="1200">
                              <a:solidFill>
                                <a:schemeClr val="tx1"/>
                              </a:solidFill>
                              <a:effectLst/>
                              <a:latin typeface="Cambria Math" panose="02040503050406030204" pitchFamily="18" charset="0"/>
                              <a:ea typeface="+mn-ea"/>
                              <a:cs typeface="+mn-cs"/>
                            </a:rPr>
                            <m:t>𝐶𝑜𝑠𝑡</m:t>
                          </m:r>
                          <m:r>
                            <a:rPr lang="en-US" sz="1200" i="1" kern="1200">
                              <a:solidFill>
                                <a:schemeClr val="tx1"/>
                              </a:solidFill>
                              <a:effectLst/>
                              <a:latin typeface="Cambria Math" panose="02040503050406030204" pitchFamily="18" charset="0"/>
                              <a:ea typeface="+mn-ea"/>
                              <a:cs typeface="+mn-cs"/>
                            </a:rPr>
                            <m:t> </m:t>
                          </m:r>
                          <m:r>
                            <a:rPr lang="en-US" sz="1200" i="1" kern="1200">
                              <a:solidFill>
                                <a:schemeClr val="tx1"/>
                              </a:solidFill>
                              <a:effectLst/>
                              <a:latin typeface="Cambria Math" panose="02040503050406030204" pitchFamily="18" charset="0"/>
                              <a:ea typeface="+mn-ea"/>
                              <a:cs typeface="+mn-cs"/>
                            </a:rPr>
                            <m:t>𝐴𝑣𝑜𝑖𝑑𝑎𝑛𝑐𝑒</m:t>
                          </m:r>
                          <m:r>
                            <a:rPr lang="en-US" sz="1200" i="1" kern="1200">
                              <a:solidFill>
                                <a:schemeClr val="tx1"/>
                              </a:solidFill>
                              <a:effectLst/>
                              <a:latin typeface="Cambria Math" panose="02040503050406030204" pitchFamily="18" charset="0"/>
                              <a:ea typeface="+mn-ea"/>
                              <a:cs typeface="+mn-cs"/>
                            </a:rPr>
                            <m:t>)</m:t>
                          </m:r>
                        </m:num>
                        <m:den>
                          <m:r>
                            <a:rPr lang="en-US" sz="1200" i="1" kern="1200">
                              <a:solidFill>
                                <a:schemeClr val="tx1"/>
                              </a:solidFill>
                              <a:effectLst/>
                              <a:latin typeface="Cambria Math" panose="02040503050406030204" pitchFamily="18" charset="0"/>
                              <a:ea typeface="+mn-ea"/>
                              <a:cs typeface="+mn-cs"/>
                            </a:rPr>
                            <m:t>𝐼𝑛𝑣𝑒𝑠𝑡𝑚𝑒𝑛𝑡</m:t>
                          </m:r>
                          <m:r>
                            <a:rPr lang="en-US" sz="1200" i="1" kern="1200">
                              <a:solidFill>
                                <a:schemeClr val="tx1"/>
                              </a:solidFill>
                              <a:effectLst/>
                              <a:latin typeface="Cambria Math" panose="02040503050406030204" pitchFamily="18" charset="0"/>
                              <a:ea typeface="+mn-ea"/>
                              <a:cs typeface="+mn-cs"/>
                            </a:rPr>
                            <m:t> </m:t>
                          </m:r>
                          <m:r>
                            <a:rPr lang="en-US" sz="1200" i="1" kern="1200">
                              <a:solidFill>
                                <a:schemeClr val="tx1"/>
                              </a:solidFill>
                              <a:effectLst/>
                              <a:latin typeface="Cambria Math" panose="02040503050406030204" pitchFamily="18" charset="0"/>
                              <a:ea typeface="+mn-ea"/>
                              <a:cs typeface="+mn-cs"/>
                            </a:rPr>
                            <m:t>𝐶𝑜𝑠𝑡</m:t>
                          </m:r>
                        </m:den>
                      </m:f>
                    </m:oMath>
                  </m:oMathPara>
                </a14:m>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investment plan is put together by combining the information from the previous process maps and classifications done in this report. They are put in order based on the level of risk to AlphaCorp, while considering the impact to the business and the potential return on investment.  Below is the formula used to estimate the ROI:</a:t>
                </a:r>
              </a:p>
              <a:p>
                <a:r>
                  <a:rPr lang="en-US" sz="1200" i="0" kern="1200">
                    <a:solidFill>
                      <a:schemeClr val="tx1"/>
                    </a:solidFill>
                    <a:effectLst/>
                    <a:latin typeface="+mn-lt"/>
                    <a:ea typeface="+mn-ea"/>
                    <a:cs typeface="+mn-cs"/>
                  </a:rPr>
                  <a:t>𝑅𝑂𝐼 =  ((𝑅𝑖𝑠𝑘 𝑅𝑒𝑑𝑢𝑐𝑡𝑖𝑜𝑛 𝑉𝑎𝑙𝑢𝑒 + 𝐶𝑜𝑚𝑝𝑙𝑖𝑎𝑛𝑐𝑒 𝐶𝑜𝑠𝑡 𝐴𝑣𝑜𝑖𝑑𝑎𝑛𝑐𝑒))/(𝐼𝑛𝑣𝑒𝑠𝑡𝑚𝑒𝑛𝑡 𝐶𝑜𝑠𝑡)</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5"/>
          </p:nvPr>
        </p:nvSpPr>
        <p:spPr/>
        <p:txBody>
          <a:bodyPr/>
          <a:lstStyle/>
          <a:p>
            <a:fld id="{3FA74CBD-EC4A-4042-AED2-F5625ECFC5CA}" type="slidenum">
              <a:rPr lang="en-US" smtClean="0"/>
              <a:t>34</a:t>
            </a:fld>
            <a:endParaRPr lang="en-US"/>
          </a:p>
        </p:txBody>
      </p:sp>
    </p:spTree>
    <p:extLst>
      <p:ext uri="{BB962C8B-B14F-4D97-AF65-F5344CB8AC3E}">
        <p14:creationId xmlns:p14="http://schemas.microsoft.com/office/powerpoint/2010/main" val="27337717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it comes to product development in relation to healthcare, AlphaCorp has several business capabilities that have different systems, applications, owners, pain points and gaps. The first of these is the market research department. This department is responsible for providing information on current market conditions to help facilitate the identification of new potential products for AlphaCorp. This business function is owned by the product management department and utilizes the hybrid cloud infrastructure of AlphaCorp, having customer data stored in the cloud and on premises servers. An identified gap of this process is that currently there is no collaboration between the market research group and the rest of the product development team, leading to isolation during the development cycle. Next business capability would be data integration and management. This would be ensuring that the data from customer’s IoT health devices is properly stored and combined with the existing data that AlphaCorp has. This function is owned by the information technology department, and currently there is a mix of legacy and non-legacy architecture here. Another gap identified is that there can be manual and additional work required to ensure that the data is properly integrated to new and legacy systems. The next capability is the ability to develop new products. This function is owned by the product engineering department which is probably a sub department of IT. They utilize development tools for things like code review, version control, and other things like that. The last business capability that was highlighted for the development of a healthcare product was applying data security and overall governance. This function would be owned by the compliance department. They currently employ a cloud security model that can provide additional security of this sensitive data. </a:t>
            </a:r>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36</a:t>
            </a:fld>
            <a:endParaRPr lang="en-US"/>
          </a:p>
        </p:txBody>
      </p:sp>
    </p:spTree>
    <p:extLst>
      <p:ext uri="{BB962C8B-B14F-4D97-AF65-F5344CB8AC3E}">
        <p14:creationId xmlns:p14="http://schemas.microsoft.com/office/powerpoint/2010/main" val="1801637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start with the product that we are hoping to develop which is a wearable IoT device that collects healthcare data and sends it to a phone application via Bluetooth. Next, we want the phone app to send that data over the internet to the private server which hosts the database where the data is located. When we send data over the internet, we need to ensure that it is encrypted in transit on the way to the database and at rest in the database itself. This is also where AlphaCorp should develop the APIs to ensure that secure transfer of data. Next, we want another API to transfer the data from the private server into the public cloud server. Moving forward AlphaCorp should also consider creating a singular, scalable cloud database for their healthcare patient data instead of each product having its own data location. Lastly this data is transferred from the cloud network to the web application for the Doctor to utilize to assist with patient diagnosis and other care activities.</a:t>
            </a:r>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37</a:t>
            </a:fld>
            <a:endParaRPr lang="en-US"/>
          </a:p>
        </p:txBody>
      </p:sp>
    </p:spTree>
    <p:extLst>
      <p:ext uri="{BB962C8B-B14F-4D97-AF65-F5344CB8AC3E}">
        <p14:creationId xmlns:p14="http://schemas.microsoft.com/office/powerpoint/2010/main" val="26267915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that gaps have been identified by analysis of the business and technology architecture, the next steps are to compare the current state of AlphaCorp’s healthcare product development against the industry standards. </a:t>
            </a:r>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38</a:t>
            </a:fld>
            <a:endParaRPr lang="en-US"/>
          </a:p>
        </p:txBody>
      </p:sp>
    </p:spTree>
    <p:extLst>
      <p:ext uri="{BB962C8B-B14F-4D97-AF65-F5344CB8AC3E}">
        <p14:creationId xmlns:p14="http://schemas.microsoft.com/office/powerpoint/2010/main" val="1574815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an example case to showcase the proposed uniformity. The data flow diagram will walk us through a scenario where a customer wants to buy a healthcare related product from AlphaCorp. The customer logs into the central app, and their ID gets verified by our ID access management and security protocols. Once verified, the customer browses until they find a healthcare product that they would like to purchase. This order is sent from the API gateway to the E-commerce section which then requests payment information. This information is sent to Fintech which then goes and verifies it with the security processes. After verification, Fintech send confirmation back to the API gateway. The E-commerce section then checks the customer’s healthcare status. This verification goes to the healthcare section of the business, which then sends the confirmation back to the API gateway. After verification of the healthcare status, the E-commerce division sends the final order confirmation to the customer into the application. All this data that is generated from this transaction cycle is sent to the centralized data lake for real time analytics and custom customer recommendations. This sample scenario shows how all three divisions work in unison under a shared enterprise architecture. </a:t>
            </a:r>
          </a:p>
        </p:txBody>
      </p:sp>
      <p:sp>
        <p:nvSpPr>
          <p:cNvPr id="4" name="Slide Number Placeholder 3"/>
          <p:cNvSpPr>
            <a:spLocks noGrp="1"/>
          </p:cNvSpPr>
          <p:nvPr>
            <p:ph type="sldNum" sz="quarter" idx="5"/>
          </p:nvPr>
        </p:nvSpPr>
        <p:spPr/>
        <p:txBody>
          <a:bodyPr/>
          <a:lstStyle/>
          <a:p>
            <a:fld id="{647E40BC-11AE-484D-93DF-EE915262774D}" type="slidenum">
              <a:rPr lang="en-US" smtClean="0"/>
              <a:t>43</a:t>
            </a:fld>
            <a:endParaRPr lang="en-US"/>
          </a:p>
        </p:txBody>
      </p:sp>
    </p:spTree>
    <p:extLst>
      <p:ext uri="{BB962C8B-B14F-4D97-AF65-F5344CB8AC3E}">
        <p14:creationId xmlns:p14="http://schemas.microsoft.com/office/powerpoint/2010/main" val="1955378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the end of analysis, AlphaCorp had three main goals that were identified across all three business units in some way, shape, or form. They were to be an industry leader in cybersecurity measures, optimize operational costs, and scale operations effectively to support growth. The unified framework that was provided and discussed effectively addressed and would achieve these main goals for the company.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647E40BC-11AE-484D-93DF-EE915262774D}" type="slidenum">
              <a:rPr lang="en-US" smtClean="0"/>
              <a:t>44</a:t>
            </a:fld>
            <a:endParaRPr lang="en-US"/>
          </a:p>
        </p:txBody>
      </p:sp>
    </p:spTree>
    <p:extLst>
      <p:ext uri="{BB962C8B-B14F-4D97-AF65-F5344CB8AC3E}">
        <p14:creationId xmlns:p14="http://schemas.microsoft.com/office/powerpoint/2010/main" val="2080057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A74CBD-EC4A-4042-AED2-F5625ECFC5CA}" type="slidenum">
              <a:rPr lang="en-US" smtClean="0"/>
              <a:t>46</a:t>
            </a:fld>
            <a:endParaRPr lang="en-US"/>
          </a:p>
        </p:txBody>
      </p:sp>
    </p:spTree>
    <p:extLst>
      <p:ext uri="{BB962C8B-B14F-4D97-AF65-F5344CB8AC3E}">
        <p14:creationId xmlns:p14="http://schemas.microsoft.com/office/powerpoint/2010/main" val="2365125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8D5EFD-ABC5-4898-B897-4B598EA4AB33}" type="datetimeFigureOut">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2907900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8D5EFD-ABC5-4898-B897-4B598EA4AB33}" type="datetimeFigureOut">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3272866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8D5EFD-ABC5-4898-B897-4B598EA4AB33}" type="datetimeFigureOut">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2032278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8D5EFD-ABC5-4898-B897-4B598EA4AB33}" type="datetimeFigureOut">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664146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8D5EFD-ABC5-4898-B897-4B598EA4AB33}" type="datetimeFigureOut">
              <a:rPr lang="en-US" smtClean="0"/>
              <a:t>10/18/2025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426995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8D5EFD-ABC5-4898-B897-4B598EA4AB33}" type="datetimeFigureOut">
              <a:rPr lang="en-US" smtClean="0"/>
              <a:t>10/18/2025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1662120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8D5EFD-ABC5-4898-B897-4B598EA4AB33}" type="datetimeFigureOut">
              <a:rPr lang="en-US" smtClean="0"/>
              <a:t>10/18/2025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2403777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8D5EFD-ABC5-4898-B897-4B598EA4AB33}" type="datetimeFigureOut">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1914338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8D5EFD-ABC5-4898-B897-4B598EA4AB33}" type="datetimeFigureOut">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3402926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8D5EFD-ABC5-4898-B897-4B598EA4AB33}" type="datetimeFigureOut">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3748781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8D5EFD-ABC5-4898-B897-4B598EA4AB33}" type="datetimeFigureOut">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8951E9-7842-44D0-BF8F-640C9C06BB57}" type="slidenum">
              <a:rPr lang="en-US" smtClean="0"/>
              <a:t>‹#›</a:t>
            </a:fld>
            <a:endParaRPr lang="en-US"/>
          </a:p>
        </p:txBody>
      </p:sp>
    </p:spTree>
    <p:extLst>
      <p:ext uri="{BB962C8B-B14F-4D97-AF65-F5344CB8AC3E}">
        <p14:creationId xmlns:p14="http://schemas.microsoft.com/office/powerpoint/2010/main" val="578387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868D5EFD-ABC5-4898-B897-4B598EA4AB33}" type="datetimeFigureOut">
              <a:rPr lang="en-US" smtClean="0"/>
              <a:t>10/18/2025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E68951E9-7842-44D0-BF8F-640C9C06BB57}" type="slidenum">
              <a:rPr lang="en-US" smtClean="0"/>
              <a:t>‹#›</a:t>
            </a:fld>
            <a:endParaRPr lang="en-US"/>
          </a:p>
        </p:txBody>
      </p:sp>
    </p:spTree>
    <p:extLst>
      <p:ext uri="{BB962C8B-B14F-4D97-AF65-F5344CB8AC3E}">
        <p14:creationId xmlns:p14="http://schemas.microsoft.com/office/powerpoint/2010/main" val="198002611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g"/><Relationship Id="rId7" Type="http://schemas.openxmlformats.org/officeDocument/2006/relationships/diagramColors" Target="../diagrams/colors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g"/><Relationship Id="rId7" Type="http://schemas.openxmlformats.org/officeDocument/2006/relationships/diagramColors" Target="../diagrams/colors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jpg"/><Relationship Id="rId7" Type="http://schemas.openxmlformats.org/officeDocument/2006/relationships/diagramColors" Target="../diagrams/colors5.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www.cms.gov/data-research/cms-information-technology/enterprise-architecture/federal-enterprise-architecture-framework"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www.altexsoft.com/blog/enterprise-architecture-frameworks-documenting-your-roadmap-to-change/" TargetMode="External"/><Relationship Id="rId5" Type="http://schemas.openxmlformats.org/officeDocument/2006/relationships/hyperlink" Target="https://www.bcs.org/articles-opinion-and-research/a-comparison-of-the-top-four-enterprise-architecture-frameworks/" TargetMode="External"/><Relationship Id="rId4" Type="http://schemas.openxmlformats.org/officeDocument/2006/relationships/hyperlink" Target="https://research.com/research/how-to-write-research-methodology"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ww.leanix.net/en/wiki/ea/feaf-federal-enterprise-architecture-framework"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gartner.com/reviews/market/enterprise-architecture-tools" TargetMode="External"/><Relationship Id="rId5" Type="http://schemas.openxmlformats.org/officeDocument/2006/relationships/hyperlink" Target="https://www.mega.com/blog/what-is-enterprise-architecture-definition" TargetMode="External"/><Relationship Id="rId4" Type="http://schemas.openxmlformats.org/officeDocument/2006/relationships/hyperlink" Target="https://www.cio.com/article/228328/what-is-togaf-an-enterprise-architecture-methodology-for-business.html"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www.ardoq.com/blog/enterprise-architecture-cost-in-2025"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forrester.com/blogs/the-augmented-architect-real-time-enterprise-architecture-in-the-age-of-ai/" TargetMode="External"/><Relationship Id="rId5" Type="http://schemas.openxmlformats.org/officeDocument/2006/relationships/hyperlink" Target="https://www.entasispartners.com/blog/blockchains-impact-on-enterprise-architecture-a-new-standard-in-security-and-transparency" TargetMode="External"/><Relationship Id="rId4" Type="http://schemas.openxmlformats.org/officeDocument/2006/relationships/hyperlink" Target="https://www.redhat.com/en/blog/togaf"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sparxsystems.com/resources/user-guides/16.1/guidebooks/enterprise-architecture.pdf" TargetMode="External"/><Relationship Id="rId7" Type="http://schemas.openxmlformats.org/officeDocument/2006/relationships/hyperlink" Target="https://www.bmc.com/blogs/togaf-vs-zachman/"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arxsystems.com/resources/gallery/diagrams/architecture/arc-zachman-framework.html" TargetMode="External"/><Relationship Id="rId5" Type="http://schemas.openxmlformats.org/officeDocument/2006/relationships/hyperlink" Target="https://www.ardoq.com/knowledge-hub/zachman-framework" TargetMode="External"/><Relationship Id="rId4" Type="http://schemas.openxmlformats.org/officeDocument/2006/relationships/hyperlink" Target="https://www.cio.com/article/193229/what-is-the-zachman-framework-a-matrix-for-managing-enterprise-architecture.html"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asana.com/resources/process-mappin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youtube.com/watch?v=VJTA6bT_PRk" TargetMode="External"/><Relationship Id="rId5" Type="http://schemas.openxmlformats.org/officeDocument/2006/relationships/hyperlink" Target="https://www.lucidchart.com/blog/building-a-business-architecture" TargetMode="External"/><Relationship Id="rId4" Type="http://schemas.openxmlformats.org/officeDocument/2006/relationships/hyperlink" Target="https://www.youtube.com/watch?v=e9wANApZXL8"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www.splunk.com/en_us/blog/learn/predictive-modeling.html?301=/en_us/data-insider/what-is-predictive-modeling.html"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doi.org/10.18421/tem123-65" TargetMode="External"/><Relationship Id="rId5" Type="http://schemas.openxmlformats.org/officeDocument/2006/relationships/hyperlink" Target="https://dotdata.com/blog/types-of-predictive-models-how-they-work/" TargetMode="External"/><Relationship Id="rId4" Type="http://schemas.openxmlformats.org/officeDocument/2006/relationships/hyperlink" Target="https://www.netsuite.com/portal/resource/articles/financial-management/predictive-modeling.shtml"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doi.org/10.1016/j.compind.2020.103244"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technologyreview.com/2010/12/13/198480/predictive-modeling-isnt-magic/" TargetMode="External"/><Relationship Id="rId5" Type="http://schemas.openxmlformats.org/officeDocument/2006/relationships/hyperlink" Target="https://sloanreview.mit.edu/article/predictive-models-can-lose-the-plot-heres-how-to-keep-them-on-track/" TargetMode="External"/><Relationship Id="rId4" Type="http://schemas.openxmlformats.org/officeDocument/2006/relationships/hyperlink" Target="https://doi.org/10.5220/0003388705510562"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news.mit.edu/2023/improving-machine-learning-models-reliability-0213"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philips.com/a-w/about/news/archive/features/20200604-predictive-analytics-in-healthcare-three-real-world-examples.html" TargetMode="External"/><Relationship Id="rId5" Type="http://schemas.openxmlformats.org/officeDocument/2006/relationships/hyperlink" Target="https://doi.org/10.1287/moor.1120.0548" TargetMode="External"/><Relationship Id="rId4" Type="http://schemas.openxmlformats.org/officeDocument/2006/relationships/hyperlink" Target="https://www.deloitte.com/us/en/Industries/banking-capital-markets/about.html"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doi.org/10.13140/RG.2.2.18442.18882"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modernanalyst.com/Resources/Articles/tabid/115/ID/5249/How-to-Improve-Cyber-Security-with-Enterprise-Architecture.aspx" TargetMode="External"/><Relationship Id="rId5" Type="http://schemas.openxmlformats.org/officeDocument/2006/relationships/hyperlink" Target="https://www.nccoe.nist.gov/sites/default/files/legacy-files/zta-project-description-final.pdf" TargetMode="External"/><Relationship Id="rId4" Type="http://schemas.openxmlformats.org/officeDocument/2006/relationships/hyperlink" Target="https://www.cisa.gov/sites/default/files/2023-04/zero_trust_maturity_model_v2_508.pdf"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www.cisa.gov/sites/default/files/publications/Cloud%20Security%20Technical%20Reference%20Architecture.pdf"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securityscientist.net/blog/nist-risk-assessment-steps/" TargetMode="External"/><Relationship Id="rId5" Type="http://schemas.openxmlformats.org/officeDocument/2006/relationships/hyperlink" Target="https://www.cisa.gov/sites/default/files/2024-09/24_0828_safecom_guide_getting_started_cybersecurity_assessment_2022_final_508C.pdf" TargetMode="External"/><Relationship Id="rId4" Type="http://schemas.openxmlformats.org/officeDocument/2006/relationships/hyperlink" Target="https://doi.org/10.6028/nist.ir.8286a"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drata.com/blog/cybersecurity-roi" TargetMode="External"/><Relationship Id="rId7" Type="http://schemas.openxmlformats.org/officeDocument/2006/relationships/hyperlink" Target="https://medium.com/@boydrussells/using-enterprise-architecture-for-supply-chain-management-afefbcdb0e10"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itarch.info/2020/08/enterprise-architecture-business-and-it.html" TargetMode="External"/><Relationship Id="rId5" Type="http://schemas.openxmlformats.org/officeDocument/2006/relationships/hyperlink" Target="https://jelvix.medium.com/align-your-it-and-business-goals-with-togaf-edc97c415197" TargetMode="External"/><Relationship Id="rId4" Type="http://schemas.openxmlformats.org/officeDocument/2006/relationships/hyperlink" Target="https://www.cyvent.com/post/calculating-roi-for-cybersecurity"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www.hhs.gov/hipaa/for-professionals/security/index.html" TargetMode="External"/><Relationship Id="rId7" Type="http://schemas.openxmlformats.org/officeDocument/2006/relationships/hyperlink" Target="https://doi.org/10.6028/nist.sp.800-207"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arxsystems.com/resources/user-guides/16.1/guidebooks/enterprise-architecture.pdf" TargetMode="External"/><Relationship Id="rId5" Type="http://schemas.openxmlformats.org/officeDocument/2006/relationships/hyperlink" Target="https://www.youtube.com/watch?v=45aubDooFys" TargetMode="External"/><Relationship Id="rId4" Type="http://schemas.openxmlformats.org/officeDocument/2006/relationships/hyperlink" Target="https://dig8ital.com/post/what-is-security-architecture-and-what-do-you-need-to-know/"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s://dodcio.defense.gov/Library/DoD-Architecture-Framework/dodaf20_presentation/" TargetMode="External"/><Relationship Id="rId7" Type="http://schemas.openxmlformats.org/officeDocument/2006/relationships/hyperlink" Target="https://www.lucidchart.com/blog/creating-basic-diagrams"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linkedin.com/pulse/analytics-enterprise-architecture-approach-rodrigo-bocanegra-cruz/" TargetMode="External"/><Relationship Id="rId5" Type="http://schemas.openxmlformats.org/officeDocument/2006/relationships/hyperlink" Target="https://www.planview.com/resources/guide/definitive-digital-transformation-guide/enterprise-architecture-digital-transformation/" TargetMode="External"/><Relationship Id="rId4" Type="http://schemas.openxmlformats.org/officeDocument/2006/relationships/hyperlink" Target="https://www.acqnotes.com/Attachments/DoD%20Architecture%20Framework%20Version%202.0.pdf"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sparxsystems.com/resources/gallery/diagrams/architecture/arc-main-page.html" TargetMode="External"/><Relationship Id="rId7" Type="http://schemas.openxmlformats.org/officeDocument/2006/relationships/hyperlink" Target="https://doi.org/10.3390/su12218902"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eb.s.ebscohost.com/ehost/pdfviewer/pdfviewer?vid=0&amp;sid=d70e844f-a3b3-47e8-9463-e0af63b40855%40redis" TargetMode="External"/><Relationship Id="rId5" Type="http://schemas.openxmlformats.org/officeDocument/2006/relationships/hyperlink" Target="https://ceur-ws.org/Vol-1023/paper3.pdf" TargetMode="External"/><Relationship Id="rId4" Type="http://schemas.openxmlformats.org/officeDocument/2006/relationships/hyperlink" Target="https://online.visual-paradigm.com/knowledge/business-design/what-is-enterprise-archtiecture-diagr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9616E272-0992-2FDC-FEDF-35801DAC389C}"/>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15CD9338-956E-7611-1CEA-0FE4212DDBC6}"/>
              </a:ext>
            </a:extLst>
          </p:cNvPr>
          <p:cNvSpPr>
            <a:spLocks noGrp="1"/>
          </p:cNvSpPr>
          <p:nvPr>
            <p:ph type="ctrTitle"/>
          </p:nvPr>
        </p:nvSpPr>
        <p:spPr>
          <a:solidFill>
            <a:schemeClr val="tx1">
              <a:alpha val="70000"/>
            </a:schemeClr>
          </a:solidFill>
        </p:spPr>
        <p:txBody>
          <a:bodyPr>
            <a:normAutofit fontScale="90000"/>
          </a:bodyPr>
          <a:lstStyle/>
          <a:p>
            <a:r>
              <a:rPr lang="en-US" dirty="0">
                <a:solidFill>
                  <a:sysClr val="windowText" lastClr="000000"/>
                </a:solidFill>
              </a:rPr>
              <a:t>Harmonizing AlphaCorp: Unveiling a Unified Multi-Domain Enterprise Architecture</a:t>
            </a:r>
          </a:p>
        </p:txBody>
      </p:sp>
      <p:sp>
        <p:nvSpPr>
          <p:cNvPr id="3" name="Subtitle 2">
            <a:extLst>
              <a:ext uri="{FF2B5EF4-FFF2-40B4-BE49-F238E27FC236}">
                <a16:creationId xmlns:a16="http://schemas.microsoft.com/office/drawing/2014/main" id="{62E46CA1-283B-EF6A-BE26-1FA3E7F6B84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66807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DF3926AA-10B6-5E79-6F17-28E6DC052EA1}"/>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8040EF23-AB15-1204-8D36-4DFA7ED6C7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47A87B7B-3580-FF28-9139-B32CAC2C618D}"/>
              </a:ext>
            </a:extLst>
          </p:cNvPr>
          <p:cNvSpPr>
            <a:spLocks noGrp="1"/>
          </p:cNvSpPr>
          <p:nvPr>
            <p:ph idx="1"/>
          </p:nvPr>
        </p:nvSpPr>
        <p:spPr>
          <a:solidFill>
            <a:schemeClr val="tx1">
              <a:alpha val="80000"/>
            </a:schemeClr>
          </a:solidFill>
        </p:spPr>
        <p:txBody>
          <a:bodyPr/>
          <a:lstStyle/>
          <a:p>
            <a:r>
              <a:rPr lang="en-US" dirty="0">
                <a:solidFill>
                  <a:schemeClr val="bg1"/>
                </a:solidFill>
              </a:rPr>
              <a:t>AlphaCorp Current State Analysis</a:t>
            </a:r>
          </a:p>
          <a:p>
            <a:r>
              <a:rPr lang="en-US" dirty="0">
                <a:solidFill>
                  <a:schemeClr val="bg1"/>
                </a:solidFill>
              </a:rPr>
              <a:t>Enterprise Architecture Framework</a:t>
            </a:r>
          </a:p>
          <a:p>
            <a:r>
              <a:rPr lang="en-US" dirty="0">
                <a:solidFill>
                  <a:schemeClr val="bg1"/>
                </a:solidFill>
              </a:rPr>
              <a:t>Predictive Modeling</a:t>
            </a:r>
          </a:p>
          <a:p>
            <a:r>
              <a:rPr lang="en-US" dirty="0">
                <a:solidFill>
                  <a:schemeClr val="bg1"/>
                </a:solidFill>
              </a:rPr>
              <a:t>Cybersecurity</a:t>
            </a:r>
          </a:p>
          <a:p>
            <a:r>
              <a:rPr lang="en-US" dirty="0">
                <a:solidFill>
                  <a:schemeClr val="bg1"/>
                </a:solidFill>
              </a:rPr>
              <a:t>Product Development Integration – Healthcare</a:t>
            </a:r>
          </a:p>
          <a:p>
            <a:r>
              <a:rPr lang="en-US" dirty="0">
                <a:solidFill>
                  <a:schemeClr val="bg1"/>
                </a:solidFill>
              </a:rPr>
              <a:t>Solutions</a:t>
            </a:r>
          </a:p>
          <a:p>
            <a:endParaRPr lang="en-US" dirty="0"/>
          </a:p>
        </p:txBody>
      </p:sp>
    </p:spTree>
    <p:extLst>
      <p:ext uri="{BB962C8B-B14F-4D97-AF65-F5344CB8AC3E}">
        <p14:creationId xmlns:p14="http://schemas.microsoft.com/office/powerpoint/2010/main" val="2245911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6627-E23C-A8B5-3E0F-912F522867A6}"/>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1FFC57C7-32E5-994B-D86E-6541C4B11A88}"/>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E9DBED17-DC57-2945-086D-B582D93147DE}"/>
              </a:ext>
            </a:extLst>
          </p:cNvPr>
          <p:cNvSpPr>
            <a:spLocks noGrp="1"/>
          </p:cNvSpPr>
          <p:nvPr>
            <p:ph type="title"/>
          </p:nvPr>
        </p:nvSpPr>
        <p:spPr>
          <a:xfrm>
            <a:off x="831850" y="3429000"/>
            <a:ext cx="10515600" cy="1133475"/>
          </a:xfrm>
          <a:solidFill>
            <a:schemeClr val="tx1">
              <a:alpha val="70000"/>
            </a:schemeClr>
          </a:solidFill>
        </p:spPr>
        <p:txBody>
          <a:bodyPr>
            <a:normAutofit/>
          </a:bodyPr>
          <a:lstStyle/>
          <a:p>
            <a:pPr algn="ctr"/>
            <a:r>
              <a:rPr lang="en-US" dirty="0">
                <a:solidFill>
                  <a:sysClr val="windowText" lastClr="000000"/>
                </a:solidFill>
              </a:rPr>
              <a:t>AlphaCorp Current State Analysis</a:t>
            </a:r>
          </a:p>
        </p:txBody>
      </p:sp>
      <p:sp>
        <p:nvSpPr>
          <p:cNvPr id="3" name="Text Placeholder 2">
            <a:extLst>
              <a:ext uri="{FF2B5EF4-FFF2-40B4-BE49-F238E27FC236}">
                <a16:creationId xmlns:a16="http://schemas.microsoft.com/office/drawing/2014/main" id="{3072C720-33D9-FBED-9C8C-B49A4E5AAF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2717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7566BE52-E113-1D29-3737-D4EFFFA909DD}"/>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C4C9A113-F0C2-F13C-3EEC-D18CC886C6C4}"/>
              </a:ext>
            </a:extLst>
          </p:cNvPr>
          <p:cNvSpPr>
            <a:spLocks noGrp="1"/>
          </p:cNvSpPr>
          <p:nvPr>
            <p:ph type="title"/>
          </p:nvPr>
        </p:nvSpPr>
        <p:spPr/>
        <p:txBody>
          <a:bodyPr/>
          <a:lstStyle/>
          <a:p>
            <a:r>
              <a:rPr lang="en-US" dirty="0"/>
              <a:t>AlphaCorp – Three Divisions Into One</a:t>
            </a:r>
          </a:p>
        </p:txBody>
      </p:sp>
      <p:sp>
        <p:nvSpPr>
          <p:cNvPr id="8" name="Rectangle 7">
            <a:extLst>
              <a:ext uri="{FF2B5EF4-FFF2-40B4-BE49-F238E27FC236}">
                <a16:creationId xmlns:a16="http://schemas.microsoft.com/office/drawing/2014/main" id="{DDF242FF-22FE-9D19-DE05-4901A3202E24}"/>
              </a:ext>
            </a:extLst>
          </p:cNvPr>
          <p:cNvSpPr/>
          <p:nvPr/>
        </p:nvSpPr>
        <p:spPr>
          <a:xfrm>
            <a:off x="1146378" y="1527779"/>
            <a:ext cx="3261604" cy="534048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47A8872-4AA9-839B-32A9-627E5BCFE676}"/>
              </a:ext>
            </a:extLst>
          </p:cNvPr>
          <p:cNvSpPr/>
          <p:nvPr/>
        </p:nvSpPr>
        <p:spPr>
          <a:xfrm>
            <a:off x="4619287" y="1517509"/>
            <a:ext cx="3261604" cy="534048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73F77AC-6941-6879-F448-E816DF4EA8BC}"/>
              </a:ext>
            </a:extLst>
          </p:cNvPr>
          <p:cNvSpPr/>
          <p:nvPr/>
        </p:nvSpPr>
        <p:spPr>
          <a:xfrm>
            <a:off x="8092196" y="1517509"/>
            <a:ext cx="3261604" cy="534048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Doctor female outline">
            <a:extLst>
              <a:ext uri="{FF2B5EF4-FFF2-40B4-BE49-F238E27FC236}">
                <a16:creationId xmlns:a16="http://schemas.microsoft.com/office/drawing/2014/main" id="{9BE46DBB-1161-F303-BCF1-DED29EBCC6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71544" y="1739290"/>
            <a:ext cx="914400" cy="914400"/>
          </a:xfrm>
          <a:prstGeom prst="rect">
            <a:avLst/>
          </a:prstGeom>
        </p:spPr>
      </p:pic>
      <p:pic>
        <p:nvPicPr>
          <p:cNvPr id="6" name="Graphic 5" descr="Internet Banking with solid fill">
            <a:extLst>
              <a:ext uri="{FF2B5EF4-FFF2-40B4-BE49-F238E27FC236}">
                <a16:creationId xmlns:a16="http://schemas.microsoft.com/office/drawing/2014/main" id="{C98E5354-2D1B-E0A0-9928-5AD26B0A04F8}"/>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742561" y="1709746"/>
            <a:ext cx="914400" cy="914400"/>
          </a:xfrm>
          <a:prstGeom prst="rect">
            <a:avLst/>
          </a:prstGeom>
        </p:spPr>
      </p:pic>
      <p:pic>
        <p:nvPicPr>
          <p:cNvPr id="7" name="Graphic 6" descr="Ecommerce with solid fill">
            <a:extLst>
              <a:ext uri="{FF2B5EF4-FFF2-40B4-BE49-F238E27FC236}">
                <a16:creationId xmlns:a16="http://schemas.microsoft.com/office/drawing/2014/main" id="{6BE446EB-4703-5247-A44E-759D2DED876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217361" y="1695458"/>
            <a:ext cx="914400" cy="914400"/>
          </a:xfrm>
          <a:prstGeom prst="rect">
            <a:avLst/>
          </a:prstGeom>
        </p:spPr>
      </p:pic>
      <p:sp>
        <p:nvSpPr>
          <p:cNvPr id="11" name="Rectangle 10">
            <a:extLst>
              <a:ext uri="{FF2B5EF4-FFF2-40B4-BE49-F238E27FC236}">
                <a16:creationId xmlns:a16="http://schemas.microsoft.com/office/drawing/2014/main" id="{6D1AFFE1-3016-5DDF-4EE7-C2C71DC5C8CF}"/>
              </a:ext>
            </a:extLst>
          </p:cNvPr>
          <p:cNvSpPr/>
          <p:nvPr/>
        </p:nvSpPr>
        <p:spPr>
          <a:xfrm>
            <a:off x="0" y="2659549"/>
            <a:ext cx="12192000" cy="17020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D5070D1-6357-E264-F98C-4E752700D3D6}"/>
              </a:ext>
            </a:extLst>
          </p:cNvPr>
          <p:cNvSpPr txBox="1"/>
          <p:nvPr/>
        </p:nvSpPr>
        <p:spPr>
          <a:xfrm>
            <a:off x="60663" y="3027048"/>
            <a:ext cx="1347549" cy="646331"/>
          </a:xfrm>
          <a:prstGeom prst="rect">
            <a:avLst/>
          </a:prstGeom>
          <a:noFill/>
        </p:spPr>
        <p:txBody>
          <a:bodyPr wrap="square" rtlCol="0">
            <a:spAutoFit/>
          </a:bodyPr>
          <a:lstStyle/>
          <a:p>
            <a:r>
              <a:rPr lang="en-US" dirty="0"/>
              <a:t>Strategic Goals</a:t>
            </a:r>
          </a:p>
        </p:txBody>
      </p:sp>
      <p:sp>
        <p:nvSpPr>
          <p:cNvPr id="15" name="Rectangle 14">
            <a:extLst>
              <a:ext uri="{FF2B5EF4-FFF2-40B4-BE49-F238E27FC236}">
                <a16:creationId xmlns:a16="http://schemas.microsoft.com/office/drawing/2014/main" id="{5DD0844E-2E56-A1A0-7014-83C8859CFAC3}"/>
              </a:ext>
            </a:extLst>
          </p:cNvPr>
          <p:cNvSpPr/>
          <p:nvPr/>
        </p:nvSpPr>
        <p:spPr>
          <a:xfrm>
            <a:off x="1621" y="4563569"/>
            <a:ext cx="12192000" cy="1381328"/>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16CCEC6-42E9-BC5B-F332-BE510B31C9B4}"/>
              </a:ext>
            </a:extLst>
          </p:cNvPr>
          <p:cNvSpPr txBox="1"/>
          <p:nvPr/>
        </p:nvSpPr>
        <p:spPr>
          <a:xfrm>
            <a:off x="-27563" y="4778305"/>
            <a:ext cx="1524000" cy="353943"/>
          </a:xfrm>
          <a:prstGeom prst="rect">
            <a:avLst/>
          </a:prstGeom>
          <a:noFill/>
        </p:spPr>
        <p:txBody>
          <a:bodyPr wrap="square" rtlCol="0">
            <a:spAutoFit/>
          </a:bodyPr>
          <a:lstStyle/>
          <a:p>
            <a:r>
              <a:rPr lang="en-US" sz="1700" dirty="0"/>
              <a:t>Challenges</a:t>
            </a:r>
          </a:p>
        </p:txBody>
      </p:sp>
      <p:sp>
        <p:nvSpPr>
          <p:cNvPr id="17" name="Rectangle 16">
            <a:extLst>
              <a:ext uri="{FF2B5EF4-FFF2-40B4-BE49-F238E27FC236}">
                <a16:creationId xmlns:a16="http://schemas.microsoft.com/office/drawing/2014/main" id="{547D5806-AC3B-DBA8-124B-90D040E0FC2D}"/>
              </a:ext>
            </a:extLst>
          </p:cNvPr>
          <p:cNvSpPr/>
          <p:nvPr/>
        </p:nvSpPr>
        <p:spPr>
          <a:xfrm>
            <a:off x="0" y="6067773"/>
            <a:ext cx="12192000" cy="7902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C03BAB9-3A91-A971-C01E-1E1866D913E2}"/>
              </a:ext>
            </a:extLst>
          </p:cNvPr>
          <p:cNvSpPr txBox="1"/>
          <p:nvPr/>
        </p:nvSpPr>
        <p:spPr>
          <a:xfrm>
            <a:off x="1146378" y="2756507"/>
            <a:ext cx="3164731" cy="1877437"/>
          </a:xfrm>
          <a:prstGeom prst="rect">
            <a:avLst/>
          </a:prstGeom>
          <a:noFill/>
        </p:spPr>
        <p:txBody>
          <a:bodyPr wrap="square" rtlCol="0">
            <a:spAutoFit/>
          </a:bodyPr>
          <a:lstStyle/>
          <a:p>
            <a:pPr marL="171450" indent="-171450">
              <a:buFont typeface="Arial" panose="020B0604020202020204" pitchFamily="34" charset="0"/>
              <a:buChar char="•"/>
            </a:pPr>
            <a:r>
              <a:rPr lang="en-US" sz="1400" dirty="0"/>
              <a:t>Enhance patient care through innovative technology integration.</a:t>
            </a:r>
          </a:p>
          <a:p>
            <a:pPr marL="171450" indent="-171450">
              <a:buFont typeface="Arial" panose="020B0604020202020204" pitchFamily="34" charset="0"/>
              <a:buChar char="•"/>
            </a:pPr>
            <a:r>
              <a:rPr lang="en-US" sz="1400" dirty="0"/>
              <a:t>Achieve top-tier data security and compliance with healthcare regulations.               </a:t>
            </a:r>
          </a:p>
          <a:p>
            <a:pPr marL="171450" indent="-171450">
              <a:buFont typeface="Arial" panose="020B0604020202020204" pitchFamily="34" charset="0"/>
              <a:buChar char="•"/>
            </a:pPr>
            <a:r>
              <a:rPr lang="en-US" sz="1400" dirty="0"/>
              <a:t>Streamline operations for cost efficiency and service quality.</a:t>
            </a:r>
          </a:p>
          <a:p>
            <a:endParaRPr lang="en-US" dirty="0"/>
          </a:p>
        </p:txBody>
      </p:sp>
      <p:sp>
        <p:nvSpPr>
          <p:cNvPr id="20" name="TextBox 19">
            <a:extLst>
              <a:ext uri="{FF2B5EF4-FFF2-40B4-BE49-F238E27FC236}">
                <a16:creationId xmlns:a16="http://schemas.microsoft.com/office/drawing/2014/main" id="{587EBEC6-A77A-7D3C-3A7F-A7F55395537D}"/>
              </a:ext>
            </a:extLst>
          </p:cNvPr>
          <p:cNvSpPr txBox="1"/>
          <p:nvPr/>
        </p:nvSpPr>
        <p:spPr>
          <a:xfrm>
            <a:off x="4646850" y="2756507"/>
            <a:ext cx="3137168" cy="1908215"/>
          </a:xfrm>
          <a:prstGeom prst="rect">
            <a:avLst/>
          </a:prstGeom>
          <a:noFill/>
        </p:spPr>
        <p:txBody>
          <a:bodyPr wrap="square" rtlCol="0">
            <a:spAutoFit/>
          </a:bodyPr>
          <a:lstStyle/>
          <a:p>
            <a:pPr marL="171450" indent="-171450">
              <a:buFont typeface="Arial" panose="020B0604020202020204" pitchFamily="34" charset="0"/>
              <a:buChar char="•"/>
            </a:pPr>
            <a:r>
              <a:rPr lang="en-US" sz="1400" dirty="0"/>
              <a:t>Lead in cybersecurity measures to protect financial transactions.               </a:t>
            </a:r>
          </a:p>
          <a:p>
            <a:pPr marL="171450" indent="-171450">
              <a:buFont typeface="Arial" panose="020B0604020202020204" pitchFamily="34" charset="0"/>
              <a:buChar char="•"/>
            </a:pPr>
            <a:r>
              <a:rPr lang="en-US" sz="1400" dirty="0"/>
              <a:t>Drive innovation in financial services to enhance customer experience. </a:t>
            </a:r>
          </a:p>
          <a:p>
            <a:pPr marL="171450" indent="-171450">
              <a:buFont typeface="Arial" panose="020B0604020202020204" pitchFamily="34" charset="0"/>
              <a:buChar char="•"/>
            </a:pPr>
            <a:r>
              <a:rPr lang="en-US" sz="1400" dirty="0"/>
              <a:t>Optimize operational costs through technological advancements.</a:t>
            </a:r>
          </a:p>
          <a:p>
            <a:endParaRPr lang="en-US" sz="2000" dirty="0"/>
          </a:p>
        </p:txBody>
      </p:sp>
      <p:sp>
        <p:nvSpPr>
          <p:cNvPr id="21" name="TextBox 20">
            <a:extLst>
              <a:ext uri="{FF2B5EF4-FFF2-40B4-BE49-F238E27FC236}">
                <a16:creationId xmlns:a16="http://schemas.microsoft.com/office/drawing/2014/main" id="{5A4BC5EA-D42B-C69B-A0D4-B074F5FDD223}"/>
              </a:ext>
            </a:extLst>
          </p:cNvPr>
          <p:cNvSpPr txBox="1"/>
          <p:nvPr/>
        </p:nvSpPr>
        <p:spPr>
          <a:xfrm>
            <a:off x="8092195" y="2653690"/>
            <a:ext cx="3379957" cy="1692771"/>
          </a:xfrm>
          <a:prstGeom prst="rect">
            <a:avLst/>
          </a:prstGeom>
          <a:noFill/>
        </p:spPr>
        <p:txBody>
          <a:bodyPr wrap="square" rtlCol="0">
            <a:spAutoFit/>
          </a:bodyPr>
          <a:lstStyle/>
          <a:p>
            <a:pPr marL="171450" indent="-171450">
              <a:buFont typeface="Arial" panose="020B0604020202020204" pitchFamily="34" charset="0"/>
              <a:buChar char="•"/>
            </a:pPr>
            <a:r>
              <a:rPr lang="en-US" sz="1300" dirty="0"/>
              <a:t>Enhance user experience with personalized shopping and efficient service. </a:t>
            </a:r>
          </a:p>
          <a:p>
            <a:pPr marL="171450" indent="-171450">
              <a:buFont typeface="Arial" panose="020B0604020202020204" pitchFamily="34" charset="0"/>
              <a:buChar char="•"/>
            </a:pPr>
            <a:r>
              <a:rPr lang="en-US" sz="1300" dirty="0"/>
              <a:t>Expand market reach through diversified product offerings and marketing strategies. </a:t>
            </a:r>
          </a:p>
          <a:p>
            <a:pPr marL="171450" indent="-171450">
              <a:buFont typeface="Arial" panose="020B0604020202020204" pitchFamily="34" charset="0"/>
              <a:buChar char="•"/>
            </a:pPr>
            <a:r>
              <a:rPr lang="en-US" sz="1300" dirty="0"/>
              <a:t>Scale operations effectively to support growth without significant cost increases.</a:t>
            </a:r>
          </a:p>
        </p:txBody>
      </p:sp>
      <p:sp>
        <p:nvSpPr>
          <p:cNvPr id="22" name="TextBox 21">
            <a:extLst>
              <a:ext uri="{FF2B5EF4-FFF2-40B4-BE49-F238E27FC236}">
                <a16:creationId xmlns:a16="http://schemas.microsoft.com/office/drawing/2014/main" id="{EB2B4382-677A-0827-AD88-0CF6BD4B8E82}"/>
              </a:ext>
            </a:extLst>
          </p:cNvPr>
          <p:cNvSpPr txBox="1"/>
          <p:nvPr/>
        </p:nvSpPr>
        <p:spPr>
          <a:xfrm>
            <a:off x="1118815" y="4605339"/>
            <a:ext cx="3192294" cy="1384995"/>
          </a:xfrm>
          <a:prstGeom prst="rect">
            <a:avLst/>
          </a:prstGeom>
          <a:noFill/>
        </p:spPr>
        <p:txBody>
          <a:bodyPr wrap="square" rtlCol="0">
            <a:spAutoFit/>
          </a:bodyPr>
          <a:lstStyle/>
          <a:p>
            <a:pPr marL="171450" lvl="0" indent="-171450">
              <a:buFont typeface="Arial" panose="020B0604020202020204" pitchFamily="34" charset="0"/>
              <a:buChar char="•"/>
            </a:pPr>
            <a:r>
              <a:rPr lang="en-US" sz="1400" dirty="0"/>
              <a:t>Addressing the rising cybersecurity threats to patient data.</a:t>
            </a:r>
          </a:p>
          <a:p>
            <a:pPr marL="171450" lvl="0" indent="-171450">
              <a:buFont typeface="Arial" panose="020B0604020202020204" pitchFamily="34" charset="0"/>
              <a:buChar char="•"/>
            </a:pPr>
            <a:r>
              <a:rPr lang="en-US" sz="1400" dirty="0"/>
              <a:t>Integrating telehealth services with existing healthcare and cross-domain systems.</a:t>
            </a:r>
          </a:p>
          <a:p>
            <a:endParaRPr lang="en-US" sz="1400" dirty="0"/>
          </a:p>
        </p:txBody>
      </p:sp>
      <p:sp>
        <p:nvSpPr>
          <p:cNvPr id="24" name="TextBox 23">
            <a:extLst>
              <a:ext uri="{FF2B5EF4-FFF2-40B4-BE49-F238E27FC236}">
                <a16:creationId xmlns:a16="http://schemas.microsoft.com/office/drawing/2014/main" id="{C42EF251-420A-B0C7-89F5-2B61BBC6440A}"/>
              </a:ext>
            </a:extLst>
          </p:cNvPr>
          <p:cNvSpPr txBox="1"/>
          <p:nvPr/>
        </p:nvSpPr>
        <p:spPr>
          <a:xfrm>
            <a:off x="4646850" y="4584769"/>
            <a:ext cx="3192294" cy="1692771"/>
          </a:xfrm>
          <a:prstGeom prst="rect">
            <a:avLst/>
          </a:prstGeom>
          <a:noFill/>
        </p:spPr>
        <p:txBody>
          <a:bodyPr wrap="square" rtlCol="0">
            <a:spAutoFit/>
          </a:bodyPr>
          <a:lstStyle/>
          <a:p>
            <a:pPr marL="171450" lvl="0" indent="-171450">
              <a:buFont typeface="Arial" panose="020B0604020202020204" pitchFamily="34" charset="0"/>
              <a:buChar char="•"/>
            </a:pPr>
            <a:r>
              <a:rPr lang="en-US" sz="1400" dirty="0"/>
              <a:t>Adapting to rapid changes in fintech regulations and cybersecurity threats.</a:t>
            </a:r>
          </a:p>
          <a:p>
            <a:pPr marL="171450" lvl="0" indent="-171450">
              <a:buFont typeface="Arial" panose="020B0604020202020204" pitchFamily="34" charset="0"/>
              <a:buChar char="•"/>
            </a:pPr>
            <a:r>
              <a:rPr lang="en-US" sz="1400" dirty="0"/>
              <a:t>Ensuring seamless integration of payment solutions with healthcare and e-commerce platforms.</a:t>
            </a:r>
          </a:p>
          <a:p>
            <a:endParaRPr lang="en-US" sz="2000" dirty="0"/>
          </a:p>
        </p:txBody>
      </p:sp>
      <p:sp>
        <p:nvSpPr>
          <p:cNvPr id="25" name="TextBox 24">
            <a:extLst>
              <a:ext uri="{FF2B5EF4-FFF2-40B4-BE49-F238E27FC236}">
                <a16:creationId xmlns:a16="http://schemas.microsoft.com/office/drawing/2014/main" id="{C3534C47-D2B9-CAC2-D93F-3070651743EB}"/>
              </a:ext>
            </a:extLst>
          </p:cNvPr>
          <p:cNvSpPr txBox="1"/>
          <p:nvPr/>
        </p:nvSpPr>
        <p:spPr>
          <a:xfrm>
            <a:off x="8126851" y="4563569"/>
            <a:ext cx="3192294" cy="1692771"/>
          </a:xfrm>
          <a:prstGeom prst="rect">
            <a:avLst/>
          </a:prstGeom>
          <a:noFill/>
        </p:spPr>
        <p:txBody>
          <a:bodyPr wrap="square" rtlCol="0">
            <a:spAutoFit/>
          </a:bodyPr>
          <a:lstStyle/>
          <a:p>
            <a:pPr marL="171450" lvl="0" indent="-171450">
              <a:buFont typeface="Arial" panose="020B0604020202020204" pitchFamily="34" charset="0"/>
              <a:buChar char="•"/>
            </a:pPr>
            <a:r>
              <a:rPr lang="en-US" sz="1400" dirty="0"/>
              <a:t>Balancing rapid expansion with maintaining high customer satisfaction.</a:t>
            </a:r>
          </a:p>
          <a:p>
            <a:pPr marL="171450" lvl="0" indent="-171450">
              <a:buFont typeface="Arial" panose="020B0604020202020204" pitchFamily="34" charset="0"/>
              <a:buChar char="•"/>
            </a:pPr>
            <a:r>
              <a:rPr lang="en-US" sz="1400" dirty="0"/>
              <a:t>Integrating e-commerce platforms with fintech and healthcare services for a unified customer experience.</a:t>
            </a:r>
          </a:p>
          <a:p>
            <a:endParaRPr lang="en-US" sz="2000" dirty="0"/>
          </a:p>
        </p:txBody>
      </p:sp>
      <p:sp>
        <p:nvSpPr>
          <p:cNvPr id="26" name="TextBox 25">
            <a:extLst>
              <a:ext uri="{FF2B5EF4-FFF2-40B4-BE49-F238E27FC236}">
                <a16:creationId xmlns:a16="http://schemas.microsoft.com/office/drawing/2014/main" id="{7670363F-2AA4-A2D0-4ABF-FA7DE2E7789B}"/>
              </a:ext>
            </a:extLst>
          </p:cNvPr>
          <p:cNvSpPr txBox="1"/>
          <p:nvPr/>
        </p:nvSpPr>
        <p:spPr>
          <a:xfrm>
            <a:off x="246840" y="6256297"/>
            <a:ext cx="652699" cy="369332"/>
          </a:xfrm>
          <a:prstGeom prst="rect">
            <a:avLst/>
          </a:prstGeom>
          <a:noFill/>
        </p:spPr>
        <p:txBody>
          <a:bodyPr wrap="square" rtlCol="0">
            <a:spAutoFit/>
          </a:bodyPr>
          <a:lstStyle/>
          <a:p>
            <a:r>
              <a:rPr lang="en-US" dirty="0"/>
              <a:t>Goal</a:t>
            </a:r>
          </a:p>
        </p:txBody>
      </p:sp>
      <p:sp>
        <p:nvSpPr>
          <p:cNvPr id="28" name="TextBox 27">
            <a:extLst>
              <a:ext uri="{FF2B5EF4-FFF2-40B4-BE49-F238E27FC236}">
                <a16:creationId xmlns:a16="http://schemas.microsoft.com/office/drawing/2014/main" id="{F22748A0-D381-2883-1FBF-0BEDBD0F9130}"/>
              </a:ext>
            </a:extLst>
          </p:cNvPr>
          <p:cNvSpPr txBox="1"/>
          <p:nvPr/>
        </p:nvSpPr>
        <p:spPr>
          <a:xfrm>
            <a:off x="1118815" y="6298110"/>
            <a:ext cx="10234985" cy="369332"/>
          </a:xfrm>
          <a:prstGeom prst="rect">
            <a:avLst/>
          </a:prstGeom>
          <a:solidFill>
            <a:schemeClr val="accent3">
              <a:lumMod val="50000"/>
            </a:schemeClr>
          </a:solidFill>
        </p:spPr>
        <p:txBody>
          <a:bodyPr wrap="square">
            <a:spAutoFit/>
          </a:bodyPr>
          <a:lstStyle/>
          <a:p>
            <a:pPr algn="ctr"/>
            <a:r>
              <a:rPr lang="en-US" b="1" dirty="0"/>
              <a:t>To create a unified user experience and architecture across AlphaCorp.</a:t>
            </a:r>
          </a:p>
        </p:txBody>
      </p:sp>
    </p:spTree>
    <p:extLst>
      <p:ext uri="{BB962C8B-B14F-4D97-AF65-F5344CB8AC3E}">
        <p14:creationId xmlns:p14="http://schemas.microsoft.com/office/powerpoint/2010/main" val="1516841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Abstract particle graph background">
            <a:extLst>
              <a:ext uri="{FF2B5EF4-FFF2-40B4-BE49-F238E27FC236}">
                <a16:creationId xmlns:a16="http://schemas.microsoft.com/office/drawing/2014/main" id="{60000212-D9DD-03B3-2481-6FC7C4FE882D}"/>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95D2AF07-356D-EB93-1180-0CA826EECE5C}"/>
              </a:ext>
            </a:extLst>
          </p:cNvPr>
          <p:cNvSpPr>
            <a:spLocks noGrp="1"/>
          </p:cNvSpPr>
          <p:nvPr>
            <p:ph type="title"/>
          </p:nvPr>
        </p:nvSpPr>
        <p:spPr/>
        <p:txBody>
          <a:bodyPr>
            <a:normAutofit/>
          </a:bodyPr>
          <a:lstStyle/>
          <a:p>
            <a:r>
              <a:rPr lang="en-US"/>
              <a:t>AlphaCorp Analysis – Additional Pain Points</a:t>
            </a:r>
            <a:endParaRPr lang="en-US" dirty="0"/>
          </a:p>
        </p:txBody>
      </p:sp>
      <p:graphicFrame>
        <p:nvGraphicFramePr>
          <p:cNvPr id="28" name="Content Placeholder 2">
            <a:extLst>
              <a:ext uri="{FF2B5EF4-FFF2-40B4-BE49-F238E27FC236}">
                <a16:creationId xmlns:a16="http://schemas.microsoft.com/office/drawing/2014/main" id="{D0810705-655F-8B0C-F400-50C111F8BA0E}"/>
              </a:ext>
            </a:extLst>
          </p:cNvPr>
          <p:cNvGraphicFramePr>
            <a:graphicFrameLocks noGrp="1"/>
          </p:cNvGraphicFramePr>
          <p:nvPr>
            <p:ph idx="1"/>
            <p:extLst>
              <p:ext uri="{D42A27DB-BD31-4B8C-83A1-F6EECF244321}">
                <p14:modId xmlns:p14="http://schemas.microsoft.com/office/powerpoint/2010/main" val="3804045352"/>
              </p:ext>
            </p:extLst>
          </p:nvPr>
        </p:nvGraphicFramePr>
        <p:xfrm>
          <a:off x="838200" y="1368357"/>
          <a:ext cx="10515600" cy="5415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7270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2684DA94-6D5D-082D-EE77-D32C4B493A7C}"/>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0"/>
            <a:ext cx="12191980" cy="6857990"/>
          </a:xfrm>
          <a:prstGeom prst="rect">
            <a:avLst/>
          </a:prstGeom>
          <a:solidFill>
            <a:schemeClr val="tx1"/>
          </a:solidFill>
        </p:spPr>
      </p:pic>
      <p:sp>
        <p:nvSpPr>
          <p:cNvPr id="2" name="Title 1">
            <a:extLst>
              <a:ext uri="{FF2B5EF4-FFF2-40B4-BE49-F238E27FC236}">
                <a16:creationId xmlns:a16="http://schemas.microsoft.com/office/drawing/2014/main" id="{08BC5D59-6151-5B85-E0DD-F89B9173171C}"/>
              </a:ext>
            </a:extLst>
          </p:cNvPr>
          <p:cNvSpPr>
            <a:spLocks noGrp="1"/>
          </p:cNvSpPr>
          <p:nvPr>
            <p:ph type="title"/>
          </p:nvPr>
        </p:nvSpPr>
        <p:spPr>
          <a:xfrm>
            <a:off x="226979" y="0"/>
            <a:ext cx="10515600" cy="1325563"/>
          </a:xfrm>
        </p:spPr>
        <p:txBody>
          <a:bodyPr/>
          <a:lstStyle/>
          <a:p>
            <a:r>
              <a:rPr lang="en-US" dirty="0"/>
              <a:t>Market Research</a:t>
            </a:r>
          </a:p>
        </p:txBody>
      </p:sp>
      <p:graphicFrame>
        <p:nvGraphicFramePr>
          <p:cNvPr id="5" name="Content Placeholder 4">
            <a:extLst>
              <a:ext uri="{FF2B5EF4-FFF2-40B4-BE49-F238E27FC236}">
                <a16:creationId xmlns:a16="http://schemas.microsoft.com/office/drawing/2014/main" id="{2D147D7C-DF13-603A-3A3E-6DE4DEDDE833}"/>
              </a:ext>
            </a:extLst>
          </p:cNvPr>
          <p:cNvGraphicFramePr>
            <a:graphicFrameLocks noGrp="1"/>
          </p:cNvGraphicFramePr>
          <p:nvPr>
            <p:ph idx="1"/>
            <p:extLst>
              <p:ext uri="{D42A27DB-BD31-4B8C-83A1-F6EECF244321}">
                <p14:modId xmlns:p14="http://schemas.microsoft.com/office/powerpoint/2010/main" val="3222614163"/>
              </p:ext>
            </p:extLst>
          </p:nvPr>
        </p:nvGraphicFramePr>
        <p:xfrm>
          <a:off x="226979" y="1027906"/>
          <a:ext cx="11738042" cy="5816267"/>
        </p:xfrm>
        <a:graphic>
          <a:graphicData uri="http://schemas.openxmlformats.org/drawingml/2006/table">
            <a:tbl>
              <a:tblPr firstRow="1" bandRow="1">
                <a:tableStyleId>{1FECB4D8-DB02-4DC6-A0A2-4F2EBAE1DC90}</a:tableStyleId>
              </a:tblPr>
              <a:tblGrid>
                <a:gridCol w="1715251">
                  <a:extLst>
                    <a:ext uri="{9D8B030D-6E8A-4147-A177-3AD203B41FA5}">
                      <a16:colId xmlns:a16="http://schemas.microsoft.com/office/drawing/2014/main" val="2513275587"/>
                    </a:ext>
                  </a:extLst>
                </a:gridCol>
                <a:gridCol w="4034242">
                  <a:extLst>
                    <a:ext uri="{9D8B030D-6E8A-4147-A177-3AD203B41FA5}">
                      <a16:colId xmlns:a16="http://schemas.microsoft.com/office/drawing/2014/main" val="916909917"/>
                    </a:ext>
                  </a:extLst>
                </a:gridCol>
                <a:gridCol w="2763946">
                  <a:extLst>
                    <a:ext uri="{9D8B030D-6E8A-4147-A177-3AD203B41FA5}">
                      <a16:colId xmlns:a16="http://schemas.microsoft.com/office/drawing/2014/main" val="1104985075"/>
                    </a:ext>
                  </a:extLst>
                </a:gridCol>
                <a:gridCol w="3224603">
                  <a:extLst>
                    <a:ext uri="{9D8B030D-6E8A-4147-A177-3AD203B41FA5}">
                      <a16:colId xmlns:a16="http://schemas.microsoft.com/office/drawing/2014/main" val="3511278373"/>
                    </a:ext>
                  </a:extLst>
                </a:gridCol>
              </a:tblGrid>
              <a:tr h="741347">
                <a:tc>
                  <a:txBody>
                    <a:bodyPr/>
                    <a:lstStyle/>
                    <a:p>
                      <a:pPr algn="ctr"/>
                      <a:r>
                        <a:rPr lang="en-US" sz="2000" dirty="0"/>
                        <a:t>Division</a:t>
                      </a:r>
                    </a:p>
                  </a:txBody>
                  <a:tcPr anchor="ctr"/>
                </a:tc>
                <a:tc>
                  <a:txBody>
                    <a:bodyPr/>
                    <a:lstStyle/>
                    <a:p>
                      <a:pPr algn="ctr"/>
                      <a:r>
                        <a:rPr lang="en-US" sz="2000" dirty="0"/>
                        <a:t>Customer Behaviors</a:t>
                      </a:r>
                    </a:p>
                  </a:txBody>
                  <a:tcPr anchor="ctr"/>
                </a:tc>
                <a:tc>
                  <a:txBody>
                    <a:bodyPr/>
                    <a:lstStyle/>
                    <a:p>
                      <a:pPr algn="ctr"/>
                      <a:r>
                        <a:rPr lang="en-US" sz="2000" dirty="0"/>
                        <a:t>Customer Preferences</a:t>
                      </a:r>
                    </a:p>
                  </a:txBody>
                  <a:tcPr anchor="ctr"/>
                </a:tc>
                <a:tc>
                  <a:txBody>
                    <a:bodyPr/>
                    <a:lstStyle/>
                    <a:p>
                      <a:pPr algn="ctr"/>
                      <a:r>
                        <a:rPr lang="en-US" sz="2000" dirty="0"/>
                        <a:t>Trends and </a:t>
                      </a:r>
                      <a:r>
                        <a:rPr lang="en-US" sz="2000" i="1" u="sng" dirty="0"/>
                        <a:t>Recommendations</a:t>
                      </a:r>
                    </a:p>
                  </a:txBody>
                  <a:tcPr anchor="ctr"/>
                </a:tc>
                <a:extLst>
                  <a:ext uri="{0D108BD9-81ED-4DB2-BD59-A6C34878D82A}">
                    <a16:rowId xmlns:a16="http://schemas.microsoft.com/office/drawing/2014/main" val="2098595589"/>
                  </a:ext>
                </a:extLst>
              </a:tr>
              <a:tr h="1224835">
                <a:tc>
                  <a:txBody>
                    <a:bodyPr/>
                    <a:lstStyle/>
                    <a:p>
                      <a:pPr algn="ctr"/>
                      <a:r>
                        <a:rPr lang="en-US" sz="2000" b="1" dirty="0">
                          <a:solidFill>
                            <a:schemeClr val="tx1"/>
                          </a:solidFill>
                        </a:rPr>
                        <a:t>Healthcare</a:t>
                      </a:r>
                    </a:p>
                  </a:txBody>
                  <a:tcPr anchor="ctr">
                    <a:solidFill>
                      <a:srgbClr val="FF0000">
                        <a:alpha val="85000"/>
                      </a:srgbClr>
                    </a:solidFill>
                  </a:tcPr>
                </a:tc>
                <a:tc>
                  <a:txBody>
                    <a:bodyPr/>
                    <a:lstStyle/>
                    <a:p>
                      <a:pPr algn="ctr"/>
                      <a:r>
                        <a:rPr lang="en-US" sz="1500" kern="1200" dirty="0">
                          <a:solidFill>
                            <a:schemeClr val="tx1"/>
                          </a:solidFill>
                          <a:effectLst/>
                        </a:rPr>
                        <a:t>68% of customers prefer telemedicine over traditional visits.</a:t>
                      </a:r>
                    </a:p>
                    <a:p>
                      <a:pPr algn="ctr"/>
                      <a:r>
                        <a:rPr lang="en-US" sz="1500" kern="1200" dirty="0">
                          <a:solidFill>
                            <a:schemeClr val="tx1"/>
                          </a:solidFill>
                          <a:effectLst/>
                        </a:rPr>
                        <a:t>42% use wearable devices to track health metrics.</a:t>
                      </a:r>
                    </a:p>
                  </a:txBody>
                  <a:tcPr anchor="ctr">
                    <a:solidFill>
                      <a:srgbClr val="FF0000">
                        <a:alpha val="85000"/>
                      </a:srgbClr>
                    </a:solidFill>
                  </a:tcPr>
                </a:tc>
                <a:tc>
                  <a:txBody>
                    <a:bodyPr/>
                    <a:lstStyle/>
                    <a:p>
                      <a:pPr algn="ctr"/>
                      <a:r>
                        <a:rPr lang="en-US" sz="1500" dirty="0">
                          <a:solidFill>
                            <a:schemeClr val="tx1"/>
                          </a:solidFill>
                        </a:rPr>
                        <a:t>80% demand secure and easy-to-access health records.</a:t>
                      </a:r>
                    </a:p>
                    <a:p>
                      <a:pPr algn="ctr"/>
                      <a:r>
                        <a:rPr lang="en-US" sz="1500" dirty="0">
                          <a:solidFill>
                            <a:schemeClr val="tx1"/>
                          </a:solidFill>
                        </a:rPr>
                        <a:t>55% are interested in AI-assisted diagnosis.</a:t>
                      </a:r>
                    </a:p>
                    <a:p>
                      <a:pPr algn="ctr"/>
                      <a:endParaRPr lang="en-US" sz="1500" dirty="0">
                        <a:solidFill>
                          <a:schemeClr val="tx1"/>
                        </a:solidFill>
                      </a:endParaRPr>
                    </a:p>
                  </a:txBody>
                  <a:tcPr anchor="ctr">
                    <a:solidFill>
                      <a:srgbClr val="FF0000">
                        <a:alpha val="85000"/>
                      </a:srgbClr>
                    </a:solidFill>
                  </a:tcPr>
                </a:tc>
                <a:tc>
                  <a:txBody>
                    <a:bodyPr/>
                    <a:lstStyle/>
                    <a:p>
                      <a:pPr algn="ctr"/>
                      <a:r>
                        <a:rPr lang="en-US" sz="1500" dirty="0">
                          <a:solidFill>
                            <a:schemeClr val="tx1"/>
                          </a:solidFill>
                        </a:rPr>
                        <a:t>AI-driven personalized treatment plans.</a:t>
                      </a:r>
                    </a:p>
                    <a:p>
                      <a:pPr algn="ctr"/>
                      <a:r>
                        <a:rPr lang="en-US" sz="1500" dirty="0">
                          <a:solidFill>
                            <a:schemeClr val="tx1"/>
                          </a:solidFill>
                        </a:rPr>
                        <a:t>Blockchain for secure health records.</a:t>
                      </a:r>
                    </a:p>
                    <a:p>
                      <a:pPr algn="ctr"/>
                      <a:r>
                        <a:rPr lang="en-US" sz="1500" i="1" u="sng" dirty="0">
                          <a:solidFill>
                            <a:schemeClr val="tx1"/>
                          </a:solidFill>
                        </a:rPr>
                        <a:t>Invest in secure, blockchain-enabled health record systems.</a:t>
                      </a:r>
                    </a:p>
                    <a:p>
                      <a:pPr algn="ctr"/>
                      <a:endParaRPr lang="en-US" sz="1500" dirty="0"/>
                    </a:p>
                  </a:txBody>
                  <a:tcPr anchor="ctr">
                    <a:solidFill>
                      <a:srgbClr val="FF0000">
                        <a:alpha val="85000"/>
                      </a:srgbClr>
                    </a:solidFill>
                  </a:tcPr>
                </a:tc>
                <a:extLst>
                  <a:ext uri="{0D108BD9-81ED-4DB2-BD59-A6C34878D82A}">
                    <a16:rowId xmlns:a16="http://schemas.microsoft.com/office/drawing/2014/main" val="2957041601"/>
                  </a:ext>
                </a:extLst>
              </a:tr>
              <a:tr h="1232238">
                <a:tc>
                  <a:txBody>
                    <a:bodyPr/>
                    <a:lstStyle/>
                    <a:p>
                      <a:pPr algn="ctr"/>
                      <a:r>
                        <a:rPr lang="en-US" sz="2000" b="1" dirty="0">
                          <a:solidFill>
                            <a:schemeClr val="tx1"/>
                          </a:solidFill>
                        </a:rPr>
                        <a:t>Fintech</a:t>
                      </a:r>
                    </a:p>
                  </a:txBody>
                  <a:tcPr anchor="ctr">
                    <a:solidFill>
                      <a:schemeClr val="accent2">
                        <a:alpha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kern="1200" dirty="0">
                          <a:solidFill>
                            <a:schemeClr val="tx1"/>
                          </a:solidFill>
                          <a:effectLst/>
                        </a:rPr>
                        <a:t>75% of customers use mobile apps for banking and transactions.</a:t>
                      </a:r>
                    </a:p>
                  </a:txBody>
                  <a:tcPr anchor="ctr">
                    <a:solidFill>
                      <a:schemeClr val="accent2">
                        <a:alpha val="85000"/>
                      </a:schemeClr>
                    </a:solidFill>
                  </a:tcPr>
                </a:tc>
                <a:tc>
                  <a:txBody>
                    <a:bodyPr/>
                    <a:lstStyle/>
                    <a:p>
                      <a:pPr algn="ctr"/>
                      <a:r>
                        <a:rPr lang="en-US" sz="1500" dirty="0">
                          <a:solidFill>
                            <a:schemeClr val="tx1"/>
                          </a:solidFill>
                        </a:rPr>
                        <a:t>70% prioritize cybersecurity features.</a:t>
                      </a:r>
                    </a:p>
                    <a:p>
                      <a:pPr algn="ctr"/>
                      <a:r>
                        <a:rPr lang="en-US" sz="1500" dirty="0">
                          <a:solidFill>
                            <a:schemeClr val="tx1"/>
                          </a:solidFill>
                        </a:rPr>
                        <a:t>60% prefer platforms that offer financial advising.</a:t>
                      </a:r>
                    </a:p>
                  </a:txBody>
                  <a:tcPr anchor="ctr">
                    <a:solidFill>
                      <a:schemeClr val="accent2">
                        <a:alpha val="85000"/>
                      </a:schemeClr>
                    </a:solidFill>
                  </a:tcPr>
                </a:tc>
                <a:tc>
                  <a:txBody>
                    <a:bodyPr/>
                    <a:lstStyle/>
                    <a:p>
                      <a:pPr algn="ctr"/>
                      <a:r>
                        <a:rPr lang="en-US" sz="1500" dirty="0">
                          <a:solidFill>
                            <a:schemeClr val="tx1"/>
                          </a:solidFill>
                        </a:rPr>
                        <a:t>Rise in decentralized finance (DeFi) platforms.</a:t>
                      </a:r>
                    </a:p>
                    <a:p>
                      <a:pPr algn="ctr"/>
                      <a:r>
                        <a:rPr lang="en-US" sz="1500" dirty="0">
                          <a:solidFill>
                            <a:schemeClr val="tx1"/>
                          </a:solidFill>
                        </a:rPr>
                        <a:t>Contactless payments via IoT devices.</a:t>
                      </a:r>
                    </a:p>
                    <a:p>
                      <a:pPr algn="ctr"/>
                      <a:r>
                        <a:rPr lang="en-US" sz="1500" i="1" u="sng" dirty="0">
                          <a:solidFill>
                            <a:schemeClr val="tx1"/>
                          </a:solidFill>
                        </a:rPr>
                        <a:t>Explore integration of DeFi and cryptocurrency features.</a:t>
                      </a:r>
                    </a:p>
                    <a:p>
                      <a:pPr algn="ctr"/>
                      <a:endParaRPr lang="en-US" sz="1500" dirty="0">
                        <a:solidFill>
                          <a:schemeClr val="tx1"/>
                        </a:solidFill>
                      </a:endParaRPr>
                    </a:p>
                  </a:txBody>
                  <a:tcPr anchor="ctr">
                    <a:solidFill>
                      <a:schemeClr val="accent2">
                        <a:alpha val="85000"/>
                      </a:schemeClr>
                    </a:solidFill>
                  </a:tcPr>
                </a:tc>
                <a:extLst>
                  <a:ext uri="{0D108BD9-81ED-4DB2-BD59-A6C34878D82A}">
                    <a16:rowId xmlns:a16="http://schemas.microsoft.com/office/drawing/2014/main" val="2272217043"/>
                  </a:ext>
                </a:extLst>
              </a:tr>
              <a:tr h="1676089">
                <a:tc>
                  <a:txBody>
                    <a:bodyPr/>
                    <a:lstStyle/>
                    <a:p>
                      <a:pPr algn="ctr"/>
                      <a:r>
                        <a:rPr lang="en-US" sz="2000" b="1" dirty="0">
                          <a:solidFill>
                            <a:schemeClr val="tx1"/>
                          </a:solidFill>
                        </a:rPr>
                        <a:t>E-Commerce</a:t>
                      </a:r>
                    </a:p>
                  </a:txBody>
                  <a:tcPr anchor="ctr">
                    <a:solidFill>
                      <a:srgbClr val="00B0F0">
                        <a:alpha val="85000"/>
                      </a:srgbClr>
                    </a:solidFill>
                  </a:tcPr>
                </a:tc>
                <a:tc>
                  <a:txBody>
                    <a:bodyPr/>
                    <a:lstStyle/>
                    <a:p>
                      <a:pPr algn="ctr"/>
                      <a:r>
                        <a:rPr lang="en-US" sz="1500" kern="1200" dirty="0">
                          <a:solidFill>
                            <a:schemeClr val="tx1"/>
                          </a:solidFill>
                          <a:effectLst/>
                        </a:rPr>
                        <a:t>90% of purchases are made on mobile devices.</a:t>
                      </a:r>
                    </a:p>
                    <a:p>
                      <a:pPr algn="ctr"/>
                      <a:r>
                        <a:rPr lang="en-US" sz="1500" kern="1200" dirty="0">
                          <a:solidFill>
                            <a:schemeClr val="tx1"/>
                          </a:solidFill>
                          <a:effectLst/>
                        </a:rPr>
                        <a:t>35% of customers utilize in-app chat support.</a:t>
                      </a:r>
                      <a:endParaRPr lang="en-US" sz="1500" kern="1200" dirty="0">
                        <a:solidFill>
                          <a:schemeClr val="tx1"/>
                        </a:solidFill>
                        <a:effectLst/>
                        <a:latin typeface="+mn-lt"/>
                        <a:ea typeface="+mn-ea"/>
                        <a:cs typeface="+mn-cs"/>
                      </a:endParaRPr>
                    </a:p>
                  </a:txBody>
                  <a:tcPr anchor="ctr">
                    <a:solidFill>
                      <a:srgbClr val="00B0F0">
                        <a:alpha val="85000"/>
                      </a:srgbClr>
                    </a:solidFill>
                  </a:tcPr>
                </a:tc>
                <a:tc>
                  <a:txBody>
                    <a:bodyPr/>
                    <a:lstStyle/>
                    <a:p>
                      <a:pPr algn="ctr"/>
                      <a:r>
                        <a:rPr lang="en-US" sz="1500" dirty="0">
                          <a:solidFill>
                            <a:schemeClr val="tx1"/>
                          </a:solidFill>
                        </a:rPr>
                        <a:t>50% prefer companies that offer eco-friendly delivery options.</a:t>
                      </a:r>
                    </a:p>
                    <a:p>
                      <a:pPr algn="ctr"/>
                      <a:r>
                        <a:rPr lang="en-US" sz="1500" dirty="0">
                          <a:solidFill>
                            <a:schemeClr val="tx1"/>
                          </a:solidFill>
                        </a:rPr>
                        <a:t>45% look for customization options in the products.</a:t>
                      </a:r>
                    </a:p>
                    <a:p>
                      <a:pPr algn="ctr"/>
                      <a:endParaRPr lang="en-US" sz="1500" dirty="0">
                        <a:solidFill>
                          <a:schemeClr val="tx1"/>
                        </a:solidFill>
                      </a:endParaRPr>
                    </a:p>
                  </a:txBody>
                  <a:tcPr anchor="ctr">
                    <a:solidFill>
                      <a:srgbClr val="00B0F0">
                        <a:alpha val="85000"/>
                      </a:srgbClr>
                    </a:solidFill>
                  </a:tcPr>
                </a:tc>
                <a:tc>
                  <a:txBody>
                    <a:bodyPr/>
                    <a:lstStyle/>
                    <a:p>
                      <a:pPr algn="ctr"/>
                      <a:r>
                        <a:rPr lang="en-US" sz="1500" dirty="0">
                          <a:solidFill>
                            <a:schemeClr val="tx1"/>
                          </a:solidFill>
                        </a:rPr>
                        <a:t>Augmented Reality (AR) enabled virtual trial rooms.</a:t>
                      </a:r>
                    </a:p>
                    <a:p>
                      <a:pPr algn="ctr"/>
                      <a:r>
                        <a:rPr lang="en-US" sz="1500" dirty="0">
                          <a:solidFill>
                            <a:schemeClr val="tx1"/>
                          </a:solidFill>
                        </a:rPr>
                        <a:t>Use of big data analytics for personalized marketing.</a:t>
                      </a:r>
                    </a:p>
                    <a:p>
                      <a:pPr algn="ctr"/>
                      <a:r>
                        <a:rPr lang="en-US" sz="1500" i="1" u="sng" dirty="0">
                          <a:solidFill>
                            <a:schemeClr val="tx1"/>
                          </a:solidFill>
                        </a:rPr>
                        <a:t>Develop AR capabilities for a more interactive customer experience.</a:t>
                      </a:r>
                    </a:p>
                    <a:p>
                      <a:pPr algn="ctr"/>
                      <a:endParaRPr lang="en-US" sz="1500" dirty="0">
                        <a:solidFill>
                          <a:schemeClr val="tx1"/>
                        </a:solidFill>
                      </a:endParaRPr>
                    </a:p>
                  </a:txBody>
                  <a:tcPr anchor="ctr">
                    <a:solidFill>
                      <a:srgbClr val="00B0F0">
                        <a:alpha val="85000"/>
                      </a:srgbClr>
                    </a:solidFill>
                  </a:tcPr>
                </a:tc>
                <a:extLst>
                  <a:ext uri="{0D108BD9-81ED-4DB2-BD59-A6C34878D82A}">
                    <a16:rowId xmlns:a16="http://schemas.microsoft.com/office/drawing/2014/main" val="1696808243"/>
                  </a:ext>
                </a:extLst>
              </a:tr>
            </a:tbl>
          </a:graphicData>
        </a:graphic>
      </p:graphicFrame>
    </p:spTree>
    <p:extLst>
      <p:ext uri="{BB962C8B-B14F-4D97-AF65-F5344CB8AC3E}">
        <p14:creationId xmlns:p14="http://schemas.microsoft.com/office/powerpoint/2010/main" val="589062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A46997C1-1939-A308-D387-6B09F9C4E46A}"/>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9AE61373-BAC3-BE30-663B-95B536BD7974}"/>
              </a:ext>
            </a:extLst>
          </p:cNvPr>
          <p:cNvSpPr>
            <a:spLocks noGrp="1"/>
          </p:cNvSpPr>
          <p:nvPr>
            <p:ph type="title"/>
          </p:nvPr>
        </p:nvSpPr>
        <p:spPr/>
        <p:txBody>
          <a:bodyPr/>
          <a:lstStyle/>
          <a:p>
            <a:r>
              <a:rPr lang="en-US" dirty="0"/>
              <a:t>Initial Cybersecurity Findings</a:t>
            </a:r>
          </a:p>
        </p:txBody>
      </p:sp>
      <p:graphicFrame>
        <p:nvGraphicFramePr>
          <p:cNvPr id="5" name="Content Placeholder 4">
            <a:extLst>
              <a:ext uri="{FF2B5EF4-FFF2-40B4-BE49-F238E27FC236}">
                <a16:creationId xmlns:a16="http://schemas.microsoft.com/office/drawing/2014/main" id="{2C4C4B0A-72CE-A067-5D16-8F9B67BBEBE9}"/>
              </a:ext>
            </a:extLst>
          </p:cNvPr>
          <p:cNvGraphicFramePr>
            <a:graphicFrameLocks noGrp="1"/>
          </p:cNvGraphicFramePr>
          <p:nvPr>
            <p:ph idx="1"/>
            <p:extLst>
              <p:ext uri="{D42A27DB-BD31-4B8C-83A1-F6EECF244321}">
                <p14:modId xmlns:p14="http://schemas.microsoft.com/office/powerpoint/2010/main" val="3462907989"/>
              </p:ext>
            </p:extLst>
          </p:nvPr>
        </p:nvGraphicFramePr>
        <p:xfrm>
          <a:off x="376136" y="1825625"/>
          <a:ext cx="11368392" cy="3779520"/>
        </p:xfrm>
        <a:graphic>
          <a:graphicData uri="http://schemas.openxmlformats.org/drawingml/2006/table">
            <a:tbl>
              <a:tblPr firstRow="1" bandRow="1">
                <a:tableStyleId>{1FECB4D8-DB02-4DC6-A0A2-4F2EBAE1DC90}</a:tableStyleId>
              </a:tblPr>
              <a:tblGrid>
                <a:gridCol w="2842098">
                  <a:extLst>
                    <a:ext uri="{9D8B030D-6E8A-4147-A177-3AD203B41FA5}">
                      <a16:colId xmlns:a16="http://schemas.microsoft.com/office/drawing/2014/main" val="4080109287"/>
                    </a:ext>
                  </a:extLst>
                </a:gridCol>
                <a:gridCol w="2842098">
                  <a:extLst>
                    <a:ext uri="{9D8B030D-6E8A-4147-A177-3AD203B41FA5}">
                      <a16:colId xmlns:a16="http://schemas.microsoft.com/office/drawing/2014/main" val="1555860347"/>
                    </a:ext>
                  </a:extLst>
                </a:gridCol>
                <a:gridCol w="2842098">
                  <a:extLst>
                    <a:ext uri="{9D8B030D-6E8A-4147-A177-3AD203B41FA5}">
                      <a16:colId xmlns:a16="http://schemas.microsoft.com/office/drawing/2014/main" val="1451940213"/>
                    </a:ext>
                  </a:extLst>
                </a:gridCol>
                <a:gridCol w="2842098">
                  <a:extLst>
                    <a:ext uri="{9D8B030D-6E8A-4147-A177-3AD203B41FA5}">
                      <a16:colId xmlns:a16="http://schemas.microsoft.com/office/drawing/2014/main" val="2133935424"/>
                    </a:ext>
                  </a:extLst>
                </a:gridCol>
              </a:tblGrid>
              <a:tr h="370840">
                <a:tc>
                  <a:txBody>
                    <a:bodyPr/>
                    <a:lstStyle/>
                    <a:p>
                      <a:r>
                        <a:rPr lang="en-US" sz="2000" dirty="0"/>
                        <a:t>Security Features</a:t>
                      </a:r>
                    </a:p>
                  </a:txBody>
                  <a:tcPr/>
                </a:tc>
                <a:tc>
                  <a:txBody>
                    <a:bodyPr/>
                    <a:lstStyle/>
                    <a:p>
                      <a:r>
                        <a:rPr lang="en-US" sz="2000" dirty="0"/>
                        <a:t>Security Concerns</a:t>
                      </a:r>
                    </a:p>
                  </a:txBody>
                  <a:tcPr/>
                </a:tc>
                <a:tc>
                  <a:txBody>
                    <a:bodyPr/>
                    <a:lstStyle/>
                    <a:p>
                      <a:r>
                        <a:rPr lang="en-US" sz="2000" dirty="0"/>
                        <a:t>External Threats</a:t>
                      </a:r>
                    </a:p>
                  </a:txBody>
                  <a:tcPr/>
                </a:tc>
                <a:tc>
                  <a:txBody>
                    <a:bodyPr/>
                    <a:lstStyle/>
                    <a:p>
                      <a:r>
                        <a:rPr lang="en-US" sz="2000" dirty="0"/>
                        <a:t>Internal Metrics</a:t>
                      </a:r>
                    </a:p>
                  </a:txBody>
                  <a:tcPr/>
                </a:tc>
                <a:extLst>
                  <a:ext uri="{0D108BD9-81ED-4DB2-BD59-A6C34878D82A}">
                    <a16:rowId xmlns:a16="http://schemas.microsoft.com/office/drawing/2014/main" val="2356628929"/>
                  </a:ext>
                </a:extLst>
              </a:tr>
              <a:tr h="370840">
                <a:tc>
                  <a:txBody>
                    <a:bodyPr/>
                    <a:lstStyle/>
                    <a:p>
                      <a:pPr marL="285750" indent="-285750">
                        <a:buFont typeface="Arial" panose="020B0604020202020204" pitchFamily="34" charset="0"/>
                        <a:buChar char="•"/>
                      </a:pPr>
                      <a:r>
                        <a:rPr lang="en-US" dirty="0"/>
                        <a:t>Two-Factor Authentication (2FA): Implemented on all internal and external platforms.</a:t>
                      </a:r>
                    </a:p>
                    <a:p>
                      <a:pPr marL="285750" indent="-285750">
                        <a:buFont typeface="Arial" panose="020B0604020202020204" pitchFamily="34" charset="0"/>
                        <a:buChar char="•"/>
                      </a:pPr>
                      <a:r>
                        <a:rPr lang="en-US" dirty="0"/>
                        <a:t>End-to-end Encryption: In place for data transmission between various departments and with external partners.</a:t>
                      </a:r>
                    </a:p>
                    <a:p>
                      <a:pPr marL="285750" indent="-285750">
                        <a:buFont typeface="Arial" panose="020B0604020202020204" pitchFamily="34" charset="0"/>
                        <a:buChar char="•"/>
                      </a:pPr>
                      <a:endParaRPr lang="en-US" dirty="0"/>
                    </a:p>
                  </a:txBody>
                  <a:tcPr>
                    <a:solidFill>
                      <a:schemeClr val="accent3">
                        <a:tint val="20000"/>
                        <a:alpha val="70000"/>
                      </a:schemeClr>
                    </a:solidFill>
                  </a:tcPr>
                </a:tc>
                <a:tc>
                  <a:txBody>
                    <a:bodyPr/>
                    <a:lstStyle/>
                    <a:p>
                      <a:pPr marL="285750" indent="-285750">
                        <a:buFont typeface="Arial" panose="020B0604020202020204" pitchFamily="34" charset="0"/>
                        <a:buChar char="•"/>
                      </a:pPr>
                      <a:r>
                        <a:rPr lang="en-US" sz="1800" kern="1200" dirty="0">
                          <a:solidFill>
                            <a:schemeClr val="dk1"/>
                          </a:solidFill>
                          <a:effectLst/>
                        </a:rPr>
                        <a:t>Penetration Testing: Conducted irregularly and not comprehensive in scope.</a:t>
                      </a:r>
                    </a:p>
                    <a:p>
                      <a:pPr marL="285750" indent="-285750">
                        <a:buFont typeface="Arial" panose="020B0604020202020204" pitchFamily="34" charset="0"/>
                        <a:buChar char="•"/>
                      </a:pPr>
                      <a:r>
                        <a:rPr lang="en-US" sz="1800" kern="1200" dirty="0">
                          <a:solidFill>
                            <a:schemeClr val="dk1"/>
                          </a:solidFill>
                          <a:effectLst/>
                        </a:rPr>
                        <a:t>Firewall Integrity: Outdated firewall technology, especially in branch offices.</a:t>
                      </a:r>
                    </a:p>
                    <a:p>
                      <a:pPr marL="285750" indent="-285750">
                        <a:buFont typeface="Arial" panose="020B0604020202020204" pitchFamily="34" charset="0"/>
                        <a:buChar char="•"/>
                      </a:pPr>
                      <a:endParaRPr lang="en-US" dirty="0"/>
                    </a:p>
                  </a:txBody>
                  <a:tcPr>
                    <a:solidFill>
                      <a:schemeClr val="accent3">
                        <a:tint val="20000"/>
                        <a:alpha val="70000"/>
                      </a:schemeClr>
                    </a:solidFill>
                  </a:tcPr>
                </a:tc>
                <a:tc>
                  <a:txBody>
                    <a:bodyPr/>
                    <a:lstStyle/>
                    <a:p>
                      <a:pPr marL="285750" indent="-285750">
                        <a:buFont typeface="Arial" panose="020B0604020202020204" pitchFamily="34" charset="0"/>
                        <a:buChar char="•"/>
                      </a:pPr>
                      <a:r>
                        <a:rPr lang="en-US" sz="1800" kern="1200" dirty="0">
                          <a:solidFill>
                            <a:schemeClr val="dk1"/>
                          </a:solidFill>
                          <a:effectLst/>
                        </a:rPr>
                        <a:t>Ransomware Incidents: Increase of 40% in industry attacks in the last year.</a:t>
                      </a:r>
                    </a:p>
                    <a:p>
                      <a:pPr marL="285750" indent="-285750">
                        <a:buFont typeface="Arial" panose="020B0604020202020204" pitchFamily="34" charset="0"/>
                        <a:buChar char="•"/>
                      </a:pPr>
                      <a:r>
                        <a:rPr lang="en-US" sz="1800" kern="1200" dirty="0">
                          <a:solidFill>
                            <a:schemeClr val="dk1"/>
                          </a:solidFill>
                          <a:effectLst/>
                        </a:rPr>
                        <a:t>Corporate Espionage: Documented attempts to penetrate the corporate network for data theft.</a:t>
                      </a:r>
                    </a:p>
                    <a:p>
                      <a:pPr marL="285750" indent="-285750">
                        <a:buFont typeface="Arial" panose="020B0604020202020204" pitchFamily="34" charset="0"/>
                        <a:buChar char="•"/>
                      </a:pPr>
                      <a:endParaRPr lang="en-US" dirty="0"/>
                    </a:p>
                  </a:txBody>
                  <a:tcPr>
                    <a:solidFill>
                      <a:schemeClr val="accent3">
                        <a:tint val="20000"/>
                        <a:alpha val="70000"/>
                      </a:schemeClr>
                    </a:solidFill>
                  </a:tcPr>
                </a:tc>
                <a:tc>
                  <a:txBody>
                    <a:bodyPr/>
                    <a:lstStyle/>
                    <a:p>
                      <a:pPr marL="285750" indent="-285750">
                        <a:buFont typeface="Arial" panose="020B0604020202020204" pitchFamily="34" charset="0"/>
                        <a:buChar char="•"/>
                      </a:pPr>
                      <a:r>
                        <a:rPr lang="en-US" sz="1800" kern="1200" dirty="0">
                          <a:solidFill>
                            <a:schemeClr val="dk1"/>
                          </a:solidFill>
                          <a:effectLst/>
                        </a:rPr>
                        <a:t>Last Security Incident: 14 months ago. A ransomware attack contained minimal data loss.</a:t>
                      </a:r>
                    </a:p>
                    <a:p>
                      <a:pPr marL="285750" indent="-285750">
                        <a:buFont typeface="Arial" panose="020B0604020202020204" pitchFamily="34" charset="0"/>
                        <a:buChar char="•"/>
                      </a:pPr>
                      <a:r>
                        <a:rPr lang="en-US" sz="1800" kern="1200" dirty="0">
                          <a:solidFill>
                            <a:schemeClr val="dk1"/>
                          </a:solidFill>
                          <a:effectLst/>
                        </a:rPr>
                        <a:t>Employee Security Training: Last updated 18 months ago, no ongoing refresher courses.</a:t>
                      </a:r>
                    </a:p>
                    <a:p>
                      <a:pPr marL="285750" indent="-285750">
                        <a:buFont typeface="Arial" panose="020B0604020202020204" pitchFamily="34" charset="0"/>
                        <a:buChar char="•"/>
                      </a:pPr>
                      <a:endParaRPr lang="en-US" dirty="0"/>
                    </a:p>
                  </a:txBody>
                  <a:tcPr>
                    <a:solidFill>
                      <a:schemeClr val="accent3">
                        <a:tint val="20000"/>
                        <a:alpha val="70000"/>
                      </a:schemeClr>
                    </a:solidFill>
                  </a:tcPr>
                </a:tc>
                <a:extLst>
                  <a:ext uri="{0D108BD9-81ED-4DB2-BD59-A6C34878D82A}">
                    <a16:rowId xmlns:a16="http://schemas.microsoft.com/office/drawing/2014/main" val="3270413676"/>
                  </a:ext>
                </a:extLst>
              </a:tr>
            </a:tbl>
          </a:graphicData>
        </a:graphic>
      </p:graphicFrame>
    </p:spTree>
    <p:extLst>
      <p:ext uri="{BB962C8B-B14F-4D97-AF65-F5344CB8AC3E}">
        <p14:creationId xmlns:p14="http://schemas.microsoft.com/office/powerpoint/2010/main" val="3844776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6424D0D9-0DB7-40CD-6751-C2086EC12D02}"/>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0EBF2CC9-5207-084A-3D5E-C2AA9F525B11}"/>
              </a:ext>
            </a:extLst>
          </p:cNvPr>
          <p:cNvSpPr>
            <a:spLocks noGrp="1"/>
          </p:cNvSpPr>
          <p:nvPr>
            <p:ph type="title"/>
          </p:nvPr>
        </p:nvSpPr>
        <p:spPr/>
        <p:txBody>
          <a:bodyPr/>
          <a:lstStyle/>
          <a:p>
            <a:r>
              <a:rPr lang="en-US" dirty="0"/>
              <a:t>Healthcare – A Closer Look</a:t>
            </a:r>
          </a:p>
        </p:txBody>
      </p:sp>
      <p:pic>
        <p:nvPicPr>
          <p:cNvPr id="2052" name="Picture 4">
            <a:extLst>
              <a:ext uri="{FF2B5EF4-FFF2-40B4-BE49-F238E27FC236}">
                <a16:creationId xmlns:a16="http://schemas.microsoft.com/office/drawing/2014/main" id="{1271CDF2-F58A-19A1-AB13-97565CB91A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710" y="1472646"/>
            <a:ext cx="9980579" cy="538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363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1E8B29F4-B0C2-6CFB-0C6E-19DFB64494B1}"/>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E5728696-6434-798A-DABC-46665D3BFFA7}"/>
              </a:ext>
            </a:extLst>
          </p:cNvPr>
          <p:cNvSpPr>
            <a:spLocks noGrp="1"/>
          </p:cNvSpPr>
          <p:nvPr>
            <p:ph type="title"/>
          </p:nvPr>
        </p:nvSpPr>
        <p:spPr/>
        <p:txBody>
          <a:bodyPr/>
          <a:lstStyle/>
          <a:p>
            <a:r>
              <a:rPr lang="en-US" dirty="0"/>
              <a:t>Fintech – A Closer Look</a:t>
            </a:r>
          </a:p>
        </p:txBody>
      </p:sp>
      <p:pic>
        <p:nvPicPr>
          <p:cNvPr id="3074" name="Picture 2">
            <a:extLst>
              <a:ext uri="{FF2B5EF4-FFF2-40B4-BE49-F238E27FC236}">
                <a16:creationId xmlns:a16="http://schemas.microsoft.com/office/drawing/2014/main" id="{A628DBBA-9487-A9E1-CFBB-3464FDF6A5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926" y="1258561"/>
            <a:ext cx="9620148" cy="5599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113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43D4E2E4-B5C6-BE05-6322-820CD626A75D}"/>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0FF12EBF-BE48-14E7-953A-7062D17C17C5}"/>
              </a:ext>
            </a:extLst>
          </p:cNvPr>
          <p:cNvSpPr>
            <a:spLocks noGrp="1"/>
          </p:cNvSpPr>
          <p:nvPr>
            <p:ph type="title"/>
          </p:nvPr>
        </p:nvSpPr>
        <p:spPr/>
        <p:txBody>
          <a:bodyPr/>
          <a:lstStyle/>
          <a:p>
            <a:r>
              <a:rPr lang="en-US" dirty="0"/>
              <a:t>E-Commerce – A Closer Look</a:t>
            </a:r>
          </a:p>
        </p:txBody>
      </p:sp>
      <p:pic>
        <p:nvPicPr>
          <p:cNvPr id="4098" name="Picture 2">
            <a:extLst>
              <a:ext uri="{FF2B5EF4-FFF2-40B4-BE49-F238E27FC236}">
                <a16:creationId xmlns:a16="http://schemas.microsoft.com/office/drawing/2014/main" id="{B9629B6F-E557-6ACE-CD51-2CA3AA4B57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830" y="1335607"/>
            <a:ext cx="10084340" cy="5340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751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Diagram 17">
            <a:extLst>
              <a:ext uri="{FF2B5EF4-FFF2-40B4-BE49-F238E27FC236}">
                <a16:creationId xmlns:a16="http://schemas.microsoft.com/office/drawing/2014/main" id="{AB2BE665-912F-383A-CCD9-247DCBA31B47}"/>
              </a:ext>
            </a:extLst>
          </p:cNvPr>
          <p:cNvGraphicFramePr/>
          <p:nvPr>
            <p:extLst>
              <p:ext uri="{D42A27DB-BD31-4B8C-83A1-F6EECF244321}">
                <p14:modId xmlns:p14="http://schemas.microsoft.com/office/powerpoint/2010/main" val="4214845851"/>
              </p:ext>
            </p:extLst>
          </p:nvPr>
        </p:nvGraphicFramePr>
        <p:xfrm>
          <a:off x="0" y="0"/>
          <a:ext cx="12192000" cy="6857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2940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24C5-BC84-357B-5866-7099FD3F6639}"/>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1E81B761-DDD9-7F9F-21B5-91907D1BCD84}"/>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72338D77-4044-2AA2-1303-5B7471DD1CA9}"/>
              </a:ext>
            </a:extLst>
          </p:cNvPr>
          <p:cNvSpPr>
            <a:spLocks noGrp="1"/>
          </p:cNvSpPr>
          <p:nvPr>
            <p:ph type="title"/>
          </p:nvPr>
        </p:nvSpPr>
        <p:spPr>
          <a:xfrm>
            <a:off x="838200" y="32426"/>
            <a:ext cx="10515600" cy="1325563"/>
          </a:xfrm>
        </p:spPr>
        <p:txBody>
          <a:bodyPr/>
          <a:lstStyle/>
          <a:p>
            <a:r>
              <a:rPr lang="en-US" dirty="0"/>
              <a:t>Budgets</a:t>
            </a:r>
          </a:p>
        </p:txBody>
      </p:sp>
      <p:graphicFrame>
        <p:nvGraphicFramePr>
          <p:cNvPr id="5" name="Content Placeholder 6">
            <a:extLst>
              <a:ext uri="{FF2B5EF4-FFF2-40B4-BE49-F238E27FC236}">
                <a16:creationId xmlns:a16="http://schemas.microsoft.com/office/drawing/2014/main" id="{CC67A8EF-02FC-256A-6B7B-C87F4460ED0C}"/>
              </a:ext>
            </a:extLst>
          </p:cNvPr>
          <p:cNvGraphicFramePr>
            <a:graphicFrameLocks noGrp="1"/>
          </p:cNvGraphicFramePr>
          <p:nvPr>
            <p:ph idx="1"/>
            <p:extLst>
              <p:ext uri="{D42A27DB-BD31-4B8C-83A1-F6EECF244321}">
                <p14:modId xmlns:p14="http://schemas.microsoft.com/office/powerpoint/2010/main" val="2493536749"/>
              </p:ext>
            </p:extLst>
          </p:nvPr>
        </p:nvGraphicFramePr>
        <p:xfrm>
          <a:off x="90790" y="1036468"/>
          <a:ext cx="11997448" cy="5821522"/>
        </p:xfrm>
        <a:graphic>
          <a:graphicData uri="http://schemas.openxmlformats.org/drawingml/2006/table">
            <a:tbl>
              <a:tblPr firstRow="1" bandRow="1">
                <a:tableStyleId>{F5AB1C69-6EDB-4FF4-983F-18BD219EF322}</a:tableStyleId>
              </a:tblPr>
              <a:tblGrid>
                <a:gridCol w="2158654">
                  <a:extLst>
                    <a:ext uri="{9D8B030D-6E8A-4147-A177-3AD203B41FA5}">
                      <a16:colId xmlns:a16="http://schemas.microsoft.com/office/drawing/2014/main" val="3966369793"/>
                    </a:ext>
                  </a:extLst>
                </a:gridCol>
                <a:gridCol w="2567446">
                  <a:extLst>
                    <a:ext uri="{9D8B030D-6E8A-4147-A177-3AD203B41FA5}">
                      <a16:colId xmlns:a16="http://schemas.microsoft.com/office/drawing/2014/main" val="4279401437"/>
                    </a:ext>
                  </a:extLst>
                </a:gridCol>
                <a:gridCol w="2937396">
                  <a:extLst>
                    <a:ext uri="{9D8B030D-6E8A-4147-A177-3AD203B41FA5}">
                      <a16:colId xmlns:a16="http://schemas.microsoft.com/office/drawing/2014/main" val="649903840"/>
                    </a:ext>
                  </a:extLst>
                </a:gridCol>
                <a:gridCol w="4333952">
                  <a:extLst>
                    <a:ext uri="{9D8B030D-6E8A-4147-A177-3AD203B41FA5}">
                      <a16:colId xmlns:a16="http://schemas.microsoft.com/office/drawing/2014/main" val="3680324817"/>
                    </a:ext>
                  </a:extLst>
                </a:gridCol>
              </a:tblGrid>
              <a:tr h="379943">
                <a:tc>
                  <a:txBody>
                    <a:bodyPr/>
                    <a:lstStyle/>
                    <a:p>
                      <a:pPr algn="ctr"/>
                      <a:endParaRPr lang="en-US" sz="2000" b="1" dirty="0"/>
                    </a:p>
                  </a:txBody>
                  <a:tcPr anchor="ctr"/>
                </a:tc>
                <a:tc>
                  <a:txBody>
                    <a:bodyPr/>
                    <a:lstStyle/>
                    <a:p>
                      <a:pPr algn="ctr"/>
                      <a:r>
                        <a:rPr lang="en-US" sz="2000" dirty="0"/>
                        <a:t>Current Fiscal Year</a:t>
                      </a:r>
                    </a:p>
                  </a:txBody>
                  <a:tcPr anchor="ctr"/>
                </a:tc>
                <a:tc>
                  <a:txBody>
                    <a:bodyPr/>
                    <a:lstStyle/>
                    <a:p>
                      <a:pPr algn="ctr"/>
                      <a:r>
                        <a:rPr lang="en-US" sz="2000" dirty="0"/>
                        <a:t>Next Fiscal Year</a:t>
                      </a:r>
                    </a:p>
                  </a:txBody>
                  <a:tcPr anchor="ctr"/>
                </a:tc>
                <a:tc>
                  <a:txBody>
                    <a:bodyPr/>
                    <a:lstStyle/>
                    <a:p>
                      <a:pPr algn="ctr"/>
                      <a:r>
                        <a:rPr lang="en-US" sz="2000" dirty="0"/>
                        <a:t>Additional Info</a:t>
                      </a:r>
                    </a:p>
                  </a:txBody>
                  <a:tcPr anchor="ctr"/>
                </a:tc>
                <a:extLst>
                  <a:ext uri="{0D108BD9-81ED-4DB2-BD59-A6C34878D82A}">
                    <a16:rowId xmlns:a16="http://schemas.microsoft.com/office/drawing/2014/main" val="503677035"/>
                  </a:ext>
                </a:extLst>
              </a:tr>
              <a:tr h="1724358">
                <a:tc>
                  <a:txBody>
                    <a:bodyPr/>
                    <a:lstStyle/>
                    <a:p>
                      <a:pPr algn="ctr"/>
                      <a:r>
                        <a:rPr lang="en-US" sz="1800" b="1" dirty="0"/>
                        <a:t>EA Framework and Repository</a:t>
                      </a:r>
                    </a:p>
                  </a:txBody>
                  <a:tcPr anchor="ctr">
                    <a:solidFill>
                      <a:schemeClr val="tx1">
                        <a:alpha val="70000"/>
                      </a:schemeClr>
                    </a:solidFill>
                  </a:tcPr>
                </a:tc>
                <a:tc>
                  <a:txBody>
                    <a:bodyPr/>
                    <a:lstStyle/>
                    <a:p>
                      <a:pPr marL="0" indent="0" algn="ctr">
                        <a:buFont typeface="Arial" panose="020B0604020202020204" pitchFamily="34" charset="0"/>
                        <a:buNone/>
                      </a:pPr>
                      <a:r>
                        <a:rPr lang="en-US" sz="2800" dirty="0">
                          <a:solidFill>
                            <a:schemeClr val="bg1"/>
                          </a:solidFill>
                        </a:rPr>
                        <a:t>$750,000 </a:t>
                      </a:r>
                      <a:endParaRPr lang="en-US" sz="2800" dirty="0"/>
                    </a:p>
                  </a:txBody>
                  <a:tcPr anchor="ctr">
                    <a:solidFill>
                      <a:schemeClr val="tx1">
                        <a:alpha val="70000"/>
                      </a:schemeClr>
                    </a:solidFill>
                  </a:tcPr>
                </a:tc>
                <a:tc>
                  <a:txBody>
                    <a:bodyPr/>
                    <a:lstStyle/>
                    <a:p>
                      <a:pPr marL="0" indent="0" algn="ctr">
                        <a:buFont typeface="Arial" panose="020B0604020202020204" pitchFamily="34" charset="0"/>
                        <a:buNone/>
                      </a:pPr>
                      <a:r>
                        <a:rPr lang="en-US" sz="2800" dirty="0">
                          <a:solidFill>
                            <a:schemeClr val="bg1"/>
                          </a:solidFill>
                        </a:rPr>
                        <a:t>$100,000 / yr</a:t>
                      </a:r>
                      <a:endParaRPr lang="en-US" sz="2800" dirty="0"/>
                    </a:p>
                  </a:txBody>
                  <a:tcPr anchor="ctr">
                    <a:solidFill>
                      <a:schemeClr val="tx1">
                        <a:alpha val="70000"/>
                      </a:schemeClr>
                    </a:solidFill>
                  </a:tcPr>
                </a:tc>
                <a:tc>
                  <a:txBody>
                    <a:bodyPr/>
                    <a:lstStyle/>
                    <a:p>
                      <a:pPr marL="285750" indent="-285750" algn="l">
                        <a:buFont typeface="Arial" panose="020B0604020202020204" pitchFamily="34" charset="0"/>
                        <a:buChar char="•"/>
                      </a:pPr>
                      <a:r>
                        <a:rPr lang="en-US" sz="1400" kern="1200" dirty="0">
                          <a:solidFill>
                            <a:schemeClr val="dk1"/>
                          </a:solidFill>
                          <a:effectLst/>
                        </a:rPr>
                        <a:t>Current IT systems have a budget of $300,000 for EA implementation which can be broken down into software licensing, hardware procurement, and training.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bg1"/>
                          </a:solidFill>
                        </a:rPr>
                        <a:t>The ongoing operational costs are $100,000 which are broken down into maintenance, additional training, security measures, and a contingency fund of $50,000. </a:t>
                      </a:r>
                    </a:p>
                  </a:txBody>
                  <a:tcPr anchor="ctr">
                    <a:solidFill>
                      <a:schemeClr val="tx1">
                        <a:alpha val="70000"/>
                      </a:schemeClr>
                    </a:solidFill>
                  </a:tcPr>
                </a:tc>
                <a:extLst>
                  <a:ext uri="{0D108BD9-81ED-4DB2-BD59-A6C34878D82A}">
                    <a16:rowId xmlns:a16="http://schemas.microsoft.com/office/drawing/2014/main" val="4185816106"/>
                  </a:ext>
                </a:extLst>
              </a:tr>
              <a:tr h="1928943">
                <a:tc>
                  <a:txBody>
                    <a:bodyPr/>
                    <a:lstStyle/>
                    <a:p>
                      <a:pPr algn="ctr"/>
                      <a:r>
                        <a:rPr lang="en-US" sz="1800" b="1" dirty="0"/>
                        <a:t>Predictive Modeling</a:t>
                      </a:r>
                    </a:p>
                  </a:txBody>
                  <a:tcPr anchor="ctr">
                    <a:solidFill>
                      <a:schemeClr val="tx1">
                        <a:alpha val="70000"/>
                      </a:schemeClr>
                    </a:solidFill>
                  </a:tcPr>
                </a:tc>
                <a:tc>
                  <a:txBody>
                    <a:bodyPr/>
                    <a:lstStyle/>
                    <a:p>
                      <a:pPr marL="0" indent="0" algn="ctr">
                        <a:buFont typeface="Arial" panose="020B0604020202020204" pitchFamily="34" charset="0"/>
                        <a:buNone/>
                      </a:pPr>
                      <a:r>
                        <a:rPr lang="en-US" sz="2800" dirty="0"/>
                        <a:t>$200,000 </a:t>
                      </a:r>
                    </a:p>
                  </a:txBody>
                  <a:tcPr anchor="ctr">
                    <a:solidFill>
                      <a:schemeClr val="tx1">
                        <a:alpha val="70000"/>
                      </a:schemeClr>
                    </a:solidFill>
                  </a:tcPr>
                </a:tc>
                <a:tc>
                  <a:txBody>
                    <a:bodyPr/>
                    <a:lstStyle/>
                    <a:p>
                      <a:pPr marL="0" indent="0" algn="ctr">
                        <a:buFont typeface="Arial" panose="020B0604020202020204" pitchFamily="34" charset="0"/>
                        <a:buNone/>
                      </a:pPr>
                      <a:r>
                        <a:rPr lang="en-US" sz="2800" kern="1200" dirty="0">
                          <a:solidFill>
                            <a:schemeClr val="dk1"/>
                          </a:solidFill>
                          <a:effectLst/>
                        </a:rPr>
                        <a:t>TBD</a:t>
                      </a:r>
                    </a:p>
                  </a:txBody>
                  <a:tcPr anchor="ctr">
                    <a:solidFill>
                      <a:schemeClr val="tx1">
                        <a:alpha val="70000"/>
                      </a:schemeClr>
                    </a:solidFill>
                  </a:tcPr>
                </a:tc>
                <a:tc>
                  <a:txBody>
                    <a:bodyPr/>
                    <a:lstStyle/>
                    <a:p>
                      <a:pPr marL="285750" indent="-285750" algn="l">
                        <a:buFont typeface="Arial" panose="020B0604020202020204" pitchFamily="34" charset="0"/>
                        <a:buChar char="•"/>
                      </a:pPr>
                      <a:r>
                        <a:rPr lang="en-US" sz="1400" dirty="0">
                          <a:solidFill>
                            <a:schemeClr val="bg1"/>
                          </a:solidFill>
                        </a:rPr>
                        <a:t>The budget for initial implementation has been set aside for the costs associated with data migration and integration.</a:t>
                      </a:r>
                    </a:p>
                    <a:p>
                      <a:pPr marL="285750" indent="-285750" algn="l">
                        <a:buFont typeface="Arial" panose="020B0604020202020204" pitchFamily="34" charset="0"/>
                        <a:buChar char="•"/>
                      </a:pPr>
                      <a:r>
                        <a:rPr lang="en-US" sz="1400" dirty="0">
                          <a:solidFill>
                            <a:schemeClr val="bg1"/>
                          </a:solidFill>
                        </a:rPr>
                        <a:t>Maintenance and management of cloud architecture and data storage are grouped into the operational costs category. </a:t>
                      </a:r>
                    </a:p>
                    <a:p>
                      <a:pPr marL="285750" indent="-285750" algn="l">
                        <a:buFont typeface="Arial" panose="020B0604020202020204" pitchFamily="34" charset="0"/>
                        <a:buChar char="•"/>
                      </a:pPr>
                      <a:r>
                        <a:rPr lang="en-US" sz="1400" dirty="0">
                          <a:solidFill>
                            <a:schemeClr val="bg1"/>
                          </a:solidFill>
                        </a:rPr>
                        <a:t>Lastly, a portion of the budget is left alone for unforeseen costs and issues that may occur during the implementation. </a:t>
                      </a:r>
                    </a:p>
                  </a:txBody>
                  <a:tcPr anchor="ctr">
                    <a:solidFill>
                      <a:schemeClr val="tx1">
                        <a:alpha val="70000"/>
                      </a:schemeClr>
                    </a:solidFill>
                  </a:tcPr>
                </a:tc>
                <a:extLst>
                  <a:ext uri="{0D108BD9-81ED-4DB2-BD59-A6C34878D82A}">
                    <a16:rowId xmlns:a16="http://schemas.microsoft.com/office/drawing/2014/main" val="2798871990"/>
                  </a:ext>
                </a:extLst>
              </a:tr>
              <a:tr h="1615282">
                <a:tc>
                  <a:txBody>
                    <a:bodyPr/>
                    <a:lstStyle/>
                    <a:p>
                      <a:pPr algn="ctr"/>
                      <a:r>
                        <a:rPr lang="en-US" sz="1800" b="1" dirty="0"/>
                        <a:t>Healthcare Product Development</a:t>
                      </a:r>
                    </a:p>
                  </a:txBody>
                  <a:tcPr anchor="ctr">
                    <a:solidFill>
                      <a:schemeClr val="tx1">
                        <a:alpha val="70000"/>
                      </a:schemeClr>
                    </a:solidFill>
                  </a:tcPr>
                </a:tc>
                <a:tc>
                  <a:txBody>
                    <a:bodyPr/>
                    <a:lstStyle/>
                    <a:p>
                      <a:pPr marL="0" indent="0" algn="ctr">
                        <a:buFont typeface="Arial" panose="020B0604020202020204" pitchFamily="34" charset="0"/>
                        <a:buNone/>
                      </a:pPr>
                      <a:r>
                        <a:rPr lang="en-US" sz="2800" dirty="0">
                          <a:solidFill>
                            <a:schemeClr val="bg1"/>
                          </a:solidFill>
                        </a:rPr>
                        <a:t>$300,000 </a:t>
                      </a:r>
                      <a:endParaRPr lang="en-US" sz="2800" dirty="0"/>
                    </a:p>
                  </a:txBody>
                  <a:tcPr anchor="ctr">
                    <a:solidFill>
                      <a:schemeClr val="tx1">
                        <a:alpha val="70000"/>
                      </a:schemeClr>
                    </a:solidFill>
                  </a:tcPr>
                </a:tc>
                <a:tc>
                  <a:txBody>
                    <a:bodyPr/>
                    <a:lstStyle/>
                    <a:p>
                      <a:pPr marL="0" indent="0" algn="ctr">
                        <a:buFont typeface="Arial" panose="020B0604020202020204" pitchFamily="34" charset="0"/>
                        <a:buNone/>
                      </a:pPr>
                      <a:r>
                        <a:rPr lang="en-US" sz="2800" kern="1200" dirty="0">
                          <a:solidFill>
                            <a:schemeClr val="dk1"/>
                          </a:solidFill>
                          <a:effectLst/>
                        </a:rPr>
                        <a:t>TBD</a:t>
                      </a:r>
                    </a:p>
                  </a:txBody>
                  <a:tcPr anchor="ctr">
                    <a:solidFill>
                      <a:schemeClr val="tx1">
                        <a:alpha val="70000"/>
                      </a:schemeClr>
                    </a:solidFill>
                  </a:tcPr>
                </a:tc>
                <a:tc>
                  <a:txBody>
                    <a:bodyPr/>
                    <a:lstStyle/>
                    <a:p>
                      <a:pPr marL="285750" indent="-285750" algn="l">
                        <a:buFont typeface="Arial" panose="020B0604020202020204" pitchFamily="34" charset="0"/>
                        <a:buChar char="•"/>
                      </a:pPr>
                      <a:r>
                        <a:rPr lang="en-US" sz="1400" dirty="0"/>
                        <a:t>The budget is firm cap and needs to be followed. </a:t>
                      </a:r>
                    </a:p>
                    <a:p>
                      <a:pPr marL="285750" indent="-285750" algn="l">
                        <a:buFont typeface="Arial" panose="020B0604020202020204" pitchFamily="34" charset="0"/>
                        <a:buChar char="•"/>
                      </a:pPr>
                      <a:r>
                        <a:rPr lang="en-US" sz="1400" dirty="0"/>
                        <a:t>Allocated resources must stay within this constraint. </a:t>
                      </a:r>
                    </a:p>
                    <a:p>
                      <a:pPr marL="285750" indent="-285750" algn="l">
                        <a:buFont typeface="Arial" panose="020B0604020202020204" pitchFamily="34" charset="0"/>
                        <a:buChar char="•"/>
                      </a:pPr>
                      <a:r>
                        <a:rPr lang="en-US" sz="1400" dirty="0"/>
                        <a:t>Additional funding cannot be moved from other projects or departments either. </a:t>
                      </a:r>
                    </a:p>
                    <a:p>
                      <a:pPr algn="l"/>
                      <a:endParaRPr lang="en-US" dirty="0"/>
                    </a:p>
                  </a:txBody>
                  <a:tcPr anchor="ctr">
                    <a:solidFill>
                      <a:schemeClr val="tx1">
                        <a:alpha val="70000"/>
                      </a:schemeClr>
                    </a:solidFill>
                  </a:tcPr>
                </a:tc>
                <a:extLst>
                  <a:ext uri="{0D108BD9-81ED-4DB2-BD59-A6C34878D82A}">
                    <a16:rowId xmlns:a16="http://schemas.microsoft.com/office/drawing/2014/main" val="66543913"/>
                  </a:ext>
                </a:extLst>
              </a:tr>
            </a:tbl>
          </a:graphicData>
        </a:graphic>
      </p:graphicFrame>
    </p:spTree>
    <p:extLst>
      <p:ext uri="{BB962C8B-B14F-4D97-AF65-F5344CB8AC3E}">
        <p14:creationId xmlns:p14="http://schemas.microsoft.com/office/powerpoint/2010/main" val="365549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A3AA-630E-DB7F-7F81-15DE9E21BAFA}"/>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0A826E57-00DF-842A-375B-9DDDFE7A445F}"/>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F43DC89B-D2B1-DF93-3A44-2931D995B648}"/>
              </a:ext>
            </a:extLst>
          </p:cNvPr>
          <p:cNvSpPr>
            <a:spLocks noGrp="1"/>
          </p:cNvSpPr>
          <p:nvPr>
            <p:ph type="title"/>
          </p:nvPr>
        </p:nvSpPr>
        <p:spPr/>
        <p:txBody>
          <a:bodyPr/>
          <a:lstStyle/>
          <a:p>
            <a:r>
              <a:rPr lang="en-US" dirty="0"/>
              <a:t>Budget – Current Cloud Contracts</a:t>
            </a:r>
          </a:p>
        </p:txBody>
      </p:sp>
      <p:graphicFrame>
        <p:nvGraphicFramePr>
          <p:cNvPr id="7" name="Content Placeholder 6">
            <a:extLst>
              <a:ext uri="{FF2B5EF4-FFF2-40B4-BE49-F238E27FC236}">
                <a16:creationId xmlns:a16="http://schemas.microsoft.com/office/drawing/2014/main" id="{C118D3B5-75F3-2929-2F1C-08FC05B3B2E5}"/>
              </a:ext>
            </a:extLst>
          </p:cNvPr>
          <p:cNvGraphicFramePr>
            <a:graphicFrameLocks noGrp="1"/>
          </p:cNvGraphicFramePr>
          <p:nvPr>
            <p:ph idx="1"/>
            <p:extLst>
              <p:ext uri="{D42A27DB-BD31-4B8C-83A1-F6EECF244321}">
                <p14:modId xmlns:p14="http://schemas.microsoft.com/office/powerpoint/2010/main" val="3973547191"/>
              </p:ext>
            </p:extLst>
          </p:nvPr>
        </p:nvGraphicFramePr>
        <p:xfrm>
          <a:off x="695528" y="1605130"/>
          <a:ext cx="10515600" cy="4834582"/>
        </p:xfrm>
        <a:graphic>
          <a:graphicData uri="http://schemas.openxmlformats.org/drawingml/2006/table">
            <a:tbl>
              <a:tblPr firstRow="1" bandRow="1">
                <a:tableStyleId>{F5AB1C69-6EDB-4FF4-983F-18BD219EF322}</a:tableStyleId>
              </a:tblPr>
              <a:tblGrid>
                <a:gridCol w="2628900">
                  <a:extLst>
                    <a:ext uri="{9D8B030D-6E8A-4147-A177-3AD203B41FA5}">
                      <a16:colId xmlns:a16="http://schemas.microsoft.com/office/drawing/2014/main" val="3966369793"/>
                    </a:ext>
                  </a:extLst>
                </a:gridCol>
                <a:gridCol w="1513461">
                  <a:extLst>
                    <a:ext uri="{9D8B030D-6E8A-4147-A177-3AD203B41FA5}">
                      <a16:colId xmlns:a16="http://schemas.microsoft.com/office/drawing/2014/main" val="4279401437"/>
                    </a:ext>
                  </a:extLst>
                </a:gridCol>
                <a:gridCol w="2574588">
                  <a:extLst>
                    <a:ext uri="{9D8B030D-6E8A-4147-A177-3AD203B41FA5}">
                      <a16:colId xmlns:a16="http://schemas.microsoft.com/office/drawing/2014/main" val="649903840"/>
                    </a:ext>
                  </a:extLst>
                </a:gridCol>
                <a:gridCol w="3798651">
                  <a:extLst>
                    <a:ext uri="{9D8B030D-6E8A-4147-A177-3AD203B41FA5}">
                      <a16:colId xmlns:a16="http://schemas.microsoft.com/office/drawing/2014/main" val="3680324817"/>
                    </a:ext>
                  </a:extLst>
                </a:gridCol>
              </a:tblGrid>
              <a:tr h="512030">
                <a:tc>
                  <a:txBody>
                    <a:bodyPr/>
                    <a:lstStyle/>
                    <a:p>
                      <a:pPr algn="ctr"/>
                      <a:r>
                        <a:rPr lang="en-US" sz="2000" b="1" dirty="0"/>
                        <a:t>Provider</a:t>
                      </a:r>
                    </a:p>
                  </a:txBody>
                  <a:tcPr anchor="ctr"/>
                </a:tc>
                <a:tc>
                  <a:txBody>
                    <a:bodyPr/>
                    <a:lstStyle/>
                    <a:p>
                      <a:pPr algn="ctr"/>
                      <a:r>
                        <a:rPr lang="en-US" sz="2000" dirty="0"/>
                        <a:t>Term</a:t>
                      </a:r>
                    </a:p>
                  </a:txBody>
                  <a:tcPr anchor="ctr"/>
                </a:tc>
                <a:tc>
                  <a:txBody>
                    <a:bodyPr/>
                    <a:lstStyle/>
                    <a:p>
                      <a:pPr algn="ctr"/>
                      <a:r>
                        <a:rPr lang="en-US" sz="2000" dirty="0"/>
                        <a:t>Services</a:t>
                      </a:r>
                    </a:p>
                  </a:txBody>
                  <a:tcPr anchor="ctr"/>
                </a:tc>
                <a:tc>
                  <a:txBody>
                    <a:bodyPr/>
                    <a:lstStyle/>
                    <a:p>
                      <a:pPr algn="ctr"/>
                      <a:r>
                        <a:rPr lang="en-US" sz="2000" dirty="0"/>
                        <a:t>Limitations</a:t>
                      </a:r>
                    </a:p>
                  </a:txBody>
                  <a:tcPr anchor="ctr"/>
                </a:tc>
                <a:extLst>
                  <a:ext uri="{0D108BD9-81ED-4DB2-BD59-A6C34878D82A}">
                    <a16:rowId xmlns:a16="http://schemas.microsoft.com/office/drawing/2014/main" val="503677035"/>
                  </a:ext>
                </a:extLst>
              </a:tr>
              <a:tr h="2161276">
                <a:tc>
                  <a:txBody>
                    <a:bodyPr/>
                    <a:lstStyle/>
                    <a:p>
                      <a:pPr algn="ctr"/>
                      <a:r>
                        <a:rPr lang="en-US" sz="2000" b="1" dirty="0"/>
                        <a:t>AWS</a:t>
                      </a:r>
                    </a:p>
                  </a:txBody>
                  <a:tcPr anchor="ctr">
                    <a:solidFill>
                      <a:schemeClr val="tx1">
                        <a:alpha val="70000"/>
                      </a:schemeClr>
                    </a:solidFill>
                  </a:tcPr>
                </a:tc>
                <a:tc>
                  <a:txBody>
                    <a:bodyPr/>
                    <a:lstStyle/>
                    <a:p>
                      <a:pPr algn="ctr"/>
                      <a:r>
                        <a:rPr lang="en-US" dirty="0"/>
                        <a:t>1/1/23-12/31/25</a:t>
                      </a:r>
                    </a:p>
                  </a:txBody>
                  <a:tcPr anchor="ctr">
                    <a:solidFill>
                      <a:schemeClr val="tx1">
                        <a:alpha val="70000"/>
                      </a:schemeClr>
                    </a:solidFill>
                  </a:tcPr>
                </a:tc>
                <a:tc>
                  <a:txBody>
                    <a:bodyPr/>
                    <a:lstStyle/>
                    <a:p>
                      <a:pPr marL="285750" indent="-285750" algn="ctr">
                        <a:buFont typeface="Arial" panose="020B0604020202020204" pitchFamily="34" charset="0"/>
                        <a:buChar char="•"/>
                      </a:pPr>
                      <a:r>
                        <a:rPr lang="en-US" dirty="0"/>
                        <a:t>AWS EC2 (Elastic Compute Cloud)</a:t>
                      </a:r>
                    </a:p>
                    <a:p>
                      <a:pPr marL="285750" indent="-285750" algn="ctr">
                        <a:buFont typeface="Arial" panose="020B0604020202020204" pitchFamily="34" charset="0"/>
                        <a:buChar char="•"/>
                      </a:pPr>
                      <a:r>
                        <a:rPr lang="en-US" dirty="0"/>
                        <a:t>AWS S3 (Simple Storage Service)</a:t>
                      </a:r>
                    </a:p>
                    <a:p>
                      <a:pPr marL="285750" indent="-285750" algn="ctr">
                        <a:buFont typeface="Arial" panose="020B0604020202020204" pitchFamily="34" charset="0"/>
                        <a:buChar char="•"/>
                      </a:pPr>
                      <a:r>
                        <a:rPr lang="en-US" dirty="0"/>
                        <a:t>AWS RDS (Relational Database Service)</a:t>
                      </a:r>
                    </a:p>
                    <a:p>
                      <a:pPr algn="ctr"/>
                      <a:endParaRPr lang="en-US" dirty="0"/>
                    </a:p>
                  </a:txBody>
                  <a:tcPr anchor="ctr">
                    <a:solidFill>
                      <a:schemeClr val="tx1">
                        <a:alpha val="70000"/>
                      </a:schemeClr>
                    </a:solidFill>
                  </a:tcPr>
                </a:tc>
                <a:tc>
                  <a:txBody>
                    <a:bodyPr/>
                    <a:lstStyle/>
                    <a:p>
                      <a:pPr marL="285750" indent="-285750" algn="ctr">
                        <a:buFont typeface="Arial" panose="020B0604020202020204" pitchFamily="34" charset="0"/>
                        <a:buChar char="•"/>
                      </a:pPr>
                      <a:r>
                        <a:rPr lang="en-US" sz="1800" kern="1200" dirty="0">
                          <a:solidFill>
                            <a:schemeClr val="dk1"/>
                          </a:solidFill>
                          <a:effectLst/>
                        </a:rPr>
                        <a:t>Data Transfer Out limit: 500 TB per month</a:t>
                      </a:r>
                    </a:p>
                    <a:p>
                      <a:pPr marL="285750" indent="-285750" algn="ctr">
                        <a:buFont typeface="Arial" panose="020B0604020202020204" pitchFamily="34" charset="0"/>
                        <a:buChar char="•"/>
                      </a:pPr>
                      <a:r>
                        <a:rPr lang="en-US" sz="1800" kern="1200" dirty="0">
                          <a:solidFill>
                            <a:schemeClr val="dk1"/>
                          </a:solidFill>
                          <a:effectLst/>
                        </a:rPr>
                        <a:t>No Support for AWS Snowmobile</a:t>
                      </a:r>
                    </a:p>
                    <a:p>
                      <a:pPr marL="285750" indent="-285750" algn="ctr">
                        <a:buFont typeface="Arial" panose="020B0604020202020204" pitchFamily="34" charset="0"/>
                        <a:buChar char="•"/>
                      </a:pPr>
                      <a:r>
                        <a:rPr lang="en-US" sz="1800" kern="1200" dirty="0">
                          <a:solidFill>
                            <a:schemeClr val="dk1"/>
                          </a:solidFill>
                          <a:effectLst/>
                        </a:rPr>
                        <a:t>Additional costs for premium support.</a:t>
                      </a:r>
                    </a:p>
                    <a:p>
                      <a:pPr algn="ctr"/>
                      <a:endParaRPr lang="en-US" dirty="0"/>
                    </a:p>
                  </a:txBody>
                  <a:tcPr anchor="ctr">
                    <a:solidFill>
                      <a:schemeClr val="tx1">
                        <a:alpha val="70000"/>
                      </a:schemeClr>
                    </a:solidFill>
                  </a:tcPr>
                </a:tc>
                <a:extLst>
                  <a:ext uri="{0D108BD9-81ED-4DB2-BD59-A6C34878D82A}">
                    <a16:rowId xmlns:a16="http://schemas.microsoft.com/office/drawing/2014/main" val="4185816106"/>
                  </a:ext>
                </a:extLst>
              </a:tr>
              <a:tr h="2161276">
                <a:tc>
                  <a:txBody>
                    <a:bodyPr/>
                    <a:lstStyle/>
                    <a:p>
                      <a:pPr algn="ctr"/>
                      <a:r>
                        <a:rPr lang="en-US" sz="2000" b="1" dirty="0"/>
                        <a:t>Azure</a:t>
                      </a:r>
                    </a:p>
                  </a:txBody>
                  <a:tcPr anchor="ctr">
                    <a:solidFill>
                      <a:schemeClr val="tx1">
                        <a:alpha val="70000"/>
                      </a:schemeClr>
                    </a:solidFill>
                  </a:tcPr>
                </a:tc>
                <a:tc>
                  <a:txBody>
                    <a:bodyPr/>
                    <a:lstStyle/>
                    <a:p>
                      <a:pPr algn="ctr"/>
                      <a:r>
                        <a:rPr lang="en-US" dirty="0"/>
                        <a:t>6/1/23-5/31/26</a:t>
                      </a:r>
                    </a:p>
                  </a:txBody>
                  <a:tcPr anchor="ctr">
                    <a:solidFill>
                      <a:schemeClr val="tx1">
                        <a:alpha val="70000"/>
                      </a:schemeClr>
                    </a:solidFill>
                  </a:tcPr>
                </a:tc>
                <a:tc>
                  <a:txBody>
                    <a:bodyPr/>
                    <a:lstStyle/>
                    <a:p>
                      <a:pPr marL="285750" indent="-285750" algn="ctr">
                        <a:buFont typeface="Arial" panose="020B0604020202020204" pitchFamily="34" charset="0"/>
                        <a:buChar char="•"/>
                      </a:pPr>
                      <a:r>
                        <a:rPr lang="en-US" sz="1800" kern="1200" dirty="0">
                          <a:solidFill>
                            <a:schemeClr val="dk1"/>
                          </a:solidFill>
                          <a:effectLst/>
                        </a:rPr>
                        <a:t>Azure Virtual Machines</a:t>
                      </a:r>
                    </a:p>
                    <a:p>
                      <a:pPr marL="285750" indent="-285750" algn="ctr">
                        <a:buFont typeface="Arial" panose="020B0604020202020204" pitchFamily="34" charset="0"/>
                        <a:buChar char="•"/>
                      </a:pPr>
                      <a:r>
                        <a:rPr lang="en-US" sz="1800" kern="1200" dirty="0">
                          <a:solidFill>
                            <a:schemeClr val="dk1"/>
                          </a:solidFill>
                          <a:effectLst/>
                        </a:rPr>
                        <a:t>Azure Blob Storage</a:t>
                      </a:r>
                    </a:p>
                    <a:p>
                      <a:pPr marL="285750" indent="-285750" algn="ctr">
                        <a:buFont typeface="Arial" panose="020B0604020202020204" pitchFamily="34" charset="0"/>
                        <a:buChar char="•"/>
                      </a:pPr>
                      <a:r>
                        <a:rPr lang="en-US" sz="1800" kern="1200" dirty="0">
                          <a:solidFill>
                            <a:schemeClr val="dk1"/>
                          </a:solidFill>
                          <a:effectLst/>
                        </a:rPr>
                        <a:t>Azure SQL Database</a:t>
                      </a:r>
                    </a:p>
                    <a:p>
                      <a:pPr algn="ctr"/>
                      <a:endParaRPr lang="en-US" dirty="0"/>
                    </a:p>
                  </a:txBody>
                  <a:tcPr anchor="ctr">
                    <a:solidFill>
                      <a:schemeClr val="tx1">
                        <a:alpha val="70000"/>
                      </a:schemeClr>
                    </a:solidFill>
                  </a:tcPr>
                </a:tc>
                <a:tc>
                  <a:txBody>
                    <a:bodyPr/>
                    <a:lstStyle/>
                    <a:p>
                      <a:pPr marL="285750" indent="-285750" algn="ctr">
                        <a:buFont typeface="Arial" panose="020B0604020202020204" pitchFamily="34" charset="0"/>
                        <a:buChar char="•"/>
                      </a:pPr>
                      <a:r>
                        <a:rPr lang="en-US" sz="1800" kern="1200" dirty="0">
                          <a:solidFill>
                            <a:schemeClr val="dk1"/>
                          </a:solidFill>
                          <a:effectLst/>
                        </a:rPr>
                        <a:t>No Service-Level Agreement (SLA) for Free Services</a:t>
                      </a:r>
                    </a:p>
                    <a:p>
                      <a:pPr marL="285750" indent="-285750" algn="ctr">
                        <a:buFont typeface="Arial" panose="020B0604020202020204" pitchFamily="34" charset="0"/>
                        <a:buChar char="•"/>
                      </a:pPr>
                      <a:r>
                        <a:rPr lang="en-US" sz="1800" kern="1200" dirty="0">
                          <a:solidFill>
                            <a:schemeClr val="dk1"/>
                          </a:solidFill>
                          <a:effectLst/>
                        </a:rPr>
                        <a:t>Resource limitations based on region</a:t>
                      </a:r>
                    </a:p>
                    <a:p>
                      <a:pPr marL="285750" indent="-285750" algn="ctr">
                        <a:buFont typeface="Arial" panose="020B0604020202020204" pitchFamily="34" charset="0"/>
                        <a:buChar char="•"/>
                      </a:pPr>
                      <a:r>
                        <a:rPr lang="en-US" sz="1800" kern="1200" dirty="0">
                          <a:solidFill>
                            <a:schemeClr val="dk1"/>
                          </a:solidFill>
                          <a:effectLst/>
                        </a:rPr>
                        <a:t>100 TB per month of egress data transfer</a:t>
                      </a:r>
                    </a:p>
                    <a:p>
                      <a:pPr algn="ctr"/>
                      <a:endParaRPr lang="en-US" dirty="0"/>
                    </a:p>
                  </a:txBody>
                  <a:tcPr anchor="ctr">
                    <a:solidFill>
                      <a:schemeClr val="tx1">
                        <a:alpha val="70000"/>
                      </a:schemeClr>
                    </a:solidFill>
                  </a:tcPr>
                </a:tc>
                <a:extLst>
                  <a:ext uri="{0D108BD9-81ED-4DB2-BD59-A6C34878D82A}">
                    <a16:rowId xmlns:a16="http://schemas.microsoft.com/office/drawing/2014/main" val="2798871990"/>
                  </a:ext>
                </a:extLst>
              </a:tr>
            </a:tbl>
          </a:graphicData>
        </a:graphic>
      </p:graphicFrame>
    </p:spTree>
    <p:extLst>
      <p:ext uri="{BB962C8B-B14F-4D97-AF65-F5344CB8AC3E}">
        <p14:creationId xmlns:p14="http://schemas.microsoft.com/office/powerpoint/2010/main" val="243113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5436F3F7-E4E0-6B12-86A9-8CBB5B91C0AB}"/>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09A5ADA3-6759-B743-9BB1-B3511B60B4D6}"/>
              </a:ext>
            </a:extLst>
          </p:cNvPr>
          <p:cNvSpPr>
            <a:spLocks noGrp="1"/>
          </p:cNvSpPr>
          <p:nvPr>
            <p:ph type="title"/>
          </p:nvPr>
        </p:nvSpPr>
        <p:spPr/>
        <p:txBody>
          <a:bodyPr/>
          <a:lstStyle/>
          <a:p>
            <a:r>
              <a:rPr lang="en-US" dirty="0"/>
              <a:t>AlphaCorp United</a:t>
            </a:r>
          </a:p>
        </p:txBody>
      </p:sp>
      <p:pic>
        <p:nvPicPr>
          <p:cNvPr id="5124" name="Picture 4">
            <a:extLst>
              <a:ext uri="{FF2B5EF4-FFF2-40B4-BE49-F238E27FC236}">
                <a16:creationId xmlns:a16="http://schemas.microsoft.com/office/drawing/2014/main" id="{0C55B475-ED70-AD7E-AD4C-13297FA779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889" y="1341094"/>
            <a:ext cx="10136221" cy="5317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309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9FD12-C349-4AA6-97DD-5650D0CEF609}"/>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377459F5-3E51-E357-CE3A-724A7D5C82D4}"/>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4146F982-36B1-B2A0-2AA0-D3234B114C0D}"/>
              </a:ext>
            </a:extLst>
          </p:cNvPr>
          <p:cNvSpPr>
            <a:spLocks noGrp="1"/>
          </p:cNvSpPr>
          <p:nvPr>
            <p:ph type="title"/>
          </p:nvPr>
        </p:nvSpPr>
        <p:spPr>
          <a:xfrm>
            <a:off x="831850" y="3429000"/>
            <a:ext cx="10515600" cy="1133475"/>
          </a:xfrm>
          <a:solidFill>
            <a:schemeClr val="tx1">
              <a:alpha val="70000"/>
            </a:schemeClr>
          </a:solidFill>
        </p:spPr>
        <p:txBody>
          <a:bodyPr>
            <a:normAutofit fontScale="90000"/>
          </a:bodyPr>
          <a:lstStyle/>
          <a:p>
            <a:pPr algn="ctr"/>
            <a:r>
              <a:rPr lang="en-US" dirty="0">
                <a:solidFill>
                  <a:sysClr val="windowText" lastClr="000000"/>
                </a:solidFill>
              </a:rPr>
              <a:t>Enterprise Architecture Framework</a:t>
            </a:r>
          </a:p>
        </p:txBody>
      </p:sp>
      <p:sp>
        <p:nvSpPr>
          <p:cNvPr id="3" name="Text Placeholder 2">
            <a:extLst>
              <a:ext uri="{FF2B5EF4-FFF2-40B4-BE49-F238E27FC236}">
                <a16:creationId xmlns:a16="http://schemas.microsoft.com/office/drawing/2014/main" id="{7774D455-01F6-4770-A5CB-3C9CD4B469B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69841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3143D673-794C-DD85-3376-96D9D4D2C48F}"/>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879932D7-A719-BDF6-B907-72548CC8C8D0}"/>
              </a:ext>
            </a:extLst>
          </p:cNvPr>
          <p:cNvSpPr>
            <a:spLocks noGrp="1"/>
          </p:cNvSpPr>
          <p:nvPr>
            <p:ph type="title"/>
          </p:nvPr>
        </p:nvSpPr>
        <p:spPr/>
        <p:txBody>
          <a:bodyPr/>
          <a:lstStyle/>
          <a:p>
            <a:r>
              <a:rPr lang="en-US" dirty="0"/>
              <a:t>EA Framework – What the Doctor Ordered</a:t>
            </a:r>
          </a:p>
        </p:txBody>
      </p:sp>
      <p:graphicFrame>
        <p:nvGraphicFramePr>
          <p:cNvPr id="5" name="Content Placeholder 2">
            <a:extLst>
              <a:ext uri="{FF2B5EF4-FFF2-40B4-BE49-F238E27FC236}">
                <a16:creationId xmlns:a16="http://schemas.microsoft.com/office/drawing/2014/main" id="{3E38E189-8B0B-C38A-0057-519C13B88317}"/>
              </a:ext>
            </a:extLst>
          </p:cNvPr>
          <p:cNvGraphicFramePr>
            <a:graphicFrameLocks noGrp="1"/>
          </p:cNvGraphicFramePr>
          <p:nvPr>
            <p:ph idx="1"/>
            <p:extLst>
              <p:ext uri="{D42A27DB-BD31-4B8C-83A1-F6EECF244321}">
                <p14:modId xmlns:p14="http://schemas.microsoft.com/office/powerpoint/2010/main" val="3739547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1363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FAA937F0-30AC-DC91-7D1D-8A771C191CB6}"/>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E5682421-5E3D-C7E6-6D72-D4F76F288914}"/>
              </a:ext>
            </a:extLst>
          </p:cNvPr>
          <p:cNvSpPr>
            <a:spLocks noGrp="1"/>
          </p:cNvSpPr>
          <p:nvPr>
            <p:ph type="title"/>
          </p:nvPr>
        </p:nvSpPr>
        <p:spPr>
          <a:xfrm>
            <a:off x="839788" y="365125"/>
            <a:ext cx="10515600" cy="1325563"/>
          </a:xfrm>
          <a:noFill/>
          <a:ln w="38100">
            <a:noFill/>
          </a:ln>
        </p:spPr>
        <p:txBody>
          <a:bodyPr/>
          <a:lstStyle/>
          <a:p>
            <a:r>
              <a:rPr lang="en-US" dirty="0"/>
              <a:t>EA Framework Overview</a:t>
            </a:r>
          </a:p>
        </p:txBody>
      </p:sp>
      <p:sp>
        <p:nvSpPr>
          <p:cNvPr id="3" name="Text Placeholder 2">
            <a:extLst>
              <a:ext uri="{FF2B5EF4-FFF2-40B4-BE49-F238E27FC236}">
                <a16:creationId xmlns:a16="http://schemas.microsoft.com/office/drawing/2014/main" id="{DDDFFF96-BDB3-1D4D-A5AC-C7428215B2A5}"/>
              </a:ext>
            </a:extLst>
          </p:cNvPr>
          <p:cNvSpPr>
            <a:spLocks noGrp="1"/>
          </p:cNvSpPr>
          <p:nvPr>
            <p:ph type="body" idx="1"/>
          </p:nvPr>
        </p:nvSpPr>
        <p:spPr>
          <a:xfrm>
            <a:off x="846140" y="1690688"/>
            <a:ext cx="5157787" cy="823912"/>
          </a:xfrm>
          <a:solidFill>
            <a:schemeClr val="tx1">
              <a:lumMod val="95000"/>
              <a:alpha val="70000"/>
            </a:schemeClr>
          </a:solidFill>
          <a:ln w="38100">
            <a:noFill/>
          </a:ln>
        </p:spPr>
        <p:txBody>
          <a:bodyPr/>
          <a:lstStyle/>
          <a:p>
            <a:pPr algn="ctr"/>
            <a:r>
              <a:rPr lang="en-US" dirty="0">
                <a:solidFill>
                  <a:schemeClr val="bg1"/>
                </a:solidFill>
              </a:rPr>
              <a:t>Zachman Framework</a:t>
            </a:r>
          </a:p>
        </p:txBody>
      </p:sp>
      <p:sp>
        <p:nvSpPr>
          <p:cNvPr id="4" name="Content Placeholder 3">
            <a:extLst>
              <a:ext uri="{FF2B5EF4-FFF2-40B4-BE49-F238E27FC236}">
                <a16:creationId xmlns:a16="http://schemas.microsoft.com/office/drawing/2014/main" id="{30871DC0-7EBB-C215-0D03-16F8EAF29B4E}"/>
              </a:ext>
            </a:extLst>
          </p:cNvPr>
          <p:cNvSpPr>
            <a:spLocks noGrp="1"/>
          </p:cNvSpPr>
          <p:nvPr>
            <p:ph sz="half" idx="2"/>
          </p:nvPr>
        </p:nvSpPr>
        <p:spPr>
          <a:xfrm>
            <a:off x="846140" y="2514600"/>
            <a:ext cx="5157787" cy="3684588"/>
          </a:xfrm>
          <a:solidFill>
            <a:schemeClr val="tx1">
              <a:lumMod val="95000"/>
              <a:alpha val="70000"/>
            </a:schemeClr>
          </a:solidFill>
          <a:ln w="38100">
            <a:noFill/>
          </a:ln>
        </p:spPr>
        <p:txBody>
          <a:bodyPr>
            <a:normAutofit fontScale="70000" lnSpcReduction="20000"/>
          </a:bodyPr>
          <a:lstStyle/>
          <a:p>
            <a:r>
              <a:rPr lang="en-US" dirty="0">
                <a:solidFill>
                  <a:schemeClr val="bg1"/>
                </a:solidFill>
              </a:rPr>
              <a:t>Structured model for understanding and organizing the architecture of an enterprise</a:t>
            </a:r>
          </a:p>
          <a:p>
            <a:r>
              <a:rPr lang="en-US" dirty="0">
                <a:solidFill>
                  <a:schemeClr val="bg1"/>
                </a:solidFill>
              </a:rPr>
              <a:t>Broken down into a grid with rows representing the different roles in the business and the columns representing the different aspects.</a:t>
            </a:r>
          </a:p>
          <a:p>
            <a:r>
              <a:rPr lang="en-US" dirty="0">
                <a:solidFill>
                  <a:schemeClr val="bg1"/>
                </a:solidFill>
              </a:rPr>
              <a:t>The columns are What, How, Where, When, Who, and Why.</a:t>
            </a:r>
          </a:p>
          <a:p>
            <a:r>
              <a:rPr lang="en-US" dirty="0">
                <a:solidFill>
                  <a:schemeClr val="bg1"/>
                </a:solidFill>
              </a:rPr>
              <a:t>The rows are broken down into Planner’s view, Owner’s view, Designer’s view, Engineer’s view, Technician’s view, and the User’s view.</a:t>
            </a:r>
          </a:p>
          <a:p>
            <a:endParaRPr lang="en-US" dirty="0">
              <a:solidFill>
                <a:schemeClr val="bg1"/>
              </a:solidFill>
            </a:endParaRPr>
          </a:p>
        </p:txBody>
      </p:sp>
      <p:sp>
        <p:nvSpPr>
          <p:cNvPr id="5" name="Text Placeholder 4">
            <a:extLst>
              <a:ext uri="{FF2B5EF4-FFF2-40B4-BE49-F238E27FC236}">
                <a16:creationId xmlns:a16="http://schemas.microsoft.com/office/drawing/2014/main" id="{FA662663-9802-EDF2-D706-0356A3F90EAF}"/>
              </a:ext>
            </a:extLst>
          </p:cNvPr>
          <p:cNvSpPr>
            <a:spLocks noGrp="1"/>
          </p:cNvSpPr>
          <p:nvPr>
            <p:ph type="body" sz="quarter" idx="3"/>
          </p:nvPr>
        </p:nvSpPr>
        <p:spPr>
          <a:xfrm>
            <a:off x="6169024" y="1690688"/>
            <a:ext cx="5183188" cy="823912"/>
          </a:xfrm>
          <a:solidFill>
            <a:schemeClr val="tx1">
              <a:lumMod val="95000"/>
              <a:alpha val="70000"/>
            </a:schemeClr>
          </a:solidFill>
          <a:ln w="38100">
            <a:noFill/>
          </a:ln>
        </p:spPr>
        <p:txBody>
          <a:bodyPr/>
          <a:lstStyle/>
          <a:p>
            <a:pPr algn="ctr"/>
            <a:r>
              <a:rPr lang="en-US" dirty="0">
                <a:solidFill>
                  <a:schemeClr val="bg1"/>
                </a:solidFill>
              </a:rPr>
              <a:t>The Open Group Architecture Framework (TOGAF)</a:t>
            </a:r>
          </a:p>
        </p:txBody>
      </p:sp>
      <p:sp>
        <p:nvSpPr>
          <p:cNvPr id="6" name="Content Placeholder 5">
            <a:extLst>
              <a:ext uri="{FF2B5EF4-FFF2-40B4-BE49-F238E27FC236}">
                <a16:creationId xmlns:a16="http://schemas.microsoft.com/office/drawing/2014/main" id="{5907BC94-DE43-5940-7036-8FC6C3382AEE}"/>
              </a:ext>
            </a:extLst>
          </p:cNvPr>
          <p:cNvSpPr>
            <a:spLocks noGrp="1"/>
          </p:cNvSpPr>
          <p:nvPr>
            <p:ph sz="quarter" idx="4"/>
          </p:nvPr>
        </p:nvSpPr>
        <p:spPr>
          <a:xfrm>
            <a:off x="6169024" y="2514600"/>
            <a:ext cx="5183188" cy="3684588"/>
          </a:xfrm>
          <a:solidFill>
            <a:schemeClr val="tx1">
              <a:lumMod val="95000"/>
              <a:alpha val="70000"/>
            </a:schemeClr>
          </a:solidFill>
          <a:ln w="38100">
            <a:noFill/>
          </a:ln>
        </p:spPr>
        <p:txBody>
          <a:bodyPr>
            <a:normAutofit fontScale="70000" lnSpcReduction="20000"/>
          </a:bodyPr>
          <a:lstStyle/>
          <a:p>
            <a:r>
              <a:rPr lang="en-US" dirty="0">
                <a:solidFill>
                  <a:schemeClr val="bg1"/>
                </a:solidFill>
              </a:rPr>
              <a:t>TOGAF is one of the most widely used frameworks today by business</a:t>
            </a:r>
          </a:p>
          <a:p>
            <a:r>
              <a:rPr lang="en-US" dirty="0">
                <a:solidFill>
                  <a:schemeClr val="bg1"/>
                </a:solidFill>
              </a:rPr>
              <a:t>It provides the blueprint but also the tools to implement and maintain the framework.</a:t>
            </a:r>
          </a:p>
          <a:p>
            <a:r>
              <a:rPr lang="en-US" dirty="0">
                <a:solidFill>
                  <a:schemeClr val="bg1"/>
                </a:solidFill>
              </a:rPr>
              <a:t>TOGAF keeps the business goals in mind and works to align the infrastructure.</a:t>
            </a:r>
          </a:p>
          <a:p>
            <a:r>
              <a:rPr lang="en-US" dirty="0">
                <a:solidFill>
                  <a:schemeClr val="bg1"/>
                </a:solidFill>
              </a:rPr>
              <a:t>At the center of TOGAF is the architecture development method or ADM. </a:t>
            </a:r>
          </a:p>
          <a:p>
            <a:pPr lvl="1"/>
            <a:r>
              <a:rPr lang="en-US" dirty="0">
                <a:solidFill>
                  <a:schemeClr val="bg1"/>
                </a:solidFill>
              </a:rPr>
              <a:t>It includes eight phases which are cyclical in nature. </a:t>
            </a:r>
          </a:p>
          <a:p>
            <a:pPr lvl="1"/>
            <a:r>
              <a:rPr lang="en-US" dirty="0">
                <a:solidFill>
                  <a:schemeClr val="bg1"/>
                </a:solidFill>
              </a:rPr>
              <a:t>In the middle of the circle is requirements management to represent that these are always driving each part of the cycle. </a:t>
            </a:r>
          </a:p>
        </p:txBody>
      </p:sp>
    </p:spTree>
    <p:extLst>
      <p:ext uri="{BB962C8B-B14F-4D97-AF65-F5344CB8AC3E}">
        <p14:creationId xmlns:p14="http://schemas.microsoft.com/office/powerpoint/2010/main" val="1438637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bstract particle graph background">
            <a:extLst>
              <a:ext uri="{FF2B5EF4-FFF2-40B4-BE49-F238E27FC236}">
                <a16:creationId xmlns:a16="http://schemas.microsoft.com/office/drawing/2014/main" id="{DC20B033-EE38-CD6C-E170-5489B1FFE4F6}"/>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7F7DD068-6C36-5DBD-8CB4-4679EF9F1028}"/>
              </a:ext>
            </a:extLst>
          </p:cNvPr>
          <p:cNvSpPr>
            <a:spLocks noGrp="1"/>
          </p:cNvSpPr>
          <p:nvPr>
            <p:ph type="title"/>
          </p:nvPr>
        </p:nvSpPr>
        <p:spPr/>
        <p:txBody>
          <a:bodyPr/>
          <a:lstStyle/>
          <a:p>
            <a:r>
              <a:rPr lang="en-US" dirty="0"/>
              <a:t>Visual Representations</a:t>
            </a:r>
          </a:p>
        </p:txBody>
      </p:sp>
      <p:pic>
        <p:nvPicPr>
          <p:cNvPr id="3" name="Picture 2" descr="A diagram of requirements management&#10;&#10;AI-generated content may be incorrect.">
            <a:extLst>
              <a:ext uri="{FF2B5EF4-FFF2-40B4-BE49-F238E27FC236}">
                <a16:creationId xmlns:a16="http://schemas.microsoft.com/office/drawing/2014/main" id="{C62430A3-F5B9-22FC-DFB5-26BCA1869CE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4794" y="1668734"/>
            <a:ext cx="4479006" cy="5181948"/>
          </a:xfrm>
          <a:prstGeom prst="rect">
            <a:avLst/>
          </a:prstGeom>
          <a:noFill/>
          <a:ln>
            <a:noFill/>
          </a:ln>
        </p:spPr>
      </p:pic>
      <p:pic>
        <p:nvPicPr>
          <p:cNvPr id="4" name="Picture 3">
            <a:extLst>
              <a:ext uri="{FF2B5EF4-FFF2-40B4-BE49-F238E27FC236}">
                <a16:creationId xmlns:a16="http://schemas.microsoft.com/office/drawing/2014/main" id="{A0511C3F-8033-0DB2-3B79-1B32B8B4FE7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8200" y="1690688"/>
            <a:ext cx="5712741" cy="4679095"/>
          </a:xfrm>
          <a:prstGeom prst="rect">
            <a:avLst/>
          </a:prstGeom>
          <a:noFill/>
        </p:spPr>
      </p:pic>
    </p:spTree>
    <p:extLst>
      <p:ext uri="{BB962C8B-B14F-4D97-AF65-F5344CB8AC3E}">
        <p14:creationId xmlns:p14="http://schemas.microsoft.com/office/powerpoint/2010/main" val="533943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particle graph background">
            <a:extLst>
              <a:ext uri="{FF2B5EF4-FFF2-40B4-BE49-F238E27FC236}">
                <a16:creationId xmlns:a16="http://schemas.microsoft.com/office/drawing/2014/main" id="{89BFA04D-2D59-0CDD-C73C-BF1ADD281D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039C3AC-1FE6-5E21-E0E1-D59B4ED00AB7}"/>
              </a:ext>
            </a:extLst>
          </p:cNvPr>
          <p:cNvSpPr>
            <a:spLocks noGrp="1"/>
          </p:cNvSpPr>
          <p:nvPr>
            <p:ph type="title"/>
          </p:nvPr>
        </p:nvSpPr>
        <p:spPr>
          <a:xfrm>
            <a:off x="838200" y="0"/>
            <a:ext cx="10515600" cy="1325563"/>
          </a:xfrm>
        </p:spPr>
        <p:txBody>
          <a:bodyPr/>
          <a:lstStyle/>
          <a:p>
            <a:r>
              <a:rPr lang="en-US" dirty="0"/>
              <a:t>EA Framework Comparison</a:t>
            </a:r>
          </a:p>
        </p:txBody>
      </p:sp>
      <p:graphicFrame>
        <p:nvGraphicFramePr>
          <p:cNvPr id="4" name="Content Placeholder 3">
            <a:extLst>
              <a:ext uri="{FF2B5EF4-FFF2-40B4-BE49-F238E27FC236}">
                <a16:creationId xmlns:a16="http://schemas.microsoft.com/office/drawing/2014/main" id="{DF4CFFD6-CCB2-6BAE-8137-605500D37934}"/>
              </a:ext>
            </a:extLst>
          </p:cNvPr>
          <p:cNvGraphicFramePr>
            <a:graphicFrameLocks noGrp="1"/>
          </p:cNvGraphicFramePr>
          <p:nvPr>
            <p:ph idx="1"/>
            <p:extLst>
              <p:ext uri="{D42A27DB-BD31-4B8C-83A1-F6EECF244321}">
                <p14:modId xmlns:p14="http://schemas.microsoft.com/office/powerpoint/2010/main" val="4091629546"/>
              </p:ext>
            </p:extLst>
          </p:nvPr>
        </p:nvGraphicFramePr>
        <p:xfrm>
          <a:off x="243191" y="1044565"/>
          <a:ext cx="11614826" cy="5813435"/>
        </p:xfrm>
        <a:graphic>
          <a:graphicData uri="http://schemas.openxmlformats.org/drawingml/2006/table">
            <a:tbl>
              <a:tblPr firstRow="1" firstCol="1" bandRow="1">
                <a:tableStyleId>{1FECB4D8-DB02-4DC6-A0A2-4F2EBAE1DC90}</a:tableStyleId>
              </a:tblPr>
              <a:tblGrid>
                <a:gridCol w="1702341">
                  <a:extLst>
                    <a:ext uri="{9D8B030D-6E8A-4147-A177-3AD203B41FA5}">
                      <a16:colId xmlns:a16="http://schemas.microsoft.com/office/drawing/2014/main" val="3783059392"/>
                    </a:ext>
                  </a:extLst>
                </a:gridCol>
                <a:gridCol w="4664075">
                  <a:extLst>
                    <a:ext uri="{9D8B030D-6E8A-4147-A177-3AD203B41FA5}">
                      <a16:colId xmlns:a16="http://schemas.microsoft.com/office/drawing/2014/main" val="2634961143"/>
                    </a:ext>
                  </a:extLst>
                </a:gridCol>
                <a:gridCol w="5248410">
                  <a:extLst>
                    <a:ext uri="{9D8B030D-6E8A-4147-A177-3AD203B41FA5}">
                      <a16:colId xmlns:a16="http://schemas.microsoft.com/office/drawing/2014/main" val="3661381874"/>
                    </a:ext>
                  </a:extLst>
                </a:gridCol>
              </a:tblGrid>
              <a:tr h="311627">
                <a:tc>
                  <a:txBody>
                    <a:bodyPr/>
                    <a:lstStyle/>
                    <a:p>
                      <a:pPr marL="0" marR="0">
                        <a:lnSpc>
                          <a:spcPct val="115000"/>
                        </a:lnSpc>
                        <a:spcAft>
                          <a:spcPts val="800"/>
                        </a:spcAft>
                        <a:buNone/>
                      </a:pPr>
                      <a:r>
                        <a:rPr lang="en-US" sz="1800" kern="100">
                          <a:effectLst/>
                        </a:rPr>
                        <a:t> </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tc>
                <a:tc>
                  <a:txBody>
                    <a:bodyPr/>
                    <a:lstStyle/>
                    <a:p>
                      <a:pPr marL="0" marR="0" algn="ctr">
                        <a:lnSpc>
                          <a:spcPct val="115000"/>
                        </a:lnSpc>
                        <a:spcAft>
                          <a:spcPts val="800"/>
                        </a:spcAft>
                        <a:buNone/>
                      </a:pPr>
                      <a:r>
                        <a:rPr lang="en-US" sz="1800" kern="100" dirty="0">
                          <a:effectLst/>
                        </a:rPr>
                        <a:t>Zachman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tc>
                <a:tc>
                  <a:txBody>
                    <a:bodyPr/>
                    <a:lstStyle/>
                    <a:p>
                      <a:pPr marL="0" marR="0" algn="ctr">
                        <a:lnSpc>
                          <a:spcPct val="115000"/>
                        </a:lnSpc>
                        <a:spcAft>
                          <a:spcPts val="800"/>
                        </a:spcAft>
                        <a:buNone/>
                      </a:pPr>
                      <a:r>
                        <a:rPr lang="en-US" sz="1800" kern="100" dirty="0">
                          <a:effectLst/>
                        </a:rPr>
                        <a:t>TOGAF (The Open Group Architecture Framework)</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tc>
                <a:extLst>
                  <a:ext uri="{0D108BD9-81ED-4DB2-BD59-A6C34878D82A}">
                    <a16:rowId xmlns:a16="http://schemas.microsoft.com/office/drawing/2014/main" val="605244630"/>
                  </a:ext>
                </a:extLst>
              </a:tr>
              <a:tr h="639419">
                <a:tc>
                  <a:txBody>
                    <a:bodyPr/>
                    <a:lstStyle/>
                    <a:p>
                      <a:pPr marL="0" marR="0">
                        <a:lnSpc>
                          <a:spcPct val="115000"/>
                        </a:lnSpc>
                        <a:spcAft>
                          <a:spcPts val="800"/>
                        </a:spcAft>
                        <a:buNone/>
                      </a:pPr>
                      <a:r>
                        <a:rPr lang="en-US" sz="1800" kern="100" dirty="0">
                          <a:effectLst/>
                        </a:rPr>
                        <a:t>Methodology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Provides descriptions of current state applications and architecture.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a:effectLst/>
                        </a:rPr>
                        <a:t>Provides structure and a complete guide.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1763629198"/>
                  </a:ext>
                </a:extLst>
              </a:tr>
              <a:tr h="639419">
                <a:tc>
                  <a:txBody>
                    <a:bodyPr/>
                    <a:lstStyle/>
                    <a:p>
                      <a:pPr marL="0" marR="0">
                        <a:lnSpc>
                          <a:spcPct val="115000"/>
                        </a:lnSpc>
                        <a:spcAft>
                          <a:spcPts val="800"/>
                        </a:spcAft>
                        <a:buNone/>
                      </a:pPr>
                      <a:r>
                        <a:rPr lang="en-US" sz="1800" kern="100" dirty="0">
                          <a:effectLst/>
                        </a:rPr>
                        <a:t>Scope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Current State. Focus on classifying and identifying.</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a:effectLst/>
                        </a:rPr>
                        <a:t>Current and future state. Covers business, data, technology, and security.</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4152813098"/>
                  </a:ext>
                </a:extLst>
              </a:tr>
              <a:tr h="967211">
                <a:tc>
                  <a:txBody>
                    <a:bodyPr/>
                    <a:lstStyle/>
                    <a:p>
                      <a:pPr marL="0" marR="0">
                        <a:lnSpc>
                          <a:spcPct val="115000"/>
                        </a:lnSpc>
                        <a:spcAft>
                          <a:spcPts val="800"/>
                        </a:spcAft>
                        <a:buNone/>
                      </a:pPr>
                      <a:r>
                        <a:rPr lang="en-US" sz="1800" kern="100" dirty="0">
                          <a:effectLst/>
                        </a:rPr>
                        <a:t>Strength</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Universally applicable to any business. Great for audits of the current state.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Proven step by step end to end process for implementing change. Many resources are available for use.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3740672011"/>
                  </a:ext>
                </a:extLst>
              </a:tr>
              <a:tr h="639419">
                <a:tc>
                  <a:txBody>
                    <a:bodyPr/>
                    <a:lstStyle/>
                    <a:p>
                      <a:pPr marL="0" marR="0">
                        <a:lnSpc>
                          <a:spcPct val="115000"/>
                        </a:lnSpc>
                        <a:spcAft>
                          <a:spcPts val="800"/>
                        </a:spcAft>
                        <a:buNone/>
                      </a:pPr>
                      <a:r>
                        <a:rPr lang="en-US" sz="1800" kern="100" dirty="0">
                          <a:effectLst/>
                        </a:rPr>
                        <a:t>Weakness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Does not provide steps for implementation or migration of technologies.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Tends to be complex. Requires skilled individuals to manage the framework.</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3996713594"/>
                  </a:ext>
                </a:extLst>
              </a:tr>
              <a:tr h="370291">
                <a:tc>
                  <a:txBody>
                    <a:bodyPr/>
                    <a:lstStyle/>
                    <a:p>
                      <a:pPr marL="0" marR="0">
                        <a:lnSpc>
                          <a:spcPct val="115000"/>
                        </a:lnSpc>
                        <a:spcAft>
                          <a:spcPts val="800"/>
                        </a:spcAft>
                        <a:buNone/>
                      </a:pPr>
                      <a:r>
                        <a:rPr lang="en-US" sz="1800" kern="100" dirty="0">
                          <a:effectLst/>
                        </a:rPr>
                        <a:t>Complexity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Low, especially compared to TOGAF.</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High due to the larger scope that it covers.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3441929157"/>
                  </a:ext>
                </a:extLst>
              </a:tr>
              <a:tr h="967211">
                <a:tc>
                  <a:txBody>
                    <a:bodyPr/>
                    <a:lstStyle/>
                    <a:p>
                      <a:pPr marL="0" marR="0">
                        <a:lnSpc>
                          <a:spcPct val="115000"/>
                        </a:lnSpc>
                        <a:spcAft>
                          <a:spcPts val="800"/>
                        </a:spcAft>
                        <a:buNone/>
                      </a:pPr>
                      <a:r>
                        <a:rPr lang="en-US" sz="1800" kern="100" dirty="0">
                          <a:effectLst/>
                        </a:rPr>
                        <a:t>Adaptability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Low. The grid tends to be static, requiring a full rework when changes are needed.</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High. TOGAF can be tailored to fit business needs. Items can be changed as the goals of business change.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3340068687"/>
                  </a:ext>
                </a:extLst>
              </a:tr>
              <a:tr h="639419">
                <a:tc>
                  <a:txBody>
                    <a:bodyPr/>
                    <a:lstStyle/>
                    <a:p>
                      <a:pPr marL="0" marR="0">
                        <a:lnSpc>
                          <a:spcPct val="115000"/>
                        </a:lnSpc>
                        <a:spcAft>
                          <a:spcPts val="800"/>
                        </a:spcAft>
                        <a:buNone/>
                      </a:pPr>
                      <a:r>
                        <a:rPr lang="en-US" sz="1800" kern="100" dirty="0">
                          <a:effectLst/>
                        </a:rPr>
                        <a:t>Scalability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a:effectLst/>
                        </a:rPr>
                        <a:t>Can ramp up complexity as scope of the enterprise increases.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Very scalable to meet small or large scale changes.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3256937995"/>
                  </a:ext>
                </a:extLst>
              </a:tr>
              <a:tr h="639419">
                <a:tc>
                  <a:txBody>
                    <a:bodyPr/>
                    <a:lstStyle/>
                    <a:p>
                      <a:pPr marL="0" marR="0">
                        <a:lnSpc>
                          <a:spcPct val="115000"/>
                        </a:lnSpc>
                        <a:spcAft>
                          <a:spcPts val="800"/>
                        </a:spcAft>
                        <a:buNone/>
                      </a:pPr>
                      <a:r>
                        <a:rPr lang="en-US" sz="1800" kern="100" dirty="0">
                          <a:effectLst/>
                        </a:rPr>
                        <a:t>Efficiency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Great for audits but provides no efficiency gains for implementation.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tc>
                  <a:txBody>
                    <a:bodyPr/>
                    <a:lstStyle/>
                    <a:p>
                      <a:pPr marL="0" marR="0">
                        <a:lnSpc>
                          <a:spcPct val="115000"/>
                        </a:lnSpc>
                        <a:spcAft>
                          <a:spcPts val="800"/>
                        </a:spcAft>
                        <a:buNone/>
                      </a:pPr>
                      <a:r>
                        <a:rPr lang="en-US" sz="1400" kern="100" dirty="0">
                          <a:effectLst/>
                        </a:rPr>
                        <a:t>Provides efficiency for managing change by utilizing the 8 phases of the process.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7787" marR="57787" marT="0" marB="0">
                    <a:solidFill>
                      <a:schemeClr val="tx1">
                        <a:alpha val="80000"/>
                      </a:schemeClr>
                    </a:solidFill>
                  </a:tcPr>
                </a:tc>
                <a:extLst>
                  <a:ext uri="{0D108BD9-81ED-4DB2-BD59-A6C34878D82A}">
                    <a16:rowId xmlns:a16="http://schemas.microsoft.com/office/drawing/2014/main" val="823966532"/>
                  </a:ext>
                </a:extLst>
              </a:tr>
            </a:tbl>
          </a:graphicData>
        </a:graphic>
      </p:graphicFrame>
    </p:spTree>
    <p:extLst>
      <p:ext uri="{BB962C8B-B14F-4D97-AF65-F5344CB8AC3E}">
        <p14:creationId xmlns:p14="http://schemas.microsoft.com/office/powerpoint/2010/main" val="4172857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B660CC04-5EFB-7B88-17F4-1766D5DEF6D4}"/>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223C45ED-487F-B539-D0A8-4C1FE7172A47}"/>
              </a:ext>
            </a:extLst>
          </p:cNvPr>
          <p:cNvSpPr>
            <a:spLocks noGrp="1"/>
          </p:cNvSpPr>
          <p:nvPr>
            <p:ph type="title"/>
          </p:nvPr>
        </p:nvSpPr>
        <p:spPr/>
        <p:txBody>
          <a:bodyPr/>
          <a:lstStyle/>
          <a:p>
            <a:r>
              <a:rPr lang="en-US" dirty="0"/>
              <a:t>EA Framework Comparison</a:t>
            </a:r>
          </a:p>
        </p:txBody>
      </p:sp>
      <p:graphicFrame>
        <p:nvGraphicFramePr>
          <p:cNvPr id="4" name="Content Placeholder 3">
            <a:extLst>
              <a:ext uri="{FF2B5EF4-FFF2-40B4-BE49-F238E27FC236}">
                <a16:creationId xmlns:a16="http://schemas.microsoft.com/office/drawing/2014/main" id="{CCB75609-3078-23AF-AE7D-B951C9580277}"/>
              </a:ext>
            </a:extLst>
          </p:cNvPr>
          <p:cNvGraphicFramePr>
            <a:graphicFrameLocks noGrp="1"/>
          </p:cNvGraphicFramePr>
          <p:nvPr>
            <p:ph idx="1"/>
            <p:extLst>
              <p:ext uri="{D42A27DB-BD31-4B8C-83A1-F6EECF244321}">
                <p14:modId xmlns:p14="http://schemas.microsoft.com/office/powerpoint/2010/main" val="58865524"/>
              </p:ext>
            </p:extLst>
          </p:nvPr>
        </p:nvGraphicFramePr>
        <p:xfrm>
          <a:off x="838200" y="2187102"/>
          <a:ext cx="10515600" cy="4681218"/>
        </p:xfrm>
        <a:graphic>
          <a:graphicData uri="http://schemas.openxmlformats.org/drawingml/2006/table">
            <a:tbl>
              <a:tblPr firstRow="1" firstCol="1" bandRow="1">
                <a:tableStyleId>{F5AB1C69-6EDB-4FF4-983F-18BD219EF322}</a:tableStyleId>
              </a:tblPr>
              <a:tblGrid>
                <a:gridCol w="2221209">
                  <a:extLst>
                    <a:ext uri="{9D8B030D-6E8A-4147-A177-3AD203B41FA5}">
                      <a16:colId xmlns:a16="http://schemas.microsoft.com/office/drawing/2014/main" val="3172948288"/>
                    </a:ext>
                  </a:extLst>
                </a:gridCol>
                <a:gridCol w="3947568">
                  <a:extLst>
                    <a:ext uri="{9D8B030D-6E8A-4147-A177-3AD203B41FA5}">
                      <a16:colId xmlns:a16="http://schemas.microsoft.com/office/drawing/2014/main" val="1941318411"/>
                    </a:ext>
                  </a:extLst>
                </a:gridCol>
                <a:gridCol w="4346823">
                  <a:extLst>
                    <a:ext uri="{9D8B030D-6E8A-4147-A177-3AD203B41FA5}">
                      <a16:colId xmlns:a16="http://schemas.microsoft.com/office/drawing/2014/main" val="3933643844"/>
                    </a:ext>
                  </a:extLst>
                </a:gridCol>
              </a:tblGrid>
              <a:tr h="157050">
                <a:tc>
                  <a:txBody>
                    <a:bodyPr/>
                    <a:lstStyle/>
                    <a:p>
                      <a:pPr marL="0" marR="0" algn="ctr">
                        <a:lnSpc>
                          <a:spcPct val="115000"/>
                        </a:lnSpc>
                        <a:spcAft>
                          <a:spcPts val="800"/>
                        </a:spcAft>
                        <a:buNone/>
                      </a:pPr>
                      <a:r>
                        <a:rPr lang="en-US" sz="1800" kern="100" dirty="0">
                          <a:effectLst/>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gn="ctr">
                        <a:lnSpc>
                          <a:spcPct val="115000"/>
                        </a:lnSpc>
                        <a:spcAft>
                          <a:spcPts val="800"/>
                        </a:spcAft>
                        <a:buNone/>
                      </a:pPr>
                      <a:r>
                        <a:rPr lang="en-US" sz="1800" kern="100" dirty="0">
                          <a:effectLst/>
                        </a:rPr>
                        <a:t>TOGAF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gn="ctr">
                        <a:lnSpc>
                          <a:spcPct val="115000"/>
                        </a:lnSpc>
                        <a:spcAft>
                          <a:spcPts val="800"/>
                        </a:spcAft>
                        <a:buNone/>
                      </a:pPr>
                      <a:r>
                        <a:rPr lang="en-US" sz="1800" kern="100" dirty="0">
                          <a:effectLst/>
                        </a:rPr>
                        <a:t>Zachman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extLst>
                  <a:ext uri="{0D108BD9-81ED-4DB2-BD59-A6C34878D82A}">
                    <a16:rowId xmlns:a16="http://schemas.microsoft.com/office/drawing/2014/main" val="771548735"/>
                  </a:ext>
                </a:extLst>
              </a:tr>
              <a:tr h="487512">
                <a:tc>
                  <a:txBody>
                    <a:bodyPr/>
                    <a:lstStyle/>
                    <a:p>
                      <a:pPr marL="0" marR="0">
                        <a:lnSpc>
                          <a:spcPct val="115000"/>
                        </a:lnSpc>
                        <a:spcAft>
                          <a:spcPts val="800"/>
                        </a:spcAft>
                        <a:buNone/>
                      </a:pPr>
                      <a:r>
                        <a:rPr lang="en-US" sz="1400" kern="100">
                          <a:effectLst/>
                        </a:rPr>
                        <a:t>Data Storage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First four phases directly highlight issues and create plan for migration.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No change implementation methodology.</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rgbClr val="FF0000"/>
                    </a:solidFill>
                  </a:tcPr>
                </a:tc>
                <a:extLst>
                  <a:ext uri="{0D108BD9-81ED-4DB2-BD59-A6C34878D82A}">
                    <a16:rowId xmlns:a16="http://schemas.microsoft.com/office/drawing/2014/main" val="2892056386"/>
                  </a:ext>
                </a:extLst>
              </a:tr>
              <a:tr h="487512">
                <a:tc>
                  <a:txBody>
                    <a:bodyPr/>
                    <a:lstStyle/>
                    <a:p>
                      <a:pPr marL="0" marR="0">
                        <a:lnSpc>
                          <a:spcPct val="115000"/>
                        </a:lnSpc>
                        <a:spcAft>
                          <a:spcPts val="800"/>
                        </a:spcAft>
                        <a:buNone/>
                      </a:pPr>
                      <a:r>
                        <a:rPr lang="en-US" sz="1400" kern="100">
                          <a:effectLst/>
                        </a:rPr>
                        <a:t>No Standard Communication Protocol</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Defining of enterprise-wide goals is addressed in Architecture Vision phase.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Provides no tools or mechanisms to create or select new protocols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rgbClr val="FF0000"/>
                    </a:solidFill>
                  </a:tcPr>
                </a:tc>
                <a:extLst>
                  <a:ext uri="{0D108BD9-81ED-4DB2-BD59-A6C34878D82A}">
                    <a16:rowId xmlns:a16="http://schemas.microsoft.com/office/drawing/2014/main" val="2462115481"/>
                  </a:ext>
                </a:extLst>
              </a:tr>
              <a:tr h="487512">
                <a:tc>
                  <a:txBody>
                    <a:bodyPr/>
                    <a:lstStyle/>
                    <a:p>
                      <a:pPr marL="0" marR="0">
                        <a:lnSpc>
                          <a:spcPct val="115000"/>
                        </a:lnSpc>
                        <a:spcAft>
                          <a:spcPts val="800"/>
                        </a:spcAft>
                        <a:buNone/>
                      </a:pPr>
                      <a:r>
                        <a:rPr lang="en-US" sz="1400" kern="100">
                          <a:effectLst/>
                        </a:rPr>
                        <a:t>Limited Scalability</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Is an iterative framework with all phases being driven by the overall business goals.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No change implementation methodology.</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rgbClr val="FF0000"/>
                    </a:solidFill>
                  </a:tcPr>
                </a:tc>
                <a:extLst>
                  <a:ext uri="{0D108BD9-81ED-4DB2-BD59-A6C34878D82A}">
                    <a16:rowId xmlns:a16="http://schemas.microsoft.com/office/drawing/2014/main" val="2978880159"/>
                  </a:ext>
                </a:extLst>
              </a:tr>
              <a:tr h="487512">
                <a:tc>
                  <a:txBody>
                    <a:bodyPr/>
                    <a:lstStyle/>
                    <a:p>
                      <a:pPr marL="0" marR="0">
                        <a:lnSpc>
                          <a:spcPct val="115000"/>
                        </a:lnSpc>
                        <a:spcAft>
                          <a:spcPts val="800"/>
                        </a:spcAft>
                        <a:buNone/>
                      </a:pPr>
                      <a:r>
                        <a:rPr lang="en-US" sz="1400" kern="100">
                          <a:effectLst/>
                        </a:rPr>
                        <a:t>Wasteful Expenditures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First three phases highlight the waste and outdated software that resides in AlphaCorp.</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Provides no tools or mechanisms to create or select new protocols.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rgbClr val="FF0000"/>
                    </a:solidFill>
                  </a:tcPr>
                </a:tc>
                <a:extLst>
                  <a:ext uri="{0D108BD9-81ED-4DB2-BD59-A6C34878D82A}">
                    <a16:rowId xmlns:a16="http://schemas.microsoft.com/office/drawing/2014/main" val="1152305877"/>
                  </a:ext>
                </a:extLst>
              </a:tr>
              <a:tr h="652743">
                <a:tc>
                  <a:txBody>
                    <a:bodyPr/>
                    <a:lstStyle/>
                    <a:p>
                      <a:pPr marL="0" marR="0">
                        <a:lnSpc>
                          <a:spcPct val="115000"/>
                        </a:lnSpc>
                        <a:spcAft>
                          <a:spcPts val="800"/>
                        </a:spcAft>
                        <a:buNone/>
                      </a:pPr>
                      <a:r>
                        <a:rPr lang="en-US" sz="1400" kern="100">
                          <a:effectLst/>
                        </a:rPr>
                        <a:t>Outdated Software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First three phases highlight the waste and outdated software that resides in AlphaCorp.</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In the Zachman grid the columns Where, What, and How should provide a full view of the outdated software and applications.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extLst>
                  <a:ext uri="{0D108BD9-81ED-4DB2-BD59-A6C34878D82A}">
                    <a16:rowId xmlns:a16="http://schemas.microsoft.com/office/drawing/2014/main" val="1689651937"/>
                  </a:ext>
                </a:extLst>
              </a:tr>
              <a:tr h="983205">
                <a:tc>
                  <a:txBody>
                    <a:bodyPr/>
                    <a:lstStyle/>
                    <a:p>
                      <a:pPr marL="0" marR="0">
                        <a:lnSpc>
                          <a:spcPct val="115000"/>
                        </a:lnSpc>
                        <a:spcAft>
                          <a:spcPts val="800"/>
                        </a:spcAft>
                        <a:buNone/>
                      </a:pPr>
                      <a:r>
                        <a:rPr lang="en-US" sz="1400" kern="100">
                          <a:effectLst/>
                        </a:rPr>
                        <a:t>Budget Constraints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TOGAF considers requirements management throughout all 8 stages. Prioritization of critical migration is a part of the cycle so AlphaCorp can stay within budget.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Low initial costs but does not provide guidance on migration and architecture change.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rgbClr val="FFFF00"/>
                    </a:solidFill>
                  </a:tcPr>
                </a:tc>
                <a:extLst>
                  <a:ext uri="{0D108BD9-81ED-4DB2-BD59-A6C34878D82A}">
                    <a16:rowId xmlns:a16="http://schemas.microsoft.com/office/drawing/2014/main" val="3461450237"/>
                  </a:ext>
                </a:extLst>
              </a:tr>
              <a:tr h="652743">
                <a:tc>
                  <a:txBody>
                    <a:bodyPr/>
                    <a:lstStyle/>
                    <a:p>
                      <a:pPr marL="0" marR="0">
                        <a:lnSpc>
                          <a:spcPct val="115000"/>
                        </a:lnSpc>
                        <a:spcAft>
                          <a:spcPts val="800"/>
                        </a:spcAft>
                        <a:buNone/>
                      </a:pPr>
                      <a:r>
                        <a:rPr lang="en-US" sz="1400" kern="100" dirty="0">
                          <a:effectLst/>
                        </a:rPr>
                        <a:t>Adaptability</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tc>
                <a:tc>
                  <a:txBody>
                    <a:bodyPr/>
                    <a:lstStyle/>
                    <a:p>
                      <a:pPr marL="0" marR="0">
                        <a:lnSpc>
                          <a:spcPct val="115000"/>
                        </a:lnSpc>
                        <a:spcAft>
                          <a:spcPts val="800"/>
                        </a:spcAft>
                        <a:buNone/>
                      </a:pPr>
                      <a:r>
                        <a:rPr lang="en-US" sz="1400" kern="100" dirty="0">
                          <a:effectLst/>
                        </a:rPr>
                        <a:t>Is an iterative framework with all phases being driven by the overall business goals. Can adapt easily to new goals.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chemeClr val="accent2">
                        <a:lumMod val="75000"/>
                      </a:schemeClr>
                    </a:solidFill>
                  </a:tcPr>
                </a:tc>
                <a:tc>
                  <a:txBody>
                    <a:bodyPr/>
                    <a:lstStyle/>
                    <a:p>
                      <a:pPr marL="0" marR="0">
                        <a:lnSpc>
                          <a:spcPct val="115000"/>
                        </a:lnSpc>
                        <a:spcAft>
                          <a:spcPts val="800"/>
                        </a:spcAft>
                        <a:buNone/>
                      </a:pPr>
                      <a:r>
                        <a:rPr lang="en-US" sz="1400" kern="100" dirty="0">
                          <a:effectLst/>
                        </a:rPr>
                        <a:t>Is not an iterative framework, so does not have the ability to adapt to new business criteria.</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3335" marR="53335" marT="0" marB="0">
                    <a:solidFill>
                      <a:srgbClr val="FF0000"/>
                    </a:solidFill>
                  </a:tcPr>
                </a:tc>
                <a:extLst>
                  <a:ext uri="{0D108BD9-81ED-4DB2-BD59-A6C34878D82A}">
                    <a16:rowId xmlns:a16="http://schemas.microsoft.com/office/drawing/2014/main" val="1793910376"/>
                  </a:ext>
                </a:extLst>
              </a:tr>
            </a:tbl>
          </a:graphicData>
        </a:graphic>
      </p:graphicFrame>
      <p:graphicFrame>
        <p:nvGraphicFramePr>
          <p:cNvPr id="6" name="Table 5">
            <a:extLst>
              <a:ext uri="{FF2B5EF4-FFF2-40B4-BE49-F238E27FC236}">
                <a16:creationId xmlns:a16="http://schemas.microsoft.com/office/drawing/2014/main" id="{9F4C3432-96DE-9F27-007B-B5F329B49941}"/>
              </a:ext>
            </a:extLst>
          </p:cNvPr>
          <p:cNvGraphicFramePr>
            <a:graphicFrameLocks noGrp="1"/>
          </p:cNvGraphicFramePr>
          <p:nvPr>
            <p:extLst>
              <p:ext uri="{D42A27DB-BD31-4B8C-83A1-F6EECF244321}">
                <p14:modId xmlns:p14="http://schemas.microsoft.com/office/powerpoint/2010/main" val="2159711724"/>
              </p:ext>
            </p:extLst>
          </p:nvPr>
        </p:nvGraphicFramePr>
        <p:xfrm>
          <a:off x="8897112" y="285178"/>
          <a:ext cx="3183128" cy="1485456"/>
        </p:xfrm>
        <a:graphic>
          <a:graphicData uri="http://schemas.openxmlformats.org/drawingml/2006/table">
            <a:tbl>
              <a:tblPr firstRow="1" bandRow="1">
                <a:tableStyleId>{5C22544A-7EE6-4342-B048-85BDC9FD1C3A}</a:tableStyleId>
              </a:tblPr>
              <a:tblGrid>
                <a:gridCol w="3183128">
                  <a:extLst>
                    <a:ext uri="{9D8B030D-6E8A-4147-A177-3AD203B41FA5}">
                      <a16:colId xmlns:a16="http://schemas.microsoft.com/office/drawing/2014/main" val="1361223622"/>
                    </a:ext>
                  </a:extLst>
                </a:gridCol>
              </a:tblGrid>
              <a:tr h="372936">
                <a:tc>
                  <a:txBody>
                    <a:bodyPr/>
                    <a:lstStyle/>
                    <a:p>
                      <a:pPr algn="ctr"/>
                      <a:r>
                        <a:rPr lang="en-US" dirty="0">
                          <a:solidFill>
                            <a:schemeClr val="bg1"/>
                          </a:solidFill>
                        </a:rPr>
                        <a:t>Key</a:t>
                      </a:r>
                    </a:p>
                  </a:txBody>
                  <a:tcPr>
                    <a:solidFill>
                      <a:schemeClr val="bg2">
                        <a:lumMod val="75000"/>
                        <a:lumOff val="25000"/>
                      </a:schemeClr>
                    </a:solidFill>
                  </a:tcPr>
                </a:tc>
                <a:extLst>
                  <a:ext uri="{0D108BD9-81ED-4DB2-BD59-A6C34878D82A}">
                    <a16:rowId xmlns:a16="http://schemas.microsoft.com/office/drawing/2014/main" val="1347790489"/>
                  </a:ext>
                </a:extLst>
              </a:tr>
              <a:tr h="370840">
                <a:tc>
                  <a:txBody>
                    <a:bodyPr/>
                    <a:lstStyle/>
                    <a:p>
                      <a:r>
                        <a:rPr lang="en-US" dirty="0"/>
                        <a:t>Completely Meets Needs</a:t>
                      </a:r>
                    </a:p>
                  </a:txBody>
                  <a:tcPr>
                    <a:solidFill>
                      <a:schemeClr val="accent2">
                        <a:lumMod val="75000"/>
                      </a:schemeClr>
                    </a:solidFill>
                  </a:tcPr>
                </a:tc>
                <a:extLst>
                  <a:ext uri="{0D108BD9-81ED-4DB2-BD59-A6C34878D82A}">
                    <a16:rowId xmlns:a16="http://schemas.microsoft.com/office/drawing/2014/main" val="1244944161"/>
                  </a:ext>
                </a:extLst>
              </a:tr>
              <a:tr h="370840">
                <a:tc>
                  <a:txBody>
                    <a:bodyPr/>
                    <a:lstStyle/>
                    <a:p>
                      <a:r>
                        <a:rPr lang="en-US" dirty="0"/>
                        <a:t>Partially Meets Needs</a:t>
                      </a:r>
                    </a:p>
                  </a:txBody>
                  <a:tcPr>
                    <a:solidFill>
                      <a:srgbClr val="FFFF00"/>
                    </a:solidFill>
                  </a:tcPr>
                </a:tc>
                <a:extLst>
                  <a:ext uri="{0D108BD9-81ED-4DB2-BD59-A6C34878D82A}">
                    <a16:rowId xmlns:a16="http://schemas.microsoft.com/office/drawing/2014/main" val="559262870"/>
                  </a:ext>
                </a:extLst>
              </a:tr>
              <a:tr h="370840">
                <a:tc>
                  <a:txBody>
                    <a:bodyPr/>
                    <a:lstStyle/>
                    <a:p>
                      <a:r>
                        <a:rPr lang="en-US" dirty="0"/>
                        <a:t>Does Not Meet Needs</a:t>
                      </a:r>
                    </a:p>
                  </a:txBody>
                  <a:tcPr>
                    <a:solidFill>
                      <a:srgbClr val="FF0000"/>
                    </a:solidFill>
                  </a:tcPr>
                </a:tc>
                <a:extLst>
                  <a:ext uri="{0D108BD9-81ED-4DB2-BD59-A6C34878D82A}">
                    <a16:rowId xmlns:a16="http://schemas.microsoft.com/office/drawing/2014/main" val="2132562483"/>
                  </a:ext>
                </a:extLst>
              </a:tr>
            </a:tbl>
          </a:graphicData>
        </a:graphic>
      </p:graphicFrame>
    </p:spTree>
    <p:extLst>
      <p:ext uri="{BB962C8B-B14F-4D97-AF65-F5344CB8AC3E}">
        <p14:creationId xmlns:p14="http://schemas.microsoft.com/office/powerpoint/2010/main" val="3354631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287A1903-0BCB-1DA4-1BAA-3CD43877888F}"/>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2128B5A6-90E6-9D08-459B-ADB2EFCF34F5}"/>
              </a:ext>
            </a:extLst>
          </p:cNvPr>
          <p:cNvSpPr>
            <a:spLocks noGrp="1"/>
          </p:cNvSpPr>
          <p:nvPr>
            <p:ph type="title"/>
          </p:nvPr>
        </p:nvSpPr>
        <p:spPr/>
        <p:txBody>
          <a:bodyPr/>
          <a:lstStyle/>
          <a:p>
            <a:r>
              <a:rPr lang="en-US" dirty="0"/>
              <a:t>EA Repository Tool </a:t>
            </a:r>
          </a:p>
        </p:txBody>
      </p:sp>
      <p:sp>
        <p:nvSpPr>
          <p:cNvPr id="3" name="Content Placeholder 2">
            <a:extLst>
              <a:ext uri="{FF2B5EF4-FFF2-40B4-BE49-F238E27FC236}">
                <a16:creationId xmlns:a16="http://schemas.microsoft.com/office/drawing/2014/main" id="{D296994F-1F1E-7589-AAD2-61C4E4E7AE0E}"/>
              </a:ext>
            </a:extLst>
          </p:cNvPr>
          <p:cNvSpPr>
            <a:spLocks noGrp="1"/>
          </p:cNvSpPr>
          <p:nvPr>
            <p:ph idx="1"/>
          </p:nvPr>
        </p:nvSpPr>
        <p:spPr>
          <a:xfrm>
            <a:off x="337226" y="1768526"/>
            <a:ext cx="11504578" cy="681105"/>
          </a:xfrm>
          <a:solidFill>
            <a:schemeClr val="tx1">
              <a:alpha val="70000"/>
            </a:schemeClr>
          </a:solidFill>
        </p:spPr>
        <p:txBody>
          <a:bodyPr>
            <a:normAutofit/>
          </a:bodyPr>
          <a:lstStyle/>
          <a:p>
            <a:r>
              <a:rPr lang="en-US" sz="2000" dirty="0">
                <a:solidFill>
                  <a:schemeClr val="bg1"/>
                </a:solidFill>
              </a:rPr>
              <a:t>OrbusInfinity published by Orbus software.</a:t>
            </a:r>
          </a:p>
          <a:p>
            <a:pPr lvl="1"/>
            <a:r>
              <a:rPr lang="en-US" sz="1800" dirty="0">
                <a:solidFill>
                  <a:schemeClr val="bg1"/>
                </a:solidFill>
              </a:rPr>
              <a:t>The tool that has the highest rating in the three main industries of finance, healthcare, and e-commerce.</a:t>
            </a:r>
          </a:p>
        </p:txBody>
      </p:sp>
      <p:graphicFrame>
        <p:nvGraphicFramePr>
          <p:cNvPr id="5" name="Content Placeholder 3">
            <a:extLst>
              <a:ext uri="{FF2B5EF4-FFF2-40B4-BE49-F238E27FC236}">
                <a16:creationId xmlns:a16="http://schemas.microsoft.com/office/drawing/2014/main" id="{7032DA0E-6A20-BC63-2616-20D4DEB9204F}"/>
              </a:ext>
            </a:extLst>
          </p:cNvPr>
          <p:cNvGraphicFramePr>
            <a:graphicFrameLocks/>
          </p:cNvGraphicFramePr>
          <p:nvPr>
            <p:extLst>
              <p:ext uri="{D42A27DB-BD31-4B8C-83A1-F6EECF244321}">
                <p14:modId xmlns:p14="http://schemas.microsoft.com/office/powerpoint/2010/main" val="3592663828"/>
              </p:ext>
            </p:extLst>
          </p:nvPr>
        </p:nvGraphicFramePr>
        <p:xfrm>
          <a:off x="337226" y="2480430"/>
          <a:ext cx="11504578" cy="4346771"/>
        </p:xfrm>
        <a:graphic>
          <a:graphicData uri="http://schemas.openxmlformats.org/drawingml/2006/table">
            <a:tbl>
              <a:tblPr firstRow="1" firstCol="1" bandRow="1">
                <a:tableStyleId>{1FECB4D8-DB02-4DC6-A0A2-4F2EBAE1DC90}</a:tableStyleId>
              </a:tblPr>
              <a:tblGrid>
                <a:gridCol w="1523657">
                  <a:extLst>
                    <a:ext uri="{9D8B030D-6E8A-4147-A177-3AD203B41FA5}">
                      <a16:colId xmlns:a16="http://schemas.microsoft.com/office/drawing/2014/main" val="2654728276"/>
                    </a:ext>
                  </a:extLst>
                </a:gridCol>
                <a:gridCol w="1986606">
                  <a:extLst>
                    <a:ext uri="{9D8B030D-6E8A-4147-A177-3AD203B41FA5}">
                      <a16:colId xmlns:a16="http://schemas.microsoft.com/office/drawing/2014/main" val="4048131941"/>
                    </a:ext>
                  </a:extLst>
                </a:gridCol>
                <a:gridCol w="6087531">
                  <a:extLst>
                    <a:ext uri="{9D8B030D-6E8A-4147-A177-3AD203B41FA5}">
                      <a16:colId xmlns:a16="http://schemas.microsoft.com/office/drawing/2014/main" val="8053256"/>
                    </a:ext>
                  </a:extLst>
                </a:gridCol>
                <a:gridCol w="1906784">
                  <a:extLst>
                    <a:ext uri="{9D8B030D-6E8A-4147-A177-3AD203B41FA5}">
                      <a16:colId xmlns:a16="http://schemas.microsoft.com/office/drawing/2014/main" val="1716763521"/>
                    </a:ext>
                  </a:extLst>
                </a:gridCol>
              </a:tblGrid>
              <a:tr h="311696">
                <a:tc>
                  <a:txBody>
                    <a:bodyPr/>
                    <a:lstStyle/>
                    <a:p>
                      <a:pPr marL="0" marR="0" algn="ctr">
                        <a:lnSpc>
                          <a:spcPct val="107000"/>
                        </a:lnSpc>
                        <a:spcAft>
                          <a:spcPts val="800"/>
                        </a:spcAft>
                        <a:buNone/>
                      </a:pPr>
                      <a:r>
                        <a:rPr lang="en-US" sz="2000" u="none" kern="100" dirty="0">
                          <a:effectLst/>
                        </a:rPr>
                        <a:t>Year </a:t>
                      </a:r>
                      <a:endParaRPr lang="en-US" sz="2000" u="none"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000" u="none" kern="100" dirty="0">
                          <a:effectLst/>
                        </a:rPr>
                        <a:t>Quarter</a:t>
                      </a:r>
                      <a:endParaRPr lang="en-US" sz="2000" u="none"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000" u="none" kern="100" dirty="0">
                          <a:effectLst/>
                          <a:latin typeface="Arial" panose="020B0604020202020204" pitchFamily="34" charset="0"/>
                          <a:ea typeface="Calibri" panose="020F0502020204030204" pitchFamily="34" charset="0"/>
                          <a:cs typeface="Times New Roman" panose="02020603050405020304" pitchFamily="18" charset="0"/>
                        </a:rPr>
                        <a:t>Summary</a:t>
                      </a:r>
                    </a:p>
                  </a:txBody>
                  <a:tcPr marL="68580" marR="68580" marT="0" marB="0"/>
                </a:tc>
                <a:tc>
                  <a:txBody>
                    <a:bodyPr/>
                    <a:lstStyle/>
                    <a:p>
                      <a:pPr marL="0" marR="0" algn="ctr">
                        <a:lnSpc>
                          <a:spcPct val="107000"/>
                        </a:lnSpc>
                        <a:spcAft>
                          <a:spcPts val="800"/>
                        </a:spcAft>
                        <a:buNone/>
                      </a:pPr>
                      <a:r>
                        <a:rPr lang="en-US" sz="2000" u="none" kern="100" dirty="0">
                          <a:effectLst/>
                        </a:rPr>
                        <a:t>Budget</a:t>
                      </a:r>
                      <a:endParaRPr lang="en-US" sz="2000" u="none"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5654362"/>
                  </a:ext>
                </a:extLst>
              </a:tr>
              <a:tr h="365651">
                <a:tc rowSpan="3">
                  <a:txBody>
                    <a:bodyPr/>
                    <a:lstStyle/>
                    <a:p>
                      <a:pPr marL="0" marR="0" algn="ctr">
                        <a:lnSpc>
                          <a:spcPct val="107000"/>
                        </a:lnSpc>
                        <a:spcAft>
                          <a:spcPts val="800"/>
                        </a:spcAft>
                        <a:buNone/>
                      </a:pPr>
                      <a:r>
                        <a:rPr lang="en-US" sz="2000" b="1" kern="100" dirty="0">
                          <a:effectLst/>
                        </a:rPr>
                        <a:t>One</a:t>
                      </a:r>
                      <a:endParaRPr lang="en-US" sz="20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80000"/>
                      </a:schemeClr>
                    </a:solidFill>
                  </a:tcPr>
                </a:tc>
                <a:tc>
                  <a:txBody>
                    <a:bodyPr/>
                    <a:lstStyle/>
                    <a:p>
                      <a:pPr marL="0" marR="0" algn="ctr">
                        <a:lnSpc>
                          <a:spcPct val="107000"/>
                        </a:lnSpc>
                        <a:spcAft>
                          <a:spcPts val="800"/>
                        </a:spcAft>
                        <a:buNone/>
                      </a:pPr>
                      <a:r>
                        <a:rPr lang="en-US" sz="2000" kern="100" dirty="0">
                          <a:effectLst/>
                          <a:latin typeface="Arial" panose="020B0604020202020204" pitchFamily="34" charset="0"/>
                          <a:ea typeface="Calibri" panose="020F0502020204030204" pitchFamily="34" charset="0"/>
                          <a:cs typeface="Times New Roman" panose="02020603050405020304" pitchFamily="18" charset="0"/>
                        </a:rPr>
                        <a:t>One</a:t>
                      </a:r>
                    </a:p>
                  </a:txBody>
                  <a:tcPr marL="68580" marR="68580" marT="0" marB="0">
                    <a:solidFill>
                      <a:schemeClr val="tx1">
                        <a:alpha val="80000"/>
                      </a:schemeClr>
                    </a:solidFill>
                  </a:tcPr>
                </a:tc>
                <a:tc>
                  <a:txBody>
                    <a:bodyPr/>
                    <a:lstStyle/>
                    <a:p>
                      <a:pPr marL="171450" marR="0" indent="-171450" algn="ctr">
                        <a:lnSpc>
                          <a:spcPct val="107000"/>
                        </a:lnSpc>
                        <a:spcAft>
                          <a:spcPts val="800"/>
                        </a:spcAft>
                        <a:buFont typeface="Arial" panose="020B0604020202020204" pitchFamily="34" charset="0"/>
                        <a:buChar char="•"/>
                      </a:pPr>
                      <a:r>
                        <a:rPr lang="en-US" sz="1400" kern="1200" dirty="0">
                          <a:solidFill>
                            <a:schemeClr val="dk1"/>
                          </a:solidFill>
                          <a:effectLst/>
                          <a:latin typeface="+mn-lt"/>
                          <a:ea typeface="+mn-ea"/>
                          <a:cs typeface="+mn-cs"/>
                        </a:rPr>
                        <a:t>Select enterprise team, train the team in TOGAF principles and OrbusInfinity.</a:t>
                      </a:r>
                      <a:endParaRPr lang="en-US" sz="12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rowSpan="3">
                  <a:txBody>
                    <a:bodyPr/>
                    <a:lstStyle/>
                    <a:p>
                      <a:pPr marL="0" marR="0" algn="ctr">
                        <a:lnSpc>
                          <a:spcPct val="107000"/>
                        </a:lnSpc>
                        <a:spcAft>
                          <a:spcPts val="800"/>
                        </a:spcAft>
                        <a:buNone/>
                      </a:pPr>
                      <a:r>
                        <a:rPr lang="en-US" sz="2000" kern="100" dirty="0">
                          <a:effectLst/>
                        </a:rPr>
                        <a:t>$250,000 – Software License</a:t>
                      </a:r>
                    </a:p>
                    <a:p>
                      <a:pPr marL="0" marR="0" algn="ctr">
                        <a:lnSpc>
                          <a:spcPct val="107000"/>
                        </a:lnSpc>
                        <a:spcAft>
                          <a:spcPts val="800"/>
                        </a:spcAft>
                        <a:buNone/>
                      </a:pPr>
                      <a:r>
                        <a:rPr lang="en-US" sz="2000" kern="100" dirty="0">
                          <a:effectLst/>
                          <a:latin typeface="Arial" panose="020B0604020202020204" pitchFamily="34" charset="0"/>
                          <a:ea typeface="Calibri" panose="020F0502020204030204" pitchFamily="34" charset="0"/>
                          <a:cs typeface="Times New Roman" panose="02020603050405020304" pitchFamily="18" charset="0"/>
                        </a:rPr>
                        <a:t>$500,000 for </a:t>
                      </a:r>
                      <a:r>
                        <a:rPr lang="en-US" sz="1800" kern="1200" dirty="0">
                          <a:solidFill>
                            <a:schemeClr val="dk1"/>
                          </a:solidFill>
                          <a:effectLst/>
                          <a:latin typeface="+mn-lt"/>
                          <a:ea typeface="+mn-ea"/>
                          <a:cs typeface="+mn-cs"/>
                        </a:rPr>
                        <a:t>updating legacy systems, data migration tasks, and training.</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extLst>
                  <a:ext uri="{0D108BD9-81ED-4DB2-BD59-A6C34878D82A}">
                    <a16:rowId xmlns:a16="http://schemas.microsoft.com/office/drawing/2014/main" val="4285563857"/>
                  </a:ext>
                </a:extLst>
              </a:tr>
              <a:tr h="862163">
                <a:tc vMerge="1">
                  <a:txBody>
                    <a:bodyPr/>
                    <a:lstStyle/>
                    <a:p>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latin typeface="Arial" panose="020B0604020202020204" pitchFamily="34" charset="0"/>
                          <a:ea typeface="Calibri" panose="020F0502020204030204" pitchFamily="34" charset="0"/>
                          <a:cs typeface="Times New Roman" panose="02020603050405020304" pitchFamily="18" charset="0"/>
                        </a:rPr>
                        <a:t>Two and Three</a:t>
                      </a:r>
                    </a:p>
                  </a:txBody>
                  <a:tcPr marL="68580" marR="68580" marT="0" marB="0">
                    <a:solidFill>
                      <a:schemeClr val="tx1">
                        <a:alpha val="80000"/>
                      </a:schemeClr>
                    </a:solidFill>
                  </a:tcPr>
                </a:tc>
                <a:tc>
                  <a:txBody>
                    <a:bodyPr/>
                    <a:lstStyle/>
                    <a:p>
                      <a:pPr marL="285750" marR="0" indent="-285750" algn="ctr">
                        <a:lnSpc>
                          <a:spcPct val="107000"/>
                        </a:lnSpc>
                        <a:spcAft>
                          <a:spcPts val="800"/>
                        </a:spcAft>
                        <a:buFont typeface="Arial" panose="020B0604020202020204" pitchFamily="34" charset="0"/>
                        <a:buChar char="•"/>
                      </a:pPr>
                      <a:r>
                        <a:rPr lang="en-US" sz="1400" kern="100" dirty="0">
                          <a:effectLst/>
                          <a:latin typeface="Arial" panose="020B0604020202020204" pitchFamily="34" charset="0"/>
                          <a:ea typeface="Calibri" panose="020F0502020204030204" pitchFamily="34" charset="0"/>
                          <a:cs typeface="Times New Roman" panose="02020603050405020304" pitchFamily="18" charset="0"/>
                        </a:rPr>
                        <a:t>TOGAF phases A-E perform an audit of existing technology to highlight redundancy and legacy systems that need to be updated</a:t>
                      </a:r>
                    </a:p>
                    <a:p>
                      <a:pPr marL="285750" marR="0" indent="-285750" algn="ctr">
                        <a:lnSpc>
                          <a:spcPct val="107000"/>
                        </a:lnSpc>
                        <a:spcAft>
                          <a:spcPts val="800"/>
                        </a:spcAft>
                        <a:buFont typeface="Arial" panose="020B0604020202020204" pitchFamily="34" charset="0"/>
                        <a:buChar char="•"/>
                      </a:pPr>
                      <a:r>
                        <a:rPr lang="en-US" sz="1400" kern="100" dirty="0">
                          <a:effectLst/>
                          <a:latin typeface="Arial" panose="020B0604020202020204" pitchFamily="34" charset="0"/>
                          <a:ea typeface="Calibri" panose="020F0502020204030204" pitchFamily="34" charset="0"/>
                          <a:cs typeface="Times New Roman" panose="02020603050405020304" pitchFamily="18" charset="0"/>
                        </a:rPr>
                        <a:t>Prioritize critical systems using the market research that was provided along with the business goals. </a:t>
                      </a:r>
                    </a:p>
                    <a:p>
                      <a:pPr marL="285750" marR="0" indent="-285750" algn="ctr">
                        <a:lnSpc>
                          <a:spcPct val="107000"/>
                        </a:lnSpc>
                        <a:spcAft>
                          <a:spcPts val="800"/>
                        </a:spcAft>
                        <a:buFont typeface="Arial" panose="020B0604020202020204" pitchFamily="34" charset="0"/>
                        <a:buChar char="•"/>
                      </a:pPr>
                      <a:r>
                        <a:rPr lang="en-US" sz="1400" kern="100" dirty="0">
                          <a:effectLst/>
                          <a:latin typeface="Arial" panose="020B0604020202020204" pitchFamily="34" charset="0"/>
                          <a:ea typeface="Calibri" panose="020F0502020204030204" pitchFamily="34" charset="0"/>
                          <a:cs typeface="Times New Roman" panose="02020603050405020304" pitchFamily="18" charset="0"/>
                        </a:rPr>
                        <a:t>Look for cost savings by consolidating data under one or two different vendors, while still maintaining data integrity and security where it is needed. </a:t>
                      </a:r>
                    </a:p>
                    <a:p>
                      <a:pPr marL="285750" marR="0" indent="-285750" algn="ctr">
                        <a:lnSpc>
                          <a:spcPct val="107000"/>
                        </a:lnSpc>
                        <a:spcAft>
                          <a:spcPts val="800"/>
                        </a:spcAft>
                        <a:buFont typeface="Arial" panose="020B0604020202020204" pitchFamily="34" charset="0"/>
                        <a:buChar char="•"/>
                      </a:pPr>
                      <a:r>
                        <a:rPr lang="en-US" sz="1400" kern="100" dirty="0">
                          <a:effectLst/>
                          <a:latin typeface="Arial" panose="020B0604020202020204" pitchFamily="34" charset="0"/>
                          <a:ea typeface="Calibri" panose="020F0502020204030204" pitchFamily="34" charset="0"/>
                          <a:cs typeface="Times New Roman" panose="02020603050405020304" pitchFamily="18" charset="0"/>
                        </a:rPr>
                        <a:t>Begin the pilot phase of updating and integration of new systems.</a:t>
                      </a:r>
                    </a:p>
                  </a:txBody>
                  <a:tcPr marL="68580" marR="68580" marT="0" marB="0">
                    <a:solidFill>
                      <a:schemeClr val="tx1">
                        <a:alpha val="80000"/>
                      </a:schemeClr>
                    </a:solidFill>
                  </a:tcPr>
                </a:tc>
                <a:tc vMerge="1">
                  <a:txBody>
                    <a:bodyPr/>
                    <a:lstStyle/>
                    <a:p>
                      <a:endParaRPr/>
                    </a:p>
                  </a:txBody>
                  <a:tcPr marL="68580" marR="68580" marT="0" marB="0">
                    <a:solidFill>
                      <a:schemeClr val="tx1">
                        <a:alpha val="80000"/>
                      </a:schemeClr>
                    </a:solidFill>
                  </a:tcPr>
                </a:tc>
                <a:extLst>
                  <a:ext uri="{0D108BD9-81ED-4DB2-BD59-A6C34878D82A}">
                    <a16:rowId xmlns:a16="http://schemas.microsoft.com/office/drawing/2014/main" val="131778246"/>
                  </a:ext>
                </a:extLst>
              </a:tr>
              <a:tr h="521573">
                <a:tc vMerge="1">
                  <a:txBody>
                    <a:bodyPr/>
                    <a:lstStyle/>
                    <a:p>
                      <a:endParaRPr dirty="0"/>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Four</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285750" marR="0" indent="-285750" algn="ctr">
                        <a:lnSpc>
                          <a:spcPct val="107000"/>
                        </a:lnSpc>
                        <a:spcAft>
                          <a:spcPts val="800"/>
                        </a:spcAft>
                        <a:buFont typeface="Arial" panose="020B0604020202020204" pitchFamily="34" charset="0"/>
                        <a:buChar char="•"/>
                      </a:pPr>
                      <a:r>
                        <a:rPr lang="en-US" sz="1400" kern="1200" dirty="0">
                          <a:solidFill>
                            <a:schemeClr val="dk1"/>
                          </a:solidFill>
                          <a:effectLst/>
                          <a:latin typeface="+mn-lt"/>
                          <a:ea typeface="+mn-ea"/>
                          <a:cs typeface="+mn-cs"/>
                        </a:rPr>
                        <a:t>Continue to perform data migration tasks and more labor-intensive system updates first with the extended budget.</a:t>
                      </a:r>
                      <a:endParaRPr lang="en-US" sz="12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vMerge="1">
                  <a:txBody>
                    <a:bodyPr/>
                    <a:lstStyle/>
                    <a:p>
                      <a:endParaRPr dirty="0"/>
                    </a:p>
                  </a:txBody>
                  <a:tcPr marL="68580" marR="68580" marT="0" marB="0">
                    <a:solidFill>
                      <a:schemeClr val="tx1">
                        <a:alpha val="80000"/>
                      </a:schemeClr>
                    </a:solidFill>
                  </a:tcPr>
                </a:tc>
                <a:extLst>
                  <a:ext uri="{0D108BD9-81ED-4DB2-BD59-A6C34878D82A}">
                    <a16:rowId xmlns:a16="http://schemas.microsoft.com/office/drawing/2014/main" val="3170432505"/>
                  </a:ext>
                </a:extLst>
              </a:tr>
              <a:tr h="951695">
                <a:tc>
                  <a:txBody>
                    <a:bodyPr/>
                    <a:lstStyle/>
                    <a:p>
                      <a:pPr marL="0" marR="0" algn="ctr">
                        <a:lnSpc>
                          <a:spcPct val="107000"/>
                        </a:lnSpc>
                        <a:spcAft>
                          <a:spcPts val="800"/>
                        </a:spcAft>
                        <a:buNone/>
                      </a:pPr>
                      <a:r>
                        <a:rPr lang="en-US" sz="2000" b="1" kern="100" dirty="0">
                          <a:effectLst/>
                        </a:rPr>
                        <a:t>Two</a:t>
                      </a:r>
                      <a:endParaRPr lang="en-US" sz="20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latin typeface="Arial" panose="020B0604020202020204" pitchFamily="34" charset="0"/>
                          <a:ea typeface="Calibri" panose="020F0502020204030204" pitchFamily="34" charset="0"/>
                          <a:cs typeface="Times New Roman" panose="02020603050405020304" pitchFamily="18" charset="0"/>
                        </a:rPr>
                        <a:t>N/A</a:t>
                      </a:r>
                    </a:p>
                  </a:txBody>
                  <a:tcPr marL="68580" marR="68580" marT="0" marB="0">
                    <a:solidFill>
                      <a:schemeClr val="tx1">
                        <a:alpha val="80000"/>
                      </a:schemeClr>
                    </a:solidFill>
                  </a:tcPr>
                </a:tc>
                <a:tc>
                  <a:txBody>
                    <a:bodyPr/>
                    <a:lstStyle/>
                    <a:p>
                      <a:pPr marL="285750" marR="0" indent="-285750" algn="ctr">
                        <a:lnSpc>
                          <a:spcPct val="107000"/>
                        </a:lnSpc>
                        <a:spcAft>
                          <a:spcPts val="800"/>
                        </a:spcAft>
                        <a:buFont typeface="Arial" panose="020B0604020202020204" pitchFamily="34" charset="0"/>
                        <a:buChar char="•"/>
                      </a:pPr>
                      <a:r>
                        <a:rPr lang="en-US" sz="1400" kern="100" dirty="0">
                          <a:effectLst/>
                          <a:latin typeface="Arial" panose="020B0604020202020204" pitchFamily="34" charset="0"/>
                          <a:ea typeface="Calibri" panose="020F0502020204030204" pitchFamily="34" charset="0"/>
                          <a:cs typeface="Times New Roman" panose="02020603050405020304" pitchFamily="18" charset="0"/>
                        </a:rPr>
                        <a:t>Continue to migrate and integrate new technologies as able by budget constraints.</a:t>
                      </a: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$100,000 /yr</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extLst>
                  <a:ext uri="{0D108BD9-81ED-4DB2-BD59-A6C34878D82A}">
                    <a16:rowId xmlns:a16="http://schemas.microsoft.com/office/drawing/2014/main" val="1123177799"/>
                  </a:ext>
                </a:extLst>
              </a:tr>
            </a:tbl>
          </a:graphicData>
        </a:graphic>
      </p:graphicFrame>
    </p:spTree>
    <p:extLst>
      <p:ext uri="{BB962C8B-B14F-4D97-AF65-F5344CB8AC3E}">
        <p14:creationId xmlns:p14="http://schemas.microsoft.com/office/powerpoint/2010/main" val="2924292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37550CBA-4B60-D2FD-B938-AAADD00C635C}"/>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D19C1B8E-FE85-46EE-083D-5D93D312D096}"/>
              </a:ext>
            </a:extLst>
          </p:cNvPr>
          <p:cNvSpPr>
            <a:spLocks noGrp="1"/>
          </p:cNvSpPr>
          <p:nvPr>
            <p:ph type="title"/>
          </p:nvPr>
        </p:nvSpPr>
        <p:spPr>
          <a:xfrm>
            <a:off x="831850" y="3429000"/>
            <a:ext cx="10515600" cy="1133475"/>
          </a:xfrm>
          <a:solidFill>
            <a:schemeClr val="tx1">
              <a:alpha val="70000"/>
            </a:schemeClr>
          </a:solidFill>
        </p:spPr>
        <p:txBody>
          <a:bodyPr/>
          <a:lstStyle/>
          <a:p>
            <a:pPr algn="ctr"/>
            <a:r>
              <a:rPr lang="en-US" dirty="0">
                <a:solidFill>
                  <a:sysClr val="windowText" lastClr="000000"/>
                </a:solidFill>
              </a:rPr>
              <a:t>Predictive Modeling</a:t>
            </a:r>
          </a:p>
        </p:txBody>
      </p:sp>
      <p:sp>
        <p:nvSpPr>
          <p:cNvPr id="3" name="Text Placeholder 2">
            <a:extLst>
              <a:ext uri="{FF2B5EF4-FFF2-40B4-BE49-F238E27FC236}">
                <a16:creationId xmlns:a16="http://schemas.microsoft.com/office/drawing/2014/main" id="{7EC374B8-672A-FD55-18F5-0968F13FE6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79058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bstract particle graph background">
            <a:extLst>
              <a:ext uri="{FF2B5EF4-FFF2-40B4-BE49-F238E27FC236}">
                <a16:creationId xmlns:a16="http://schemas.microsoft.com/office/drawing/2014/main" id="{345C87FD-FEBF-1C18-4224-35384E690466}"/>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ACA40B57-641C-58A8-D119-9695C8297EBD}"/>
              </a:ext>
            </a:extLst>
          </p:cNvPr>
          <p:cNvSpPr>
            <a:spLocks noGrp="1"/>
          </p:cNvSpPr>
          <p:nvPr>
            <p:ph type="title"/>
          </p:nvPr>
        </p:nvSpPr>
        <p:spPr/>
        <p:txBody>
          <a:bodyPr/>
          <a:lstStyle/>
          <a:p>
            <a:r>
              <a:rPr lang="en-US" dirty="0"/>
              <a:t>Predictive Modeling Integration</a:t>
            </a:r>
          </a:p>
        </p:txBody>
      </p:sp>
      <p:graphicFrame>
        <p:nvGraphicFramePr>
          <p:cNvPr id="4" name="Content Placeholder 3">
            <a:extLst>
              <a:ext uri="{FF2B5EF4-FFF2-40B4-BE49-F238E27FC236}">
                <a16:creationId xmlns:a16="http://schemas.microsoft.com/office/drawing/2014/main" id="{3C702B8A-273C-635D-CEED-5235EA6C3D3A}"/>
              </a:ext>
            </a:extLst>
          </p:cNvPr>
          <p:cNvGraphicFramePr>
            <a:graphicFrameLocks noGrp="1"/>
          </p:cNvGraphicFramePr>
          <p:nvPr>
            <p:ph idx="1"/>
            <p:extLst>
              <p:ext uri="{D42A27DB-BD31-4B8C-83A1-F6EECF244321}">
                <p14:modId xmlns:p14="http://schemas.microsoft.com/office/powerpoint/2010/main" val="63466745"/>
              </p:ext>
            </p:extLst>
          </p:nvPr>
        </p:nvGraphicFramePr>
        <p:xfrm>
          <a:off x="6398422" y="1703856"/>
          <a:ext cx="5257800" cy="438473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0BD9EED5-381F-2397-E11C-8269C573B0DA}"/>
              </a:ext>
            </a:extLst>
          </p:cNvPr>
          <p:cNvSpPr txBox="1"/>
          <p:nvPr/>
        </p:nvSpPr>
        <p:spPr>
          <a:xfrm>
            <a:off x="303946" y="1953268"/>
            <a:ext cx="6094476" cy="3816429"/>
          </a:xfrm>
          <a:prstGeom prst="rect">
            <a:avLst/>
          </a:prstGeom>
          <a:solidFill>
            <a:schemeClr val="tx1">
              <a:lumMod val="95000"/>
              <a:alpha val="70000"/>
            </a:schemeClr>
          </a:solidFill>
        </p:spPr>
        <p:txBody>
          <a:bodyPr wrap="square">
            <a:spAutoFit/>
          </a:bodyPr>
          <a:lstStyle/>
          <a:p>
            <a:pPr algn="ctr"/>
            <a:r>
              <a:rPr lang="en-US" b="1"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Three Parts for Comprehensive Coverage</a:t>
            </a:r>
          </a:p>
          <a:p>
            <a:pPr marL="285750" indent="-285750">
              <a:buFont typeface="Arial" panose="020B0604020202020204" pitchFamily="34" charset="0"/>
              <a:buChar char="•"/>
            </a:pP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A</a:t>
            </a:r>
            <a:r>
              <a:rPr lang="en-US" sz="18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nomaly </a:t>
            </a: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D</a:t>
            </a:r>
            <a:r>
              <a:rPr lang="en-US" sz="18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etection </a:t>
            </a: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P</a:t>
            </a:r>
            <a:r>
              <a:rPr lang="en-US" sz="18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redictive </a:t>
            </a: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M</a:t>
            </a:r>
            <a:r>
              <a:rPr lang="en-US" sz="18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odel (Machine Learning)</a:t>
            </a:r>
          </a:p>
          <a:p>
            <a:pPr marL="742950" lvl="1" indent="-285750">
              <a:buFont typeface="Arial" panose="020B0604020202020204" pitchFamily="34" charset="0"/>
              <a:buChar char="•"/>
            </a:pPr>
            <a:r>
              <a:rPr lang="en-US" sz="14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U</a:t>
            </a: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sed for cybersecurity, failure detection and other bottlenecks within the multi-cloud infrastructure.</a:t>
            </a:r>
          </a:p>
          <a:p>
            <a:pPr marL="285750" indent="-285750">
              <a:buFont typeface="Arial" panose="020B0604020202020204" pitchFamily="34" charset="0"/>
              <a:buChar char="•"/>
            </a:pP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T</a:t>
            </a:r>
            <a:r>
              <a:rPr lang="en-US"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ime Series </a:t>
            </a: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F</a:t>
            </a:r>
            <a:r>
              <a:rPr lang="en-US"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orecasting </a:t>
            </a: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P</a:t>
            </a:r>
            <a:r>
              <a:rPr lang="en-US"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redictive </a:t>
            </a:r>
            <a:r>
              <a:rPr lang="en-US"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M</a:t>
            </a:r>
            <a:r>
              <a:rPr lang="en-US"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odel</a:t>
            </a:r>
          </a:p>
          <a:p>
            <a:pPr marL="742950" lvl="1" indent="-285750">
              <a:buFont typeface="Arial" panose="020B0604020202020204" pitchFamily="34" charset="0"/>
              <a:buChar char="•"/>
            </a:pPr>
            <a:r>
              <a:rPr lang="en-US" sz="14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U</a:t>
            </a: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sed for predicting seasonal market patterns for AlphaCorp’s e-commerce and fintech business units and to predict demand for infrastructure resources (automatic scaling) and if additional network bandwidth is needed.</a:t>
            </a:r>
          </a:p>
          <a:p>
            <a:pPr marL="285750" indent="-285750">
              <a:buFont typeface="Arial" panose="020B0604020202020204" pitchFamily="34" charset="0"/>
              <a:buChar char="•"/>
            </a:pPr>
            <a:r>
              <a:rPr lang="en-US" sz="16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Model Predictive Control Framework </a:t>
            </a:r>
          </a:p>
          <a:p>
            <a:pPr marL="742950" lvl="1" indent="-285750">
              <a:buFont typeface="Arial" panose="020B0604020202020204" pitchFamily="34" charset="0"/>
              <a:buChar char="•"/>
            </a:pPr>
            <a:r>
              <a:rPr lang="en-US" sz="14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Allows P</a:t>
            </a: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redictive models to work continuously and update themselves based on previous predictions they have made.</a:t>
            </a:r>
          </a:p>
          <a:p>
            <a:pPr marL="742950" lvl="1" indent="-285750">
              <a:buFont typeface="Arial" panose="020B0604020202020204" pitchFamily="34" charset="0"/>
              <a:buChar char="•"/>
            </a:pPr>
            <a:r>
              <a:rPr lang="en-US" sz="14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C</a:t>
            </a: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reates a feedback loop that is always improving the accuracy of the predictions.</a:t>
            </a:r>
          </a:p>
          <a:p>
            <a:pPr marL="742950" lvl="1" indent="-285750">
              <a:buFont typeface="Arial" panose="020B0604020202020204" pitchFamily="34" charset="0"/>
              <a:buChar char="•"/>
            </a:pPr>
            <a:r>
              <a:rPr lang="en-US" sz="14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I</a:t>
            </a: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ncreases the efficiency of resource allocation.</a:t>
            </a:r>
            <a:endParaRPr lang="en-US" sz="1600" dirty="0">
              <a:solidFill>
                <a:schemeClr val="bg1"/>
              </a:solidFill>
            </a:endParaRPr>
          </a:p>
        </p:txBody>
      </p:sp>
    </p:spTree>
    <p:extLst>
      <p:ext uri="{BB962C8B-B14F-4D97-AF65-F5344CB8AC3E}">
        <p14:creationId xmlns:p14="http://schemas.microsoft.com/office/powerpoint/2010/main" val="4133937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bstract particle graph background">
            <a:extLst>
              <a:ext uri="{FF2B5EF4-FFF2-40B4-BE49-F238E27FC236}">
                <a16:creationId xmlns:a16="http://schemas.microsoft.com/office/drawing/2014/main" id="{29205C95-2920-B49D-9317-CFF13C54D045}"/>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33406"/>
            <a:ext cx="12191980" cy="6857990"/>
          </a:xfrm>
          <a:prstGeom prst="rect">
            <a:avLst/>
          </a:prstGeom>
          <a:solidFill>
            <a:schemeClr val="tx1"/>
          </a:solidFill>
        </p:spPr>
      </p:pic>
      <p:sp>
        <p:nvSpPr>
          <p:cNvPr id="2" name="Title 1">
            <a:extLst>
              <a:ext uri="{FF2B5EF4-FFF2-40B4-BE49-F238E27FC236}">
                <a16:creationId xmlns:a16="http://schemas.microsoft.com/office/drawing/2014/main" id="{2AF5ED1D-FD3D-F9A6-FE30-CBC38F5B444B}"/>
              </a:ext>
            </a:extLst>
          </p:cNvPr>
          <p:cNvSpPr>
            <a:spLocks noGrp="1"/>
          </p:cNvSpPr>
          <p:nvPr>
            <p:ph type="title"/>
          </p:nvPr>
        </p:nvSpPr>
        <p:spPr/>
        <p:txBody>
          <a:bodyPr/>
          <a:lstStyle/>
          <a:p>
            <a:r>
              <a:rPr lang="en-US" dirty="0"/>
              <a:t>Implementation</a:t>
            </a:r>
          </a:p>
        </p:txBody>
      </p:sp>
      <p:graphicFrame>
        <p:nvGraphicFramePr>
          <p:cNvPr id="4" name="Content Placeholder 3">
            <a:extLst>
              <a:ext uri="{FF2B5EF4-FFF2-40B4-BE49-F238E27FC236}">
                <a16:creationId xmlns:a16="http://schemas.microsoft.com/office/drawing/2014/main" id="{44736CF4-CDCA-0559-13F6-435AE1586C86}"/>
              </a:ext>
            </a:extLst>
          </p:cNvPr>
          <p:cNvGraphicFramePr>
            <a:graphicFrameLocks noGrp="1"/>
          </p:cNvGraphicFramePr>
          <p:nvPr>
            <p:ph idx="1"/>
            <p:extLst>
              <p:ext uri="{D42A27DB-BD31-4B8C-83A1-F6EECF244321}">
                <p14:modId xmlns:p14="http://schemas.microsoft.com/office/powerpoint/2010/main" val="1032954635"/>
              </p:ext>
            </p:extLst>
          </p:nvPr>
        </p:nvGraphicFramePr>
        <p:xfrm>
          <a:off x="337226" y="1690688"/>
          <a:ext cx="11504578" cy="5200708"/>
        </p:xfrm>
        <a:graphic>
          <a:graphicData uri="http://schemas.openxmlformats.org/drawingml/2006/table">
            <a:tbl>
              <a:tblPr firstRow="1" firstCol="1" bandRow="1">
                <a:tableStyleId>{1FECB4D8-DB02-4DC6-A0A2-4F2EBAE1DC90}</a:tableStyleId>
              </a:tblPr>
              <a:tblGrid>
                <a:gridCol w="1523657">
                  <a:extLst>
                    <a:ext uri="{9D8B030D-6E8A-4147-A177-3AD203B41FA5}">
                      <a16:colId xmlns:a16="http://schemas.microsoft.com/office/drawing/2014/main" val="2654728276"/>
                    </a:ext>
                  </a:extLst>
                </a:gridCol>
                <a:gridCol w="1986606">
                  <a:extLst>
                    <a:ext uri="{9D8B030D-6E8A-4147-A177-3AD203B41FA5}">
                      <a16:colId xmlns:a16="http://schemas.microsoft.com/office/drawing/2014/main" val="4048131941"/>
                    </a:ext>
                  </a:extLst>
                </a:gridCol>
                <a:gridCol w="6087531">
                  <a:extLst>
                    <a:ext uri="{9D8B030D-6E8A-4147-A177-3AD203B41FA5}">
                      <a16:colId xmlns:a16="http://schemas.microsoft.com/office/drawing/2014/main" val="8053256"/>
                    </a:ext>
                  </a:extLst>
                </a:gridCol>
                <a:gridCol w="1906784">
                  <a:extLst>
                    <a:ext uri="{9D8B030D-6E8A-4147-A177-3AD203B41FA5}">
                      <a16:colId xmlns:a16="http://schemas.microsoft.com/office/drawing/2014/main" val="1716763521"/>
                    </a:ext>
                  </a:extLst>
                </a:gridCol>
              </a:tblGrid>
              <a:tr h="421062">
                <a:tc>
                  <a:txBody>
                    <a:bodyPr/>
                    <a:lstStyle/>
                    <a:p>
                      <a:pPr marL="0" marR="0" algn="ctr">
                        <a:lnSpc>
                          <a:spcPct val="107000"/>
                        </a:lnSpc>
                        <a:spcAft>
                          <a:spcPts val="800"/>
                        </a:spcAft>
                        <a:buNone/>
                      </a:pPr>
                      <a:r>
                        <a:rPr lang="en-US" sz="2000" u="none" kern="100" dirty="0">
                          <a:effectLst/>
                        </a:rPr>
                        <a:t>Phase </a:t>
                      </a:r>
                      <a:endParaRPr lang="en-US" sz="2000" u="none"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000" u="none" kern="100" dirty="0">
                          <a:effectLst/>
                        </a:rPr>
                        <a:t>Timeframe</a:t>
                      </a:r>
                      <a:endParaRPr lang="en-US" sz="2000" u="none"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000" u="none" kern="100" dirty="0">
                          <a:effectLst/>
                          <a:latin typeface="Arial" panose="020B0604020202020204" pitchFamily="34" charset="0"/>
                          <a:ea typeface="Calibri" panose="020F0502020204030204" pitchFamily="34" charset="0"/>
                          <a:cs typeface="Times New Roman" panose="02020603050405020304" pitchFamily="18" charset="0"/>
                        </a:rPr>
                        <a:t>Summary</a:t>
                      </a:r>
                    </a:p>
                  </a:txBody>
                  <a:tcPr marL="68580" marR="68580" marT="0" marB="0"/>
                </a:tc>
                <a:tc>
                  <a:txBody>
                    <a:bodyPr/>
                    <a:lstStyle/>
                    <a:p>
                      <a:pPr marL="0" marR="0" algn="ctr">
                        <a:lnSpc>
                          <a:spcPct val="107000"/>
                        </a:lnSpc>
                        <a:spcAft>
                          <a:spcPts val="800"/>
                        </a:spcAft>
                        <a:buNone/>
                      </a:pPr>
                      <a:r>
                        <a:rPr lang="en-US" sz="2000" u="none" kern="100" dirty="0">
                          <a:effectLst/>
                        </a:rPr>
                        <a:t>Budget</a:t>
                      </a:r>
                      <a:endParaRPr lang="en-US" sz="2000" u="none"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5654362"/>
                  </a:ext>
                </a:extLst>
              </a:tr>
              <a:tr h="1164675">
                <a:tc>
                  <a:txBody>
                    <a:bodyPr/>
                    <a:lstStyle/>
                    <a:p>
                      <a:pPr marL="0" marR="0" algn="ctr">
                        <a:lnSpc>
                          <a:spcPct val="107000"/>
                        </a:lnSpc>
                        <a:spcAft>
                          <a:spcPts val="800"/>
                        </a:spcAft>
                        <a:buNone/>
                      </a:pPr>
                      <a:r>
                        <a:rPr lang="en-US" sz="2000" b="1" kern="100" dirty="0">
                          <a:effectLst/>
                        </a:rPr>
                        <a:t>Phase 1</a:t>
                      </a:r>
                      <a:endParaRPr lang="en-US" sz="20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Two months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1600" kern="100" dirty="0">
                          <a:effectLst/>
                          <a:latin typeface="Arial" panose="020B0604020202020204" pitchFamily="34" charset="0"/>
                          <a:ea typeface="Calibri" panose="020F0502020204030204" pitchFamily="34" charset="0"/>
                          <a:cs typeface="Times New Roman" panose="02020603050405020304" pitchFamily="18" charset="0"/>
                        </a:rPr>
                        <a:t>The first phase will be for planning the project as well as ensuring the quality of the existing data. There will be the consolidation of existing data, cleaning of existing data, and collaboration across departments with key stakeholders.</a:t>
                      </a: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$25,000</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extLst>
                  <a:ext uri="{0D108BD9-81ED-4DB2-BD59-A6C34878D82A}">
                    <a16:rowId xmlns:a16="http://schemas.microsoft.com/office/drawing/2014/main" val="4285563857"/>
                  </a:ext>
                </a:extLst>
              </a:tr>
              <a:tr h="1164675">
                <a:tc>
                  <a:txBody>
                    <a:bodyPr/>
                    <a:lstStyle/>
                    <a:p>
                      <a:pPr marL="0" marR="0" algn="ctr">
                        <a:lnSpc>
                          <a:spcPct val="107000"/>
                        </a:lnSpc>
                        <a:spcAft>
                          <a:spcPts val="800"/>
                        </a:spcAft>
                        <a:buNone/>
                      </a:pPr>
                      <a:r>
                        <a:rPr lang="en-US" sz="2000" b="1" kern="100" dirty="0">
                          <a:effectLst/>
                        </a:rPr>
                        <a:t>Phase 2</a:t>
                      </a:r>
                      <a:endParaRPr lang="en-US" sz="20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Four months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1600" kern="100" dirty="0">
                          <a:effectLst/>
                          <a:latin typeface="Arial" panose="020B0604020202020204" pitchFamily="34" charset="0"/>
                          <a:ea typeface="Calibri" panose="020F0502020204030204" pitchFamily="34" charset="0"/>
                          <a:cs typeface="Times New Roman" panose="02020603050405020304" pitchFamily="18" charset="0"/>
                        </a:rPr>
                        <a:t>The second phase is where some models will be implemented in a piloted approach. The recommendation is that at least one time series and one anomaly model get deployed in this phase. </a:t>
                      </a: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$75,000</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extLst>
                  <a:ext uri="{0D108BD9-81ED-4DB2-BD59-A6C34878D82A}">
                    <a16:rowId xmlns:a16="http://schemas.microsoft.com/office/drawing/2014/main" val="131778246"/>
                  </a:ext>
                </a:extLst>
              </a:tr>
              <a:tr h="1164675">
                <a:tc>
                  <a:txBody>
                    <a:bodyPr/>
                    <a:lstStyle/>
                    <a:p>
                      <a:pPr marL="0" marR="0" algn="ctr">
                        <a:lnSpc>
                          <a:spcPct val="107000"/>
                        </a:lnSpc>
                        <a:spcAft>
                          <a:spcPts val="800"/>
                        </a:spcAft>
                        <a:buNone/>
                      </a:pPr>
                      <a:r>
                        <a:rPr lang="en-US" sz="2000" b="1" kern="100" dirty="0">
                          <a:effectLst/>
                        </a:rPr>
                        <a:t>Phase 3</a:t>
                      </a:r>
                      <a:endParaRPr lang="en-US" sz="20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Four months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1600" kern="100" dirty="0">
                          <a:effectLst/>
                          <a:latin typeface="Arial" panose="020B0604020202020204" pitchFamily="34" charset="0"/>
                          <a:ea typeface="Calibri" panose="020F0502020204030204" pitchFamily="34" charset="0"/>
                          <a:cs typeface="Times New Roman" panose="02020603050405020304" pitchFamily="18" charset="0"/>
                        </a:rPr>
                        <a:t>The third phase is where AlphaCorp scales up their predictive models and begins to implement them into the model predictive control framework. Development of automation and automation policies and guidelines also occurs at this time.</a:t>
                      </a: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$75,000</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extLst>
                  <a:ext uri="{0D108BD9-81ED-4DB2-BD59-A6C34878D82A}">
                    <a16:rowId xmlns:a16="http://schemas.microsoft.com/office/drawing/2014/main" val="3170432505"/>
                  </a:ext>
                </a:extLst>
              </a:tr>
              <a:tr h="1164675">
                <a:tc>
                  <a:txBody>
                    <a:bodyPr/>
                    <a:lstStyle/>
                    <a:p>
                      <a:pPr marL="0" marR="0" algn="ctr">
                        <a:lnSpc>
                          <a:spcPct val="107000"/>
                        </a:lnSpc>
                        <a:spcAft>
                          <a:spcPts val="800"/>
                        </a:spcAft>
                        <a:buNone/>
                      </a:pPr>
                      <a:r>
                        <a:rPr lang="en-US" sz="2000" b="1" kern="100" dirty="0">
                          <a:effectLst/>
                        </a:rPr>
                        <a:t>Phase 4</a:t>
                      </a:r>
                      <a:endParaRPr lang="en-US" sz="20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Two months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1600" kern="100" dirty="0">
                          <a:effectLst/>
                          <a:latin typeface="Arial" panose="020B0604020202020204" pitchFamily="34" charset="0"/>
                          <a:ea typeface="Calibri" panose="020F0502020204030204" pitchFamily="34" charset="0"/>
                          <a:cs typeface="Times New Roman" panose="02020603050405020304" pitchFamily="18" charset="0"/>
                        </a:rPr>
                        <a:t>The fourth and final phase is where the continuous monitoring for modeling drift happens. Predictive models can drift away from accurate predictions as business conditions change over time. AlphaCorp should create a process for retraining their models to ensure that they stay accurate over time.</a:t>
                      </a:r>
                    </a:p>
                  </a:txBody>
                  <a:tcPr marL="68580" marR="68580" marT="0" marB="0">
                    <a:solidFill>
                      <a:schemeClr val="tx1">
                        <a:alpha val="80000"/>
                      </a:schemeClr>
                    </a:solidFill>
                  </a:tcPr>
                </a:tc>
                <a:tc>
                  <a:txBody>
                    <a:bodyPr/>
                    <a:lstStyle/>
                    <a:p>
                      <a:pPr marL="0" marR="0" algn="ctr">
                        <a:lnSpc>
                          <a:spcPct val="107000"/>
                        </a:lnSpc>
                        <a:spcAft>
                          <a:spcPts val="800"/>
                        </a:spcAft>
                        <a:buNone/>
                      </a:pPr>
                      <a:r>
                        <a:rPr lang="en-US" sz="2000" kern="100" dirty="0">
                          <a:effectLst/>
                        </a:rPr>
                        <a:t>$25,000</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80000"/>
                      </a:schemeClr>
                    </a:solidFill>
                  </a:tcPr>
                </a:tc>
                <a:extLst>
                  <a:ext uri="{0D108BD9-81ED-4DB2-BD59-A6C34878D82A}">
                    <a16:rowId xmlns:a16="http://schemas.microsoft.com/office/drawing/2014/main" val="1123177799"/>
                  </a:ext>
                </a:extLst>
              </a:tr>
            </a:tbl>
          </a:graphicData>
        </a:graphic>
      </p:graphicFrame>
    </p:spTree>
    <p:extLst>
      <p:ext uri="{BB962C8B-B14F-4D97-AF65-F5344CB8AC3E}">
        <p14:creationId xmlns:p14="http://schemas.microsoft.com/office/powerpoint/2010/main" val="2538550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bstract particle graph background">
            <a:extLst>
              <a:ext uri="{FF2B5EF4-FFF2-40B4-BE49-F238E27FC236}">
                <a16:creationId xmlns:a16="http://schemas.microsoft.com/office/drawing/2014/main" id="{8852C6A0-CF00-9BAD-537B-9E9EA4EEF82E}"/>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33406"/>
            <a:ext cx="12191980" cy="6857990"/>
          </a:xfrm>
          <a:prstGeom prst="rect">
            <a:avLst/>
          </a:prstGeom>
          <a:solidFill>
            <a:schemeClr val="tx1"/>
          </a:solidFill>
        </p:spPr>
      </p:pic>
      <p:sp>
        <p:nvSpPr>
          <p:cNvPr id="2" name="Title 1">
            <a:extLst>
              <a:ext uri="{FF2B5EF4-FFF2-40B4-BE49-F238E27FC236}">
                <a16:creationId xmlns:a16="http://schemas.microsoft.com/office/drawing/2014/main" id="{2DE46D77-5013-F648-382F-431C8C637EAB}"/>
              </a:ext>
            </a:extLst>
          </p:cNvPr>
          <p:cNvSpPr>
            <a:spLocks noGrp="1"/>
          </p:cNvSpPr>
          <p:nvPr>
            <p:ph type="title"/>
          </p:nvPr>
        </p:nvSpPr>
        <p:spPr/>
        <p:txBody>
          <a:bodyPr/>
          <a:lstStyle/>
          <a:p>
            <a:r>
              <a:rPr lang="en-US" dirty="0"/>
              <a:t>Risk Analysis</a:t>
            </a:r>
          </a:p>
        </p:txBody>
      </p:sp>
      <p:graphicFrame>
        <p:nvGraphicFramePr>
          <p:cNvPr id="4" name="Content Placeholder 3">
            <a:extLst>
              <a:ext uri="{FF2B5EF4-FFF2-40B4-BE49-F238E27FC236}">
                <a16:creationId xmlns:a16="http://schemas.microsoft.com/office/drawing/2014/main" id="{AD7922FD-B24D-7E44-3788-98F6B0A7DC55}"/>
              </a:ext>
            </a:extLst>
          </p:cNvPr>
          <p:cNvGraphicFramePr>
            <a:graphicFrameLocks noGrp="1"/>
          </p:cNvGraphicFramePr>
          <p:nvPr>
            <p:ph idx="1"/>
            <p:extLst>
              <p:ext uri="{D42A27DB-BD31-4B8C-83A1-F6EECF244321}">
                <p14:modId xmlns:p14="http://schemas.microsoft.com/office/powerpoint/2010/main" val="2792343346"/>
              </p:ext>
            </p:extLst>
          </p:nvPr>
        </p:nvGraphicFramePr>
        <p:xfrm>
          <a:off x="838200" y="1690688"/>
          <a:ext cx="10515600" cy="4800936"/>
        </p:xfrm>
        <a:graphic>
          <a:graphicData uri="http://schemas.openxmlformats.org/drawingml/2006/table">
            <a:tbl>
              <a:tblPr firstRow="1" firstCol="1" bandRow="1">
                <a:tableStyleId>{1FECB4D8-DB02-4DC6-A0A2-4F2EBAE1DC90}</a:tableStyleId>
              </a:tblPr>
              <a:tblGrid>
                <a:gridCol w="3576428">
                  <a:extLst>
                    <a:ext uri="{9D8B030D-6E8A-4147-A177-3AD203B41FA5}">
                      <a16:colId xmlns:a16="http://schemas.microsoft.com/office/drawing/2014/main" val="313073244"/>
                    </a:ext>
                  </a:extLst>
                </a:gridCol>
                <a:gridCol w="3705765">
                  <a:extLst>
                    <a:ext uri="{9D8B030D-6E8A-4147-A177-3AD203B41FA5}">
                      <a16:colId xmlns:a16="http://schemas.microsoft.com/office/drawing/2014/main" val="2654753734"/>
                    </a:ext>
                  </a:extLst>
                </a:gridCol>
                <a:gridCol w="3233407">
                  <a:extLst>
                    <a:ext uri="{9D8B030D-6E8A-4147-A177-3AD203B41FA5}">
                      <a16:colId xmlns:a16="http://schemas.microsoft.com/office/drawing/2014/main" val="1301775145"/>
                    </a:ext>
                  </a:extLst>
                </a:gridCol>
              </a:tblGrid>
              <a:tr h="329158">
                <a:tc>
                  <a:txBody>
                    <a:bodyPr/>
                    <a:lstStyle/>
                    <a:p>
                      <a:pPr marL="0" marR="0" algn="ctr">
                        <a:lnSpc>
                          <a:spcPct val="107000"/>
                        </a:lnSpc>
                        <a:spcAft>
                          <a:spcPts val="800"/>
                        </a:spcAft>
                        <a:buNone/>
                      </a:pPr>
                      <a:r>
                        <a:rPr lang="en-US" sz="2400" kern="100" dirty="0">
                          <a:effectLst/>
                        </a:rPr>
                        <a:t>Risk</a:t>
                      </a:r>
                      <a:endParaRPr lang="en-US" sz="2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400" kern="100" dirty="0">
                          <a:effectLst/>
                        </a:rPr>
                        <a:t>Impact</a:t>
                      </a:r>
                      <a:endParaRPr lang="en-US" sz="2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400" kern="100" dirty="0">
                          <a:effectLst/>
                        </a:rPr>
                        <a:t>Solution</a:t>
                      </a:r>
                      <a:endParaRPr lang="en-US" sz="2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1268236"/>
                  </a:ext>
                </a:extLst>
              </a:tr>
              <a:tr h="1360821">
                <a:tc>
                  <a:txBody>
                    <a:bodyPr/>
                    <a:lstStyle/>
                    <a:p>
                      <a:pPr marL="0" marR="0">
                        <a:lnSpc>
                          <a:spcPct val="107000"/>
                        </a:lnSpc>
                        <a:spcAft>
                          <a:spcPts val="800"/>
                        </a:spcAft>
                        <a:buNone/>
                      </a:pPr>
                      <a:r>
                        <a:rPr lang="en-US" sz="1800" kern="100" dirty="0">
                          <a:effectLst/>
                        </a:rPr>
                        <a:t>Organizational pushbacks and lack of faith in predictive models.</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07000"/>
                        </a:lnSpc>
                        <a:spcAft>
                          <a:spcPts val="800"/>
                        </a:spcAft>
                        <a:buNone/>
                      </a:pPr>
                      <a:r>
                        <a:rPr lang="en-US" sz="1800" kern="100" dirty="0">
                          <a:effectLst/>
                        </a:rPr>
                        <a:t>Little to no adoption by information technology and other departments. </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07000"/>
                        </a:lnSpc>
                        <a:spcAft>
                          <a:spcPts val="800"/>
                        </a:spcAft>
                        <a:buNone/>
                      </a:pPr>
                      <a:r>
                        <a:rPr lang="en-US" sz="1800" kern="100">
                          <a:effectLst/>
                        </a:rPr>
                        <a:t>Model interpretability and explainability are goals early in the project (phase two).</a:t>
                      </a:r>
                      <a:endParaRPr lang="en-US" sz="18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1512281635"/>
                  </a:ext>
                </a:extLst>
              </a:tr>
              <a:tr h="1360821">
                <a:tc>
                  <a:txBody>
                    <a:bodyPr/>
                    <a:lstStyle/>
                    <a:p>
                      <a:pPr marL="0" marR="0">
                        <a:lnSpc>
                          <a:spcPct val="107000"/>
                        </a:lnSpc>
                        <a:spcAft>
                          <a:spcPts val="800"/>
                        </a:spcAft>
                        <a:buNone/>
                      </a:pPr>
                      <a:r>
                        <a:rPr lang="en-US" sz="1800" kern="100" dirty="0">
                          <a:effectLst/>
                        </a:rPr>
                        <a:t>Overall gaps in data security protocols.</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07000"/>
                        </a:lnSpc>
                        <a:spcAft>
                          <a:spcPts val="800"/>
                        </a:spcAft>
                        <a:buNone/>
                      </a:pPr>
                      <a:r>
                        <a:rPr lang="en-US" sz="1800" kern="100">
                          <a:effectLst/>
                        </a:rPr>
                        <a:t>Lead to the release of sensitive data, causing potential government fines and loss of trust with the customer base.</a:t>
                      </a:r>
                      <a:endParaRPr lang="en-US" sz="18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07000"/>
                        </a:lnSpc>
                        <a:spcAft>
                          <a:spcPts val="800"/>
                        </a:spcAft>
                        <a:buNone/>
                      </a:pPr>
                      <a:r>
                        <a:rPr lang="en-US" sz="1800" kern="100">
                          <a:effectLst/>
                        </a:rPr>
                        <a:t>Data anomaly models will be implemented to help AlphaCorp be proactive with security. </a:t>
                      </a:r>
                      <a:endParaRPr lang="en-US" sz="18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867704819"/>
                  </a:ext>
                </a:extLst>
              </a:tr>
              <a:tr h="1704707">
                <a:tc>
                  <a:txBody>
                    <a:bodyPr/>
                    <a:lstStyle/>
                    <a:p>
                      <a:pPr marL="0" marR="0">
                        <a:lnSpc>
                          <a:spcPct val="107000"/>
                        </a:lnSpc>
                        <a:spcAft>
                          <a:spcPts val="800"/>
                        </a:spcAft>
                        <a:buNone/>
                      </a:pPr>
                      <a:r>
                        <a:rPr lang="en-US" sz="1800" kern="100" dirty="0">
                          <a:effectLst/>
                        </a:rPr>
                        <a:t>Model inaccuracies over time as business conditions change and vary.</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07000"/>
                        </a:lnSpc>
                        <a:spcAft>
                          <a:spcPts val="800"/>
                        </a:spcAft>
                        <a:buNone/>
                      </a:pPr>
                      <a:r>
                        <a:rPr lang="en-US" sz="1800" kern="100" dirty="0">
                          <a:effectLst/>
                        </a:rPr>
                        <a:t>Leads to incorrect and poor use of resources, operational inefficiencies, and loss of trust in the models internally.</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07000"/>
                        </a:lnSpc>
                        <a:spcAft>
                          <a:spcPts val="800"/>
                        </a:spcAft>
                        <a:buNone/>
                      </a:pPr>
                      <a:r>
                        <a:rPr lang="en-US" sz="1800" kern="100" dirty="0">
                          <a:effectLst/>
                        </a:rPr>
                        <a:t>Proposed continuous monitoring and regular retraining of models based on updated business conditions.</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2143776213"/>
                  </a:ext>
                </a:extLst>
              </a:tr>
            </a:tbl>
          </a:graphicData>
        </a:graphic>
      </p:graphicFrame>
    </p:spTree>
    <p:extLst>
      <p:ext uri="{BB962C8B-B14F-4D97-AF65-F5344CB8AC3E}">
        <p14:creationId xmlns:p14="http://schemas.microsoft.com/office/powerpoint/2010/main" val="2630679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4965AF83-B926-848A-01E3-DA780DD76A10}"/>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33406"/>
            <a:ext cx="12191980" cy="6857990"/>
          </a:xfrm>
          <a:prstGeom prst="rect">
            <a:avLst/>
          </a:prstGeom>
          <a:solidFill>
            <a:schemeClr val="tx1"/>
          </a:solidFill>
        </p:spPr>
      </p:pic>
      <p:sp>
        <p:nvSpPr>
          <p:cNvPr id="2" name="Title 1">
            <a:extLst>
              <a:ext uri="{FF2B5EF4-FFF2-40B4-BE49-F238E27FC236}">
                <a16:creationId xmlns:a16="http://schemas.microsoft.com/office/drawing/2014/main" id="{E9DA8FAE-1396-4B17-BCF6-E50F698A61DA}"/>
              </a:ext>
            </a:extLst>
          </p:cNvPr>
          <p:cNvSpPr>
            <a:spLocks noGrp="1"/>
          </p:cNvSpPr>
          <p:nvPr>
            <p:ph type="title"/>
          </p:nvPr>
        </p:nvSpPr>
        <p:spPr/>
        <p:txBody>
          <a:bodyPr/>
          <a:lstStyle/>
          <a:p>
            <a:r>
              <a:rPr lang="en-US" dirty="0"/>
              <a:t>KPIs and Monitoring</a:t>
            </a:r>
          </a:p>
        </p:txBody>
      </p:sp>
      <p:sp>
        <p:nvSpPr>
          <p:cNvPr id="9" name="Rectangle 8">
            <a:extLst>
              <a:ext uri="{FF2B5EF4-FFF2-40B4-BE49-F238E27FC236}">
                <a16:creationId xmlns:a16="http://schemas.microsoft.com/office/drawing/2014/main" id="{94ADD274-2583-1536-AFAC-4D9DB9D60E75}"/>
              </a:ext>
            </a:extLst>
          </p:cNvPr>
          <p:cNvSpPr/>
          <p:nvPr/>
        </p:nvSpPr>
        <p:spPr>
          <a:xfrm>
            <a:off x="838200" y="1373592"/>
            <a:ext cx="10515600" cy="440987"/>
          </a:xfrm>
          <a:prstGeom prst="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Mock KPI Dashboard</a:t>
            </a:r>
          </a:p>
        </p:txBody>
      </p:sp>
      <p:sp>
        <p:nvSpPr>
          <p:cNvPr id="10" name="Rectangle 9">
            <a:extLst>
              <a:ext uri="{FF2B5EF4-FFF2-40B4-BE49-F238E27FC236}">
                <a16:creationId xmlns:a16="http://schemas.microsoft.com/office/drawing/2014/main" id="{2551D4C0-3916-0C48-A6CB-E25F36025BFC}"/>
              </a:ext>
            </a:extLst>
          </p:cNvPr>
          <p:cNvSpPr/>
          <p:nvPr/>
        </p:nvSpPr>
        <p:spPr>
          <a:xfrm>
            <a:off x="838200" y="1814580"/>
            <a:ext cx="10515600" cy="5076816"/>
          </a:xfrm>
          <a:prstGeom prst="rect">
            <a:avLst/>
          </a:prstGeom>
          <a:solidFill>
            <a:schemeClr val="tx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AB5996BD-C34E-7CBC-AF98-E07D7BED6D1C}"/>
              </a:ext>
            </a:extLst>
          </p:cNvPr>
          <p:cNvGraphicFramePr>
            <a:graphicFrameLocks noGrp="1"/>
          </p:cNvGraphicFramePr>
          <p:nvPr>
            <p:extLst>
              <p:ext uri="{D42A27DB-BD31-4B8C-83A1-F6EECF244321}">
                <p14:modId xmlns:p14="http://schemas.microsoft.com/office/powerpoint/2010/main" val="492388172"/>
              </p:ext>
            </p:extLst>
          </p:nvPr>
        </p:nvGraphicFramePr>
        <p:xfrm>
          <a:off x="883574" y="2131675"/>
          <a:ext cx="6238691" cy="1010920"/>
        </p:xfrm>
        <a:graphic>
          <a:graphicData uri="http://schemas.openxmlformats.org/drawingml/2006/table">
            <a:tbl>
              <a:tblPr firstRow="1" bandRow="1">
                <a:tableStyleId>{2D5ABB26-0587-4C30-8999-92F81FD0307C}</a:tableStyleId>
              </a:tblPr>
              <a:tblGrid>
                <a:gridCol w="1580136">
                  <a:extLst>
                    <a:ext uri="{9D8B030D-6E8A-4147-A177-3AD203B41FA5}">
                      <a16:colId xmlns:a16="http://schemas.microsoft.com/office/drawing/2014/main" val="2842106098"/>
                    </a:ext>
                  </a:extLst>
                </a:gridCol>
                <a:gridCol w="1872637">
                  <a:extLst>
                    <a:ext uri="{9D8B030D-6E8A-4147-A177-3AD203B41FA5}">
                      <a16:colId xmlns:a16="http://schemas.microsoft.com/office/drawing/2014/main" val="2407817758"/>
                    </a:ext>
                  </a:extLst>
                </a:gridCol>
                <a:gridCol w="1148944">
                  <a:extLst>
                    <a:ext uri="{9D8B030D-6E8A-4147-A177-3AD203B41FA5}">
                      <a16:colId xmlns:a16="http://schemas.microsoft.com/office/drawing/2014/main" val="3093208961"/>
                    </a:ext>
                  </a:extLst>
                </a:gridCol>
                <a:gridCol w="1636974">
                  <a:extLst>
                    <a:ext uri="{9D8B030D-6E8A-4147-A177-3AD203B41FA5}">
                      <a16:colId xmlns:a16="http://schemas.microsoft.com/office/drawing/2014/main" val="1910692899"/>
                    </a:ext>
                  </a:extLst>
                </a:gridCol>
              </a:tblGrid>
              <a:tr h="370840">
                <a:tc rowSpan="2">
                  <a:txBody>
                    <a:bodyPr/>
                    <a:lstStyle/>
                    <a:p>
                      <a:pPr algn="ctr"/>
                      <a:r>
                        <a:rPr lang="en-US" b="1" dirty="0">
                          <a:solidFill>
                            <a:sysClr val="windowText" lastClr="000000"/>
                          </a:solidFill>
                        </a:rPr>
                        <a:t>Cloud Expenditure</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Current Month</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Previous Month</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 Change</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62267269"/>
                  </a:ext>
                </a:extLst>
              </a:tr>
              <a:tr h="370840">
                <a:tc vMerge="1">
                  <a:txBody>
                    <a:bodyPr/>
                    <a:lstStyle/>
                    <a:p>
                      <a:endParaRPr lang="en-US" dirty="0"/>
                    </a:p>
                  </a:txBody>
                  <a:tcPr/>
                </a:tc>
                <a:tc>
                  <a:txBody>
                    <a:bodyPr/>
                    <a:lstStyle/>
                    <a:p>
                      <a:pPr algn="ctr"/>
                      <a:r>
                        <a:rPr lang="en-US" b="1" dirty="0">
                          <a:solidFill>
                            <a:sysClr val="windowText" lastClr="000000"/>
                          </a:solidFill>
                        </a:rPr>
                        <a:t>13K</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16.5K</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21.1</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50099088"/>
                  </a:ext>
                </a:extLst>
              </a:tr>
            </a:tbl>
          </a:graphicData>
        </a:graphic>
      </p:graphicFrame>
      <p:graphicFrame>
        <p:nvGraphicFramePr>
          <p:cNvPr id="13" name="Table 12">
            <a:extLst>
              <a:ext uri="{FF2B5EF4-FFF2-40B4-BE49-F238E27FC236}">
                <a16:creationId xmlns:a16="http://schemas.microsoft.com/office/drawing/2014/main" id="{2A59EC4D-32E4-5F20-92B6-F8868CFF223D}"/>
              </a:ext>
            </a:extLst>
          </p:cNvPr>
          <p:cNvGraphicFramePr>
            <a:graphicFrameLocks noGrp="1"/>
          </p:cNvGraphicFramePr>
          <p:nvPr>
            <p:extLst>
              <p:ext uri="{D42A27DB-BD31-4B8C-83A1-F6EECF244321}">
                <p14:modId xmlns:p14="http://schemas.microsoft.com/office/powerpoint/2010/main" val="2586741086"/>
              </p:ext>
            </p:extLst>
          </p:nvPr>
        </p:nvGraphicFramePr>
        <p:xfrm>
          <a:off x="7263316" y="2131675"/>
          <a:ext cx="3949434" cy="1010920"/>
        </p:xfrm>
        <a:graphic>
          <a:graphicData uri="http://schemas.openxmlformats.org/drawingml/2006/table">
            <a:tbl>
              <a:tblPr firstRow="1" bandRow="1">
                <a:tableStyleId>{2D5ABB26-0587-4C30-8999-92F81FD0307C}</a:tableStyleId>
              </a:tblPr>
              <a:tblGrid>
                <a:gridCol w="1974717">
                  <a:extLst>
                    <a:ext uri="{9D8B030D-6E8A-4147-A177-3AD203B41FA5}">
                      <a16:colId xmlns:a16="http://schemas.microsoft.com/office/drawing/2014/main" val="329265893"/>
                    </a:ext>
                  </a:extLst>
                </a:gridCol>
                <a:gridCol w="1974717">
                  <a:extLst>
                    <a:ext uri="{9D8B030D-6E8A-4147-A177-3AD203B41FA5}">
                      <a16:colId xmlns:a16="http://schemas.microsoft.com/office/drawing/2014/main" val="1588424531"/>
                    </a:ext>
                  </a:extLst>
                </a:gridCol>
              </a:tblGrid>
              <a:tr h="1010920">
                <a:tc>
                  <a:txBody>
                    <a:bodyPr/>
                    <a:lstStyle/>
                    <a:p>
                      <a:pPr algn="ctr"/>
                      <a:r>
                        <a:rPr lang="en-US" b="1" dirty="0">
                          <a:solidFill>
                            <a:sysClr val="windowText" lastClr="000000"/>
                          </a:solidFill>
                        </a:rPr>
                        <a:t>Cost / Cloud Transaction</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sz="4000" b="1" dirty="0">
                          <a:solidFill>
                            <a:sysClr val="windowText" lastClr="000000"/>
                          </a:solidFill>
                        </a:rPr>
                        <a:t>$10</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72925463"/>
                  </a:ext>
                </a:extLst>
              </a:tr>
            </a:tbl>
          </a:graphicData>
        </a:graphic>
      </p:graphicFrame>
      <p:graphicFrame>
        <p:nvGraphicFramePr>
          <p:cNvPr id="14" name="Table 13">
            <a:extLst>
              <a:ext uri="{FF2B5EF4-FFF2-40B4-BE49-F238E27FC236}">
                <a16:creationId xmlns:a16="http://schemas.microsoft.com/office/drawing/2014/main" id="{1D00F3C4-35EF-8E94-9435-38BEB2BB99F9}"/>
              </a:ext>
            </a:extLst>
          </p:cNvPr>
          <p:cNvGraphicFramePr>
            <a:graphicFrameLocks noGrp="1"/>
          </p:cNvGraphicFramePr>
          <p:nvPr>
            <p:extLst>
              <p:ext uri="{D42A27DB-BD31-4B8C-83A1-F6EECF244321}">
                <p14:modId xmlns:p14="http://schemas.microsoft.com/office/powerpoint/2010/main" val="3825837045"/>
              </p:ext>
            </p:extLst>
          </p:nvPr>
        </p:nvGraphicFramePr>
        <p:xfrm>
          <a:off x="1673392" y="3209946"/>
          <a:ext cx="4352078" cy="1010920"/>
        </p:xfrm>
        <a:graphic>
          <a:graphicData uri="http://schemas.openxmlformats.org/drawingml/2006/table">
            <a:tbl>
              <a:tblPr firstRow="1" bandRow="1">
                <a:tableStyleId>{2D5ABB26-0587-4C30-8999-92F81FD0307C}</a:tableStyleId>
              </a:tblPr>
              <a:tblGrid>
                <a:gridCol w="2176039">
                  <a:extLst>
                    <a:ext uri="{9D8B030D-6E8A-4147-A177-3AD203B41FA5}">
                      <a16:colId xmlns:a16="http://schemas.microsoft.com/office/drawing/2014/main" val="329265893"/>
                    </a:ext>
                  </a:extLst>
                </a:gridCol>
                <a:gridCol w="2176039">
                  <a:extLst>
                    <a:ext uri="{9D8B030D-6E8A-4147-A177-3AD203B41FA5}">
                      <a16:colId xmlns:a16="http://schemas.microsoft.com/office/drawing/2014/main" val="1588424531"/>
                    </a:ext>
                  </a:extLst>
                </a:gridCol>
              </a:tblGrid>
              <a:tr h="1010920">
                <a:tc>
                  <a:txBody>
                    <a:bodyPr/>
                    <a:lstStyle/>
                    <a:p>
                      <a:pPr algn="ctr"/>
                      <a:r>
                        <a:rPr lang="en-US" b="1" dirty="0">
                          <a:solidFill>
                            <a:sysClr val="windowText" lastClr="000000"/>
                          </a:solidFill>
                        </a:rPr>
                        <a:t>Number of Security Incidents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sz="4000" b="1" dirty="0">
                          <a:solidFill>
                            <a:sysClr val="windowText" lastClr="000000"/>
                          </a:solidFill>
                        </a:rPr>
                        <a:t>5</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72925463"/>
                  </a:ext>
                </a:extLst>
              </a:tr>
            </a:tbl>
          </a:graphicData>
        </a:graphic>
      </p:graphicFrame>
      <p:graphicFrame>
        <p:nvGraphicFramePr>
          <p:cNvPr id="15" name="Table 14">
            <a:extLst>
              <a:ext uri="{FF2B5EF4-FFF2-40B4-BE49-F238E27FC236}">
                <a16:creationId xmlns:a16="http://schemas.microsoft.com/office/drawing/2014/main" id="{C073614A-B6D6-FEE6-A8E3-4992C8227934}"/>
              </a:ext>
            </a:extLst>
          </p:cNvPr>
          <p:cNvGraphicFramePr>
            <a:graphicFrameLocks noGrp="1"/>
          </p:cNvGraphicFramePr>
          <p:nvPr>
            <p:extLst>
              <p:ext uri="{D42A27DB-BD31-4B8C-83A1-F6EECF244321}">
                <p14:modId xmlns:p14="http://schemas.microsoft.com/office/powerpoint/2010/main" val="3816330773"/>
              </p:ext>
            </p:extLst>
          </p:nvPr>
        </p:nvGraphicFramePr>
        <p:xfrm>
          <a:off x="7263316" y="3231517"/>
          <a:ext cx="3949424" cy="1010920"/>
        </p:xfrm>
        <a:graphic>
          <a:graphicData uri="http://schemas.openxmlformats.org/drawingml/2006/table">
            <a:tbl>
              <a:tblPr firstRow="1" bandRow="1">
                <a:tableStyleId>{1FECB4D8-DB02-4DC6-A0A2-4F2EBAE1DC90}</a:tableStyleId>
              </a:tblPr>
              <a:tblGrid>
                <a:gridCol w="1974712">
                  <a:extLst>
                    <a:ext uri="{9D8B030D-6E8A-4147-A177-3AD203B41FA5}">
                      <a16:colId xmlns:a16="http://schemas.microsoft.com/office/drawing/2014/main" val="329265893"/>
                    </a:ext>
                  </a:extLst>
                </a:gridCol>
                <a:gridCol w="1974712">
                  <a:extLst>
                    <a:ext uri="{9D8B030D-6E8A-4147-A177-3AD203B41FA5}">
                      <a16:colId xmlns:a16="http://schemas.microsoft.com/office/drawing/2014/main" val="1588424531"/>
                    </a:ext>
                  </a:extLst>
                </a:gridCol>
              </a:tblGrid>
              <a:tr h="1010920">
                <a:tc>
                  <a:txBody>
                    <a:bodyPr/>
                    <a:lstStyle/>
                    <a:p>
                      <a:pPr algn="ctr"/>
                      <a:r>
                        <a:rPr lang="en-US" dirty="0">
                          <a:solidFill>
                            <a:sysClr val="windowText" lastClr="000000"/>
                          </a:solidFill>
                        </a:rPr>
                        <a:t>Data Recovery Time (DRT - min)</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tc>
                  <a:txBody>
                    <a:bodyPr/>
                    <a:lstStyle/>
                    <a:p>
                      <a:pPr algn="ctr"/>
                      <a:r>
                        <a:rPr lang="en-US" sz="4000" dirty="0">
                          <a:solidFill>
                            <a:sysClr val="windowText" lastClr="000000"/>
                          </a:solidFill>
                        </a:rPr>
                        <a:t>5</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672925463"/>
                  </a:ext>
                </a:extLst>
              </a:tr>
            </a:tbl>
          </a:graphicData>
        </a:graphic>
      </p:graphicFrame>
      <p:graphicFrame>
        <p:nvGraphicFramePr>
          <p:cNvPr id="16" name="Table 15">
            <a:extLst>
              <a:ext uri="{FF2B5EF4-FFF2-40B4-BE49-F238E27FC236}">
                <a16:creationId xmlns:a16="http://schemas.microsoft.com/office/drawing/2014/main" id="{CEFCC2BE-632D-6D1E-B6AC-5E0E62D63AD6}"/>
              </a:ext>
            </a:extLst>
          </p:cNvPr>
          <p:cNvGraphicFramePr>
            <a:graphicFrameLocks noGrp="1"/>
          </p:cNvGraphicFramePr>
          <p:nvPr>
            <p:extLst>
              <p:ext uri="{D42A27DB-BD31-4B8C-83A1-F6EECF244321}">
                <p14:modId xmlns:p14="http://schemas.microsoft.com/office/powerpoint/2010/main" val="4109041886"/>
              </p:ext>
            </p:extLst>
          </p:nvPr>
        </p:nvGraphicFramePr>
        <p:xfrm>
          <a:off x="7263318" y="4473637"/>
          <a:ext cx="3949422" cy="1010920"/>
        </p:xfrm>
        <a:graphic>
          <a:graphicData uri="http://schemas.openxmlformats.org/drawingml/2006/table">
            <a:tbl>
              <a:tblPr firstRow="1" bandRow="1">
                <a:tableStyleId>{1FECB4D8-DB02-4DC6-A0A2-4F2EBAE1DC90}</a:tableStyleId>
              </a:tblPr>
              <a:tblGrid>
                <a:gridCol w="1974711">
                  <a:extLst>
                    <a:ext uri="{9D8B030D-6E8A-4147-A177-3AD203B41FA5}">
                      <a16:colId xmlns:a16="http://schemas.microsoft.com/office/drawing/2014/main" val="329265893"/>
                    </a:ext>
                  </a:extLst>
                </a:gridCol>
                <a:gridCol w="1974711">
                  <a:extLst>
                    <a:ext uri="{9D8B030D-6E8A-4147-A177-3AD203B41FA5}">
                      <a16:colId xmlns:a16="http://schemas.microsoft.com/office/drawing/2014/main" val="1588424531"/>
                    </a:ext>
                  </a:extLst>
                </a:gridCol>
              </a:tblGrid>
              <a:tr h="1010920">
                <a:tc>
                  <a:txBody>
                    <a:bodyPr/>
                    <a:lstStyle/>
                    <a:p>
                      <a:pPr algn="ctr"/>
                      <a:r>
                        <a:rPr lang="en-US" dirty="0">
                          <a:solidFill>
                            <a:sysClr val="windowText" lastClr="000000"/>
                          </a:solidFill>
                        </a:rPr>
                        <a:t>Overall Predictive Model Accuracy</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tc>
                  <a:txBody>
                    <a:bodyPr/>
                    <a:lstStyle/>
                    <a:p>
                      <a:pPr algn="ctr"/>
                      <a:r>
                        <a:rPr lang="en-US" sz="4000" dirty="0">
                          <a:solidFill>
                            <a:sysClr val="windowText" lastClr="000000"/>
                          </a:solidFill>
                        </a:rPr>
                        <a:t>89%</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672925463"/>
                  </a:ext>
                </a:extLst>
              </a:tr>
            </a:tbl>
          </a:graphicData>
        </a:graphic>
      </p:graphicFrame>
      <p:graphicFrame>
        <p:nvGraphicFramePr>
          <p:cNvPr id="17" name="Table 16">
            <a:extLst>
              <a:ext uri="{FF2B5EF4-FFF2-40B4-BE49-F238E27FC236}">
                <a16:creationId xmlns:a16="http://schemas.microsoft.com/office/drawing/2014/main" id="{EC8854A3-5479-E5C9-B01B-F35C6CB6621F}"/>
              </a:ext>
            </a:extLst>
          </p:cNvPr>
          <p:cNvGraphicFramePr>
            <a:graphicFrameLocks noGrp="1"/>
          </p:cNvGraphicFramePr>
          <p:nvPr>
            <p:extLst>
              <p:ext uri="{D42A27DB-BD31-4B8C-83A1-F6EECF244321}">
                <p14:modId xmlns:p14="http://schemas.microsoft.com/office/powerpoint/2010/main" val="3754404203"/>
              </p:ext>
            </p:extLst>
          </p:nvPr>
        </p:nvGraphicFramePr>
        <p:xfrm>
          <a:off x="883574" y="4288217"/>
          <a:ext cx="6288953" cy="1381760"/>
        </p:xfrm>
        <a:graphic>
          <a:graphicData uri="http://schemas.openxmlformats.org/drawingml/2006/table">
            <a:tbl>
              <a:tblPr firstRow="1" bandRow="1">
                <a:tableStyleId>{2D5ABB26-0587-4C30-8999-92F81FD0307C}</a:tableStyleId>
              </a:tblPr>
              <a:tblGrid>
                <a:gridCol w="1592866">
                  <a:extLst>
                    <a:ext uri="{9D8B030D-6E8A-4147-A177-3AD203B41FA5}">
                      <a16:colId xmlns:a16="http://schemas.microsoft.com/office/drawing/2014/main" val="2842106098"/>
                    </a:ext>
                  </a:extLst>
                </a:gridCol>
                <a:gridCol w="1499491">
                  <a:extLst>
                    <a:ext uri="{9D8B030D-6E8A-4147-A177-3AD203B41FA5}">
                      <a16:colId xmlns:a16="http://schemas.microsoft.com/office/drawing/2014/main" val="2407817758"/>
                    </a:ext>
                  </a:extLst>
                </a:gridCol>
                <a:gridCol w="1546433">
                  <a:extLst>
                    <a:ext uri="{9D8B030D-6E8A-4147-A177-3AD203B41FA5}">
                      <a16:colId xmlns:a16="http://schemas.microsoft.com/office/drawing/2014/main" val="3093208961"/>
                    </a:ext>
                  </a:extLst>
                </a:gridCol>
                <a:gridCol w="1650163">
                  <a:extLst>
                    <a:ext uri="{9D8B030D-6E8A-4147-A177-3AD203B41FA5}">
                      <a16:colId xmlns:a16="http://schemas.microsoft.com/office/drawing/2014/main" val="1910692899"/>
                    </a:ext>
                  </a:extLst>
                </a:gridCol>
              </a:tblGrid>
              <a:tr h="370840">
                <a:tc rowSpan="3">
                  <a:txBody>
                    <a:bodyPr/>
                    <a:lstStyle/>
                    <a:p>
                      <a:pPr algn="ctr"/>
                      <a:r>
                        <a:rPr lang="en-US" b="1" dirty="0">
                          <a:solidFill>
                            <a:sysClr val="windowText" lastClr="000000"/>
                          </a:solidFill>
                        </a:rPr>
                        <a:t>Predictive Models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Model Type</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False Positives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False Negatives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62267269"/>
                  </a:ext>
                </a:extLst>
              </a:tr>
              <a:tr h="370840">
                <a:tc vMerge="1">
                  <a:txBody>
                    <a:bodyPr/>
                    <a:lstStyle/>
                    <a:p>
                      <a:endParaRPr lang="en-US" dirty="0"/>
                    </a:p>
                  </a:txBody>
                  <a:tcPr/>
                </a:tc>
                <a:tc>
                  <a:txBody>
                    <a:bodyPr/>
                    <a:lstStyle/>
                    <a:p>
                      <a:pPr algn="ctr"/>
                      <a:r>
                        <a:rPr lang="en-US" b="1" dirty="0">
                          <a:solidFill>
                            <a:sysClr val="windowText" lastClr="000000"/>
                          </a:solidFill>
                        </a:rPr>
                        <a:t>Time Series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2</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3</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50099088"/>
                  </a:ext>
                </a:extLst>
              </a:tr>
              <a:tr h="370840">
                <a:tc vMerge="1">
                  <a:txBody>
                    <a:bodyPr/>
                    <a:lstStyle/>
                    <a:p>
                      <a:pPr algn="ctr"/>
                      <a:endParaRPr lang="en-US" dirty="0">
                        <a:solidFill>
                          <a:schemeClr val="bg1"/>
                        </a:solidFill>
                      </a:endParaRPr>
                    </a:p>
                  </a:txBody>
                  <a:tcPr anchor="ctr">
                    <a:noFill/>
                  </a:tcPr>
                </a:tc>
                <a:tc>
                  <a:txBody>
                    <a:bodyPr/>
                    <a:lstStyle/>
                    <a:p>
                      <a:pPr algn="ctr"/>
                      <a:r>
                        <a:rPr lang="en-US" b="1" dirty="0">
                          <a:solidFill>
                            <a:sysClr val="windowText" lastClr="000000"/>
                          </a:solidFill>
                        </a:rPr>
                        <a:t>ML Anomaly</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1</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0</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806342895"/>
                  </a:ext>
                </a:extLst>
              </a:tr>
            </a:tbl>
          </a:graphicData>
        </a:graphic>
      </p:graphicFrame>
      <p:graphicFrame>
        <p:nvGraphicFramePr>
          <p:cNvPr id="18" name="Table 17">
            <a:extLst>
              <a:ext uri="{FF2B5EF4-FFF2-40B4-BE49-F238E27FC236}">
                <a16:creationId xmlns:a16="http://schemas.microsoft.com/office/drawing/2014/main" id="{9DD099F8-8E99-DBC3-D47E-E0089834DFFD}"/>
              </a:ext>
            </a:extLst>
          </p:cNvPr>
          <p:cNvGraphicFramePr>
            <a:graphicFrameLocks noGrp="1"/>
          </p:cNvGraphicFramePr>
          <p:nvPr>
            <p:extLst>
              <p:ext uri="{D42A27DB-BD31-4B8C-83A1-F6EECF244321}">
                <p14:modId xmlns:p14="http://schemas.microsoft.com/office/powerpoint/2010/main" val="3781036041"/>
              </p:ext>
            </p:extLst>
          </p:nvPr>
        </p:nvGraphicFramePr>
        <p:xfrm>
          <a:off x="883575" y="5737328"/>
          <a:ext cx="10329165" cy="1112520"/>
        </p:xfrm>
        <a:graphic>
          <a:graphicData uri="http://schemas.openxmlformats.org/drawingml/2006/table">
            <a:tbl>
              <a:tblPr firstRow="1" bandRow="1">
                <a:tableStyleId>{2D5ABB26-0587-4C30-8999-92F81FD0307C}</a:tableStyleId>
              </a:tblPr>
              <a:tblGrid>
                <a:gridCol w="2616171">
                  <a:extLst>
                    <a:ext uri="{9D8B030D-6E8A-4147-A177-3AD203B41FA5}">
                      <a16:colId xmlns:a16="http://schemas.microsoft.com/office/drawing/2014/main" val="2842106098"/>
                    </a:ext>
                  </a:extLst>
                </a:gridCol>
                <a:gridCol w="1617004">
                  <a:extLst>
                    <a:ext uri="{9D8B030D-6E8A-4147-A177-3AD203B41FA5}">
                      <a16:colId xmlns:a16="http://schemas.microsoft.com/office/drawing/2014/main" val="2407817758"/>
                    </a:ext>
                  </a:extLst>
                </a:gridCol>
                <a:gridCol w="2360579">
                  <a:extLst>
                    <a:ext uri="{9D8B030D-6E8A-4147-A177-3AD203B41FA5}">
                      <a16:colId xmlns:a16="http://schemas.microsoft.com/office/drawing/2014/main" val="3093208961"/>
                    </a:ext>
                  </a:extLst>
                </a:gridCol>
                <a:gridCol w="3735411">
                  <a:extLst>
                    <a:ext uri="{9D8B030D-6E8A-4147-A177-3AD203B41FA5}">
                      <a16:colId xmlns:a16="http://schemas.microsoft.com/office/drawing/2014/main" val="1910692899"/>
                    </a:ext>
                  </a:extLst>
                </a:gridCol>
              </a:tblGrid>
              <a:tr h="370840">
                <a:tc rowSpan="3">
                  <a:txBody>
                    <a:bodyPr/>
                    <a:lstStyle/>
                    <a:p>
                      <a:pPr algn="ctr"/>
                      <a:r>
                        <a:rPr lang="en-US" b="1" dirty="0">
                          <a:solidFill>
                            <a:sysClr val="windowText" lastClr="000000"/>
                          </a:solidFill>
                        </a:rPr>
                        <a:t>Resources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Application</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Utilization Rate</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Latency (ns)</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62267269"/>
                  </a:ext>
                </a:extLst>
              </a:tr>
              <a:tr h="370840">
                <a:tc vMerge="1">
                  <a:txBody>
                    <a:bodyPr/>
                    <a:lstStyle/>
                    <a:p>
                      <a:endParaRPr lang="en-US" dirty="0"/>
                    </a:p>
                  </a:txBody>
                  <a:tcPr/>
                </a:tc>
                <a:tc>
                  <a:txBody>
                    <a:bodyPr/>
                    <a:lstStyle/>
                    <a:p>
                      <a:pPr algn="ctr"/>
                      <a:r>
                        <a:rPr lang="en-US" b="1" dirty="0">
                          <a:solidFill>
                            <a:sysClr val="windowText" lastClr="000000"/>
                          </a:solidFill>
                        </a:rPr>
                        <a:t>App 1</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65%</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98</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50099088"/>
                  </a:ext>
                </a:extLst>
              </a:tr>
              <a:tr h="370840">
                <a:tc vMerge="1">
                  <a:txBody>
                    <a:bodyPr/>
                    <a:lstStyle/>
                    <a:p>
                      <a:pPr algn="ctr"/>
                      <a:endParaRPr lang="en-US" dirty="0">
                        <a:solidFill>
                          <a:schemeClr val="bg1"/>
                        </a:solidFill>
                      </a:endParaRPr>
                    </a:p>
                  </a:txBody>
                  <a:tcPr anchor="ctr">
                    <a:noFill/>
                  </a:tcPr>
                </a:tc>
                <a:tc>
                  <a:txBody>
                    <a:bodyPr/>
                    <a:lstStyle/>
                    <a:p>
                      <a:pPr algn="ctr"/>
                      <a:r>
                        <a:rPr lang="en-US" b="1" dirty="0">
                          <a:solidFill>
                            <a:sysClr val="windowText" lastClr="000000"/>
                          </a:solidFill>
                        </a:rPr>
                        <a:t>App 2</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45%</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tc>
                  <a:txBody>
                    <a:bodyPr/>
                    <a:lstStyle/>
                    <a:p>
                      <a:pPr algn="ctr"/>
                      <a:r>
                        <a:rPr lang="en-US" b="1" dirty="0">
                          <a:solidFill>
                            <a:sysClr val="windowText" lastClr="000000"/>
                          </a:solidFill>
                        </a:rPr>
                        <a:t>35</a:t>
                      </a:r>
                    </a:p>
                  </a:txBody>
                  <a:tcPr anchor="ct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02418298"/>
                  </a:ext>
                </a:extLst>
              </a:tr>
            </a:tbl>
          </a:graphicData>
        </a:graphic>
      </p:graphicFrame>
    </p:spTree>
    <p:extLst>
      <p:ext uri="{BB962C8B-B14F-4D97-AF65-F5344CB8AC3E}">
        <p14:creationId xmlns:p14="http://schemas.microsoft.com/office/powerpoint/2010/main" val="2770144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BD02-D53E-BA7F-4B64-C495BBBCEA6D}"/>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981501D4-184C-912F-FCC5-316028EFAC3C}"/>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E5F2855B-E6E2-6F9F-D079-36A3248D7D31}"/>
              </a:ext>
            </a:extLst>
          </p:cNvPr>
          <p:cNvSpPr>
            <a:spLocks noGrp="1"/>
          </p:cNvSpPr>
          <p:nvPr>
            <p:ph type="title"/>
          </p:nvPr>
        </p:nvSpPr>
        <p:spPr>
          <a:xfrm>
            <a:off x="831850" y="3429000"/>
            <a:ext cx="10515600" cy="1133475"/>
          </a:xfrm>
          <a:solidFill>
            <a:schemeClr val="tx1">
              <a:alpha val="70000"/>
            </a:schemeClr>
          </a:solidFill>
        </p:spPr>
        <p:txBody>
          <a:bodyPr/>
          <a:lstStyle/>
          <a:p>
            <a:pPr algn="ctr"/>
            <a:r>
              <a:rPr lang="en-US" dirty="0">
                <a:solidFill>
                  <a:sysClr val="windowText" lastClr="000000"/>
                </a:solidFill>
              </a:rPr>
              <a:t>Cybersecurity</a:t>
            </a:r>
          </a:p>
        </p:txBody>
      </p:sp>
      <p:sp>
        <p:nvSpPr>
          <p:cNvPr id="3" name="Text Placeholder 2">
            <a:extLst>
              <a:ext uri="{FF2B5EF4-FFF2-40B4-BE49-F238E27FC236}">
                <a16:creationId xmlns:a16="http://schemas.microsoft.com/office/drawing/2014/main" id="{220C431E-58BD-AFCC-3194-A79387B7F4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4427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22B36BAC-BC5D-0A39-DCF7-EF4B063E50A9}"/>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4" name="Title 3">
            <a:extLst>
              <a:ext uri="{FF2B5EF4-FFF2-40B4-BE49-F238E27FC236}">
                <a16:creationId xmlns:a16="http://schemas.microsoft.com/office/drawing/2014/main" id="{72EB2D14-7B40-79F1-405A-5461FAFCFCCF}"/>
              </a:ext>
            </a:extLst>
          </p:cNvPr>
          <p:cNvSpPr>
            <a:spLocks noGrp="1"/>
          </p:cNvSpPr>
          <p:nvPr>
            <p:ph type="title"/>
          </p:nvPr>
        </p:nvSpPr>
        <p:spPr/>
        <p:txBody>
          <a:bodyPr/>
          <a:lstStyle/>
          <a:p>
            <a:r>
              <a:rPr lang="en-US" dirty="0"/>
              <a:t>Inventory – Cyber Asset</a:t>
            </a:r>
          </a:p>
        </p:txBody>
      </p:sp>
      <p:graphicFrame>
        <p:nvGraphicFramePr>
          <p:cNvPr id="6" name="Content Placeholder 5">
            <a:extLst>
              <a:ext uri="{FF2B5EF4-FFF2-40B4-BE49-F238E27FC236}">
                <a16:creationId xmlns:a16="http://schemas.microsoft.com/office/drawing/2014/main" id="{75DABA3C-86AF-3CC1-89F8-11F0E1D15FEB}"/>
              </a:ext>
            </a:extLst>
          </p:cNvPr>
          <p:cNvGraphicFramePr>
            <a:graphicFrameLocks noGrp="1"/>
          </p:cNvGraphicFramePr>
          <p:nvPr>
            <p:ph idx="1"/>
            <p:extLst>
              <p:ext uri="{D42A27DB-BD31-4B8C-83A1-F6EECF244321}">
                <p14:modId xmlns:p14="http://schemas.microsoft.com/office/powerpoint/2010/main" val="2423058104"/>
              </p:ext>
            </p:extLst>
          </p:nvPr>
        </p:nvGraphicFramePr>
        <p:xfrm>
          <a:off x="838199" y="1690688"/>
          <a:ext cx="10515598" cy="5124132"/>
        </p:xfrm>
        <a:graphic>
          <a:graphicData uri="http://schemas.openxmlformats.org/drawingml/2006/table">
            <a:tbl>
              <a:tblPr firstRow="1" firstCol="1" bandRow="1">
                <a:tableStyleId>{1FECB4D8-DB02-4DC6-A0A2-4F2EBAE1DC90}</a:tableStyleId>
              </a:tblPr>
              <a:tblGrid>
                <a:gridCol w="1657753">
                  <a:extLst>
                    <a:ext uri="{9D8B030D-6E8A-4147-A177-3AD203B41FA5}">
                      <a16:colId xmlns:a16="http://schemas.microsoft.com/office/drawing/2014/main" val="1947123155"/>
                    </a:ext>
                  </a:extLst>
                </a:gridCol>
                <a:gridCol w="1718485">
                  <a:extLst>
                    <a:ext uri="{9D8B030D-6E8A-4147-A177-3AD203B41FA5}">
                      <a16:colId xmlns:a16="http://schemas.microsoft.com/office/drawing/2014/main" val="406465369"/>
                    </a:ext>
                  </a:extLst>
                </a:gridCol>
                <a:gridCol w="2000775">
                  <a:extLst>
                    <a:ext uri="{9D8B030D-6E8A-4147-A177-3AD203B41FA5}">
                      <a16:colId xmlns:a16="http://schemas.microsoft.com/office/drawing/2014/main" val="1955348721"/>
                    </a:ext>
                  </a:extLst>
                </a:gridCol>
                <a:gridCol w="1563282">
                  <a:extLst>
                    <a:ext uri="{9D8B030D-6E8A-4147-A177-3AD203B41FA5}">
                      <a16:colId xmlns:a16="http://schemas.microsoft.com/office/drawing/2014/main" val="3852698010"/>
                    </a:ext>
                  </a:extLst>
                </a:gridCol>
                <a:gridCol w="2163851">
                  <a:extLst>
                    <a:ext uri="{9D8B030D-6E8A-4147-A177-3AD203B41FA5}">
                      <a16:colId xmlns:a16="http://schemas.microsoft.com/office/drawing/2014/main" val="1786285342"/>
                    </a:ext>
                  </a:extLst>
                </a:gridCol>
                <a:gridCol w="1411452">
                  <a:extLst>
                    <a:ext uri="{9D8B030D-6E8A-4147-A177-3AD203B41FA5}">
                      <a16:colId xmlns:a16="http://schemas.microsoft.com/office/drawing/2014/main" val="3119669689"/>
                    </a:ext>
                  </a:extLst>
                </a:gridCol>
              </a:tblGrid>
              <a:tr h="230388">
                <a:tc>
                  <a:txBody>
                    <a:bodyPr/>
                    <a:lstStyle/>
                    <a:p>
                      <a:pPr marL="0" marR="0" algn="ctr">
                        <a:lnSpc>
                          <a:spcPct val="107000"/>
                        </a:lnSpc>
                        <a:spcAft>
                          <a:spcPts val="800"/>
                        </a:spcAft>
                        <a:buNone/>
                      </a:pPr>
                      <a:r>
                        <a:rPr lang="en-US" sz="2000" kern="100" dirty="0">
                          <a:effectLst/>
                        </a:rPr>
                        <a:t>Asset #</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Name</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Location</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Ownership</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Configuration</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Criticality</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96135719"/>
                  </a:ext>
                </a:extLst>
              </a:tr>
              <a:tr h="711784">
                <a:tc>
                  <a:txBody>
                    <a:bodyPr/>
                    <a:lstStyle/>
                    <a:p>
                      <a:pPr marL="0" marR="0" algn="ctr">
                        <a:lnSpc>
                          <a:spcPct val="107000"/>
                        </a:lnSpc>
                        <a:spcAft>
                          <a:spcPts val="800"/>
                        </a:spcAft>
                        <a:buNone/>
                      </a:pPr>
                      <a:r>
                        <a:rPr lang="en-US" sz="2000" kern="100" dirty="0">
                          <a:effectLst/>
                        </a:rPr>
                        <a:t>A1</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Firewall</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Branch Offices</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Cyber Security Team</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Outdated technology</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High</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2848418878"/>
                  </a:ext>
                </a:extLst>
              </a:tr>
              <a:tr h="711784">
                <a:tc>
                  <a:txBody>
                    <a:bodyPr/>
                    <a:lstStyle/>
                    <a:p>
                      <a:pPr marL="0" marR="0" algn="ctr">
                        <a:lnSpc>
                          <a:spcPct val="107000"/>
                        </a:lnSpc>
                        <a:spcAft>
                          <a:spcPts val="800"/>
                        </a:spcAft>
                        <a:buNone/>
                      </a:pPr>
                      <a:r>
                        <a:rPr lang="en-US" sz="2000" kern="100">
                          <a:effectLst/>
                        </a:rPr>
                        <a:t>A2</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Servers</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On premise</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IT Architecture Team</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Legacy</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High</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1043786322"/>
                  </a:ext>
                </a:extLst>
              </a:tr>
              <a:tr h="952481">
                <a:tc>
                  <a:txBody>
                    <a:bodyPr/>
                    <a:lstStyle/>
                    <a:p>
                      <a:pPr marL="0" marR="0" algn="ctr">
                        <a:lnSpc>
                          <a:spcPct val="107000"/>
                        </a:lnSpc>
                        <a:spcAft>
                          <a:spcPts val="800"/>
                        </a:spcAft>
                        <a:buNone/>
                      </a:pPr>
                      <a:r>
                        <a:rPr lang="en-US" sz="2000" kern="100">
                          <a:effectLst/>
                        </a:rPr>
                        <a:t>A3</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E-commerce site </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Cloud (public)</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E-commerce division IT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Newest technology and software on public cloud.</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High</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1490255917"/>
                  </a:ext>
                </a:extLst>
              </a:tr>
              <a:tr h="711784">
                <a:tc>
                  <a:txBody>
                    <a:bodyPr/>
                    <a:lstStyle/>
                    <a:p>
                      <a:pPr marL="0" marR="0" algn="ctr">
                        <a:lnSpc>
                          <a:spcPct val="107000"/>
                        </a:lnSpc>
                        <a:spcAft>
                          <a:spcPts val="800"/>
                        </a:spcAft>
                        <a:buNone/>
                      </a:pPr>
                      <a:r>
                        <a:rPr lang="en-US" sz="2000" kern="100">
                          <a:effectLst/>
                        </a:rPr>
                        <a:t>A4</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Computers and laptops</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Employee operated (global deployment)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Imaged by AlphaCorp IT.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Medium</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804385980"/>
                  </a:ext>
                </a:extLst>
              </a:tr>
              <a:tr h="711784">
                <a:tc>
                  <a:txBody>
                    <a:bodyPr/>
                    <a:lstStyle/>
                    <a:p>
                      <a:pPr marL="0" marR="0" algn="ctr">
                        <a:lnSpc>
                          <a:spcPct val="107000"/>
                        </a:lnSpc>
                        <a:spcAft>
                          <a:spcPts val="800"/>
                        </a:spcAft>
                        <a:buNone/>
                      </a:pPr>
                      <a:r>
                        <a:rPr lang="en-US" sz="2000" kern="100" dirty="0">
                          <a:effectLst/>
                        </a:rPr>
                        <a:t>A5</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Patient Records </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Cloud (private)</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Healthcare Division IT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Software on private cloud. HIPAA compliant.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High</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1417592967"/>
                  </a:ext>
                </a:extLst>
              </a:tr>
              <a:tr h="952481">
                <a:tc>
                  <a:txBody>
                    <a:bodyPr/>
                    <a:lstStyle/>
                    <a:p>
                      <a:pPr marL="0" marR="0" algn="ctr">
                        <a:lnSpc>
                          <a:spcPct val="107000"/>
                        </a:lnSpc>
                        <a:spcAft>
                          <a:spcPts val="800"/>
                        </a:spcAft>
                        <a:buNone/>
                      </a:pPr>
                      <a:r>
                        <a:rPr lang="en-US" sz="2000" kern="100" dirty="0">
                          <a:effectLst/>
                        </a:rPr>
                        <a:t>A6</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Payment Processing</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Cloud (public)</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Fintech Division IT</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Newest technology and software on public cloud.</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High</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2719527550"/>
                  </a:ext>
                </a:extLst>
              </a:tr>
            </a:tbl>
          </a:graphicData>
        </a:graphic>
      </p:graphicFrame>
    </p:spTree>
    <p:extLst>
      <p:ext uri="{BB962C8B-B14F-4D97-AF65-F5344CB8AC3E}">
        <p14:creationId xmlns:p14="http://schemas.microsoft.com/office/powerpoint/2010/main" val="386386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3AF76-ADC7-1512-DF64-7D25D1887CC9}"/>
            </a:ext>
          </a:extLst>
        </p:cNvPr>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22BA5B9C-5682-964D-C4E4-07EF1728BC5B}"/>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4" name="Title 3">
            <a:extLst>
              <a:ext uri="{FF2B5EF4-FFF2-40B4-BE49-F238E27FC236}">
                <a16:creationId xmlns:a16="http://schemas.microsoft.com/office/drawing/2014/main" id="{3B191170-970D-E5F1-8E39-5188F0423DE8}"/>
              </a:ext>
            </a:extLst>
          </p:cNvPr>
          <p:cNvSpPr>
            <a:spLocks noGrp="1"/>
          </p:cNvSpPr>
          <p:nvPr>
            <p:ph type="title"/>
          </p:nvPr>
        </p:nvSpPr>
        <p:spPr/>
        <p:txBody>
          <a:bodyPr/>
          <a:lstStyle/>
          <a:p>
            <a:r>
              <a:rPr lang="en-US" dirty="0"/>
              <a:t>Inventory – Information Asset</a:t>
            </a:r>
          </a:p>
        </p:txBody>
      </p:sp>
      <p:graphicFrame>
        <p:nvGraphicFramePr>
          <p:cNvPr id="5" name="Content Placeholder 4">
            <a:extLst>
              <a:ext uri="{FF2B5EF4-FFF2-40B4-BE49-F238E27FC236}">
                <a16:creationId xmlns:a16="http://schemas.microsoft.com/office/drawing/2014/main" id="{78B9D35A-8A15-D3CE-0BA7-336CF2D3A080}"/>
              </a:ext>
            </a:extLst>
          </p:cNvPr>
          <p:cNvGraphicFramePr>
            <a:graphicFrameLocks noGrp="1"/>
          </p:cNvGraphicFramePr>
          <p:nvPr>
            <p:ph idx="1"/>
            <p:extLst>
              <p:ext uri="{D42A27DB-BD31-4B8C-83A1-F6EECF244321}">
                <p14:modId xmlns:p14="http://schemas.microsoft.com/office/powerpoint/2010/main" val="223458991"/>
              </p:ext>
            </p:extLst>
          </p:nvPr>
        </p:nvGraphicFramePr>
        <p:xfrm>
          <a:off x="838200" y="2055802"/>
          <a:ext cx="10515599" cy="4732750"/>
        </p:xfrm>
        <a:graphic>
          <a:graphicData uri="http://schemas.openxmlformats.org/drawingml/2006/table">
            <a:tbl>
              <a:tblPr firstRow="1" firstCol="1" bandRow="1">
                <a:tableStyleId>{1FECB4D8-DB02-4DC6-A0A2-4F2EBAE1DC90}</a:tableStyleId>
              </a:tblPr>
              <a:tblGrid>
                <a:gridCol w="2077554">
                  <a:extLst>
                    <a:ext uri="{9D8B030D-6E8A-4147-A177-3AD203B41FA5}">
                      <a16:colId xmlns:a16="http://schemas.microsoft.com/office/drawing/2014/main" val="3401237413"/>
                    </a:ext>
                  </a:extLst>
                </a:gridCol>
                <a:gridCol w="2076209">
                  <a:extLst>
                    <a:ext uri="{9D8B030D-6E8A-4147-A177-3AD203B41FA5}">
                      <a16:colId xmlns:a16="http://schemas.microsoft.com/office/drawing/2014/main" val="4218220590"/>
                    </a:ext>
                  </a:extLst>
                </a:gridCol>
                <a:gridCol w="2080246">
                  <a:extLst>
                    <a:ext uri="{9D8B030D-6E8A-4147-A177-3AD203B41FA5}">
                      <a16:colId xmlns:a16="http://schemas.microsoft.com/office/drawing/2014/main" val="1427970717"/>
                    </a:ext>
                  </a:extLst>
                </a:gridCol>
                <a:gridCol w="2216147">
                  <a:extLst>
                    <a:ext uri="{9D8B030D-6E8A-4147-A177-3AD203B41FA5}">
                      <a16:colId xmlns:a16="http://schemas.microsoft.com/office/drawing/2014/main" val="2169230817"/>
                    </a:ext>
                  </a:extLst>
                </a:gridCol>
                <a:gridCol w="2065443">
                  <a:extLst>
                    <a:ext uri="{9D8B030D-6E8A-4147-A177-3AD203B41FA5}">
                      <a16:colId xmlns:a16="http://schemas.microsoft.com/office/drawing/2014/main" val="2334313446"/>
                    </a:ext>
                  </a:extLst>
                </a:gridCol>
              </a:tblGrid>
              <a:tr h="581288">
                <a:tc>
                  <a:txBody>
                    <a:bodyPr/>
                    <a:lstStyle/>
                    <a:p>
                      <a:pPr marL="0" marR="0" algn="ctr">
                        <a:lnSpc>
                          <a:spcPct val="107000"/>
                        </a:lnSpc>
                        <a:spcAft>
                          <a:spcPts val="800"/>
                        </a:spcAft>
                        <a:buNone/>
                      </a:pPr>
                      <a:r>
                        <a:rPr lang="en-US" sz="2000" kern="100">
                          <a:effectLst/>
                        </a:rPr>
                        <a:t>Asset #</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Data Type</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Owner</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Classification</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100" dirty="0">
                          <a:effectLst/>
                        </a:rPr>
                        <a:t>Linked Cyber Asset</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90059687"/>
                  </a:ext>
                </a:extLst>
              </a:tr>
              <a:tr h="878290">
                <a:tc>
                  <a:txBody>
                    <a:bodyPr/>
                    <a:lstStyle/>
                    <a:p>
                      <a:pPr marL="0" marR="0" algn="ctr">
                        <a:lnSpc>
                          <a:spcPct val="107000"/>
                        </a:lnSpc>
                        <a:spcAft>
                          <a:spcPts val="800"/>
                        </a:spcAft>
                        <a:buNone/>
                      </a:pPr>
                      <a:r>
                        <a:rPr lang="en-US" sz="2000" kern="100" dirty="0">
                          <a:effectLst/>
                        </a:rPr>
                        <a:t>IA1</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Patient Health Information</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Healthcare Division</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Restricted and Confidential </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A1</a:t>
                      </a:r>
                    </a:p>
                    <a:p>
                      <a:pPr marL="0" marR="0" algn="ctr">
                        <a:lnSpc>
                          <a:spcPct val="107000"/>
                        </a:lnSpc>
                        <a:spcAft>
                          <a:spcPts val="800"/>
                        </a:spcAft>
                        <a:buNone/>
                      </a:pPr>
                      <a:r>
                        <a:rPr lang="en-US" sz="1600" kern="100">
                          <a:effectLst/>
                        </a:rPr>
                        <a:t>A5</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2732386245"/>
                  </a:ext>
                </a:extLst>
              </a:tr>
              <a:tr h="581288">
                <a:tc>
                  <a:txBody>
                    <a:bodyPr/>
                    <a:lstStyle/>
                    <a:p>
                      <a:pPr marL="0" marR="0" algn="ctr">
                        <a:lnSpc>
                          <a:spcPct val="107000"/>
                        </a:lnSpc>
                        <a:spcAft>
                          <a:spcPts val="800"/>
                        </a:spcAft>
                        <a:buNone/>
                      </a:pPr>
                      <a:r>
                        <a:rPr lang="en-US" sz="2000" kern="100">
                          <a:effectLst/>
                        </a:rPr>
                        <a:t>IA2</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Credit Card Payment Info</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Fintech Division</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Restricted and Confidential</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A6</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2838941772"/>
                  </a:ext>
                </a:extLst>
              </a:tr>
              <a:tr h="878290">
                <a:tc>
                  <a:txBody>
                    <a:bodyPr/>
                    <a:lstStyle/>
                    <a:p>
                      <a:pPr marL="0" marR="0" algn="ctr">
                        <a:lnSpc>
                          <a:spcPct val="107000"/>
                        </a:lnSpc>
                        <a:spcAft>
                          <a:spcPts val="800"/>
                        </a:spcAft>
                        <a:buNone/>
                      </a:pPr>
                      <a:r>
                        <a:rPr lang="en-US" sz="2000" kern="100">
                          <a:effectLst/>
                        </a:rPr>
                        <a:t>IA3</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AlphaCorp Intellectual Property</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AlphaCorp Leadership</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Restricted</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A1</a:t>
                      </a:r>
                    </a:p>
                    <a:p>
                      <a:pPr marL="0" marR="0" algn="ctr">
                        <a:lnSpc>
                          <a:spcPct val="107000"/>
                        </a:lnSpc>
                        <a:spcAft>
                          <a:spcPts val="800"/>
                        </a:spcAft>
                        <a:buNone/>
                      </a:pPr>
                      <a:r>
                        <a:rPr lang="en-US" sz="1600" kern="100">
                          <a:effectLst/>
                        </a:rPr>
                        <a:t>A4</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3570107325"/>
                  </a:ext>
                </a:extLst>
              </a:tr>
              <a:tr h="878290">
                <a:tc>
                  <a:txBody>
                    <a:bodyPr/>
                    <a:lstStyle/>
                    <a:p>
                      <a:pPr marL="0" marR="0" algn="ctr">
                        <a:lnSpc>
                          <a:spcPct val="107000"/>
                        </a:lnSpc>
                        <a:spcAft>
                          <a:spcPts val="800"/>
                        </a:spcAft>
                        <a:buNone/>
                      </a:pPr>
                      <a:r>
                        <a:rPr lang="en-US" sz="2000" kern="100">
                          <a:effectLst/>
                        </a:rPr>
                        <a:t>IA4</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AlphaCorp Financial Records</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AlphaCorp Leadership</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Confidential</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A1</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2465125407"/>
                  </a:ext>
                </a:extLst>
              </a:tr>
              <a:tr h="878290">
                <a:tc>
                  <a:txBody>
                    <a:bodyPr/>
                    <a:lstStyle/>
                    <a:p>
                      <a:pPr marL="0" marR="0" algn="ctr">
                        <a:lnSpc>
                          <a:spcPct val="107000"/>
                        </a:lnSpc>
                        <a:spcAft>
                          <a:spcPts val="800"/>
                        </a:spcAft>
                        <a:buNone/>
                      </a:pPr>
                      <a:r>
                        <a:rPr lang="en-US" sz="2000" kern="100" dirty="0">
                          <a:effectLst/>
                        </a:rPr>
                        <a:t>IA5</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Customer Payment Information</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E-Commerce Division</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Confidential</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A3</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tx1">
                        <a:alpha val="70000"/>
                      </a:schemeClr>
                    </a:solidFill>
                  </a:tcPr>
                </a:tc>
                <a:extLst>
                  <a:ext uri="{0D108BD9-81ED-4DB2-BD59-A6C34878D82A}">
                    <a16:rowId xmlns:a16="http://schemas.microsoft.com/office/drawing/2014/main" val="3626003734"/>
                  </a:ext>
                </a:extLst>
              </a:tr>
            </a:tbl>
          </a:graphicData>
        </a:graphic>
      </p:graphicFrame>
    </p:spTree>
    <p:extLst>
      <p:ext uri="{BB962C8B-B14F-4D97-AF65-F5344CB8AC3E}">
        <p14:creationId xmlns:p14="http://schemas.microsoft.com/office/powerpoint/2010/main" val="3861319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30E54-BE39-F32E-0683-B36D11F81C6A}"/>
            </a:ext>
          </a:extLst>
        </p:cNvPr>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FE5F972A-6727-DD77-5209-7C2B91298CD9}"/>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4" name="Title 3">
            <a:extLst>
              <a:ext uri="{FF2B5EF4-FFF2-40B4-BE49-F238E27FC236}">
                <a16:creationId xmlns:a16="http://schemas.microsoft.com/office/drawing/2014/main" id="{A0AA97BE-FB3F-665B-CA2C-4E74E2999548}"/>
              </a:ext>
            </a:extLst>
          </p:cNvPr>
          <p:cNvSpPr>
            <a:spLocks noGrp="1"/>
          </p:cNvSpPr>
          <p:nvPr>
            <p:ph type="title"/>
          </p:nvPr>
        </p:nvSpPr>
        <p:spPr/>
        <p:txBody>
          <a:bodyPr/>
          <a:lstStyle/>
          <a:p>
            <a:r>
              <a:rPr lang="en-US" dirty="0"/>
              <a:t>Compliance Assessment</a:t>
            </a:r>
          </a:p>
        </p:txBody>
      </p:sp>
      <p:graphicFrame>
        <p:nvGraphicFramePr>
          <p:cNvPr id="5" name="Content Placeholder 4">
            <a:extLst>
              <a:ext uri="{FF2B5EF4-FFF2-40B4-BE49-F238E27FC236}">
                <a16:creationId xmlns:a16="http://schemas.microsoft.com/office/drawing/2014/main" id="{25906E06-F02F-B326-FC2C-238C4F95F631}"/>
              </a:ext>
            </a:extLst>
          </p:cNvPr>
          <p:cNvGraphicFramePr>
            <a:graphicFrameLocks noGrp="1"/>
          </p:cNvGraphicFramePr>
          <p:nvPr>
            <p:ph idx="1"/>
            <p:extLst>
              <p:ext uri="{D42A27DB-BD31-4B8C-83A1-F6EECF244321}">
                <p14:modId xmlns:p14="http://schemas.microsoft.com/office/powerpoint/2010/main" val="639984398"/>
              </p:ext>
            </p:extLst>
          </p:nvPr>
        </p:nvGraphicFramePr>
        <p:xfrm>
          <a:off x="838200" y="1483445"/>
          <a:ext cx="10515600" cy="5305474"/>
        </p:xfrm>
        <a:graphic>
          <a:graphicData uri="http://schemas.openxmlformats.org/drawingml/2006/table">
            <a:tbl>
              <a:tblPr firstRow="1" firstCol="1" bandRow="1">
                <a:tableStyleId>{1FECB4D8-DB02-4DC6-A0A2-4F2EBAE1DC90}</a:tableStyleId>
              </a:tblPr>
              <a:tblGrid>
                <a:gridCol w="2624857">
                  <a:extLst>
                    <a:ext uri="{9D8B030D-6E8A-4147-A177-3AD203B41FA5}">
                      <a16:colId xmlns:a16="http://schemas.microsoft.com/office/drawing/2014/main" val="2174391787"/>
                    </a:ext>
                  </a:extLst>
                </a:gridCol>
                <a:gridCol w="2631819">
                  <a:extLst>
                    <a:ext uri="{9D8B030D-6E8A-4147-A177-3AD203B41FA5}">
                      <a16:colId xmlns:a16="http://schemas.microsoft.com/office/drawing/2014/main" val="4151397877"/>
                    </a:ext>
                  </a:extLst>
                </a:gridCol>
                <a:gridCol w="1519419">
                  <a:extLst>
                    <a:ext uri="{9D8B030D-6E8A-4147-A177-3AD203B41FA5}">
                      <a16:colId xmlns:a16="http://schemas.microsoft.com/office/drawing/2014/main" val="1711508389"/>
                    </a:ext>
                  </a:extLst>
                </a:gridCol>
                <a:gridCol w="3739505">
                  <a:extLst>
                    <a:ext uri="{9D8B030D-6E8A-4147-A177-3AD203B41FA5}">
                      <a16:colId xmlns:a16="http://schemas.microsoft.com/office/drawing/2014/main" val="4144352473"/>
                    </a:ext>
                  </a:extLst>
                </a:gridCol>
              </a:tblGrid>
              <a:tr h="176283">
                <a:tc>
                  <a:txBody>
                    <a:bodyPr/>
                    <a:lstStyle/>
                    <a:p>
                      <a:pPr marL="0" marR="0" algn="ctr">
                        <a:lnSpc>
                          <a:spcPct val="107000"/>
                        </a:lnSpc>
                        <a:spcAft>
                          <a:spcPts val="800"/>
                        </a:spcAft>
                        <a:buNone/>
                      </a:pPr>
                      <a:r>
                        <a:rPr lang="en-US" sz="2000" kern="100" dirty="0">
                          <a:effectLst/>
                        </a:rPr>
                        <a:t>Requirement</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tc>
                <a:tc>
                  <a:txBody>
                    <a:bodyPr/>
                    <a:lstStyle/>
                    <a:p>
                      <a:pPr marL="0" marR="0" algn="ctr">
                        <a:lnSpc>
                          <a:spcPct val="107000"/>
                        </a:lnSpc>
                        <a:spcAft>
                          <a:spcPts val="800"/>
                        </a:spcAft>
                        <a:buNone/>
                      </a:pPr>
                      <a:r>
                        <a:rPr lang="en-US" sz="2000" kern="100" dirty="0">
                          <a:effectLst/>
                        </a:rPr>
                        <a:t>Asset / Process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tc>
                <a:tc>
                  <a:txBody>
                    <a:bodyPr/>
                    <a:lstStyle/>
                    <a:p>
                      <a:pPr marL="0" marR="0" algn="ctr">
                        <a:lnSpc>
                          <a:spcPct val="107000"/>
                        </a:lnSpc>
                        <a:spcAft>
                          <a:spcPts val="800"/>
                        </a:spcAft>
                        <a:buNone/>
                      </a:pPr>
                      <a:r>
                        <a:rPr lang="en-US" sz="2000" kern="100" dirty="0">
                          <a:effectLst/>
                        </a:rPr>
                        <a:t>Status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tc>
                <a:tc>
                  <a:txBody>
                    <a:bodyPr/>
                    <a:lstStyle/>
                    <a:p>
                      <a:pPr marL="0" marR="0" algn="ctr">
                        <a:lnSpc>
                          <a:spcPct val="107000"/>
                        </a:lnSpc>
                        <a:spcAft>
                          <a:spcPts val="800"/>
                        </a:spcAft>
                        <a:buNone/>
                      </a:pPr>
                      <a:r>
                        <a:rPr lang="en-US" sz="2000" kern="100" dirty="0">
                          <a:effectLst/>
                        </a:rPr>
                        <a:t>Gap</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tc>
                <a:extLst>
                  <a:ext uri="{0D108BD9-81ED-4DB2-BD59-A6C34878D82A}">
                    <a16:rowId xmlns:a16="http://schemas.microsoft.com/office/drawing/2014/main" val="869355426"/>
                  </a:ext>
                </a:extLst>
              </a:tr>
              <a:tr h="1341974">
                <a:tc>
                  <a:txBody>
                    <a:bodyPr/>
                    <a:lstStyle/>
                    <a:p>
                      <a:pPr marL="0" marR="0" algn="ctr">
                        <a:lnSpc>
                          <a:spcPct val="107000"/>
                        </a:lnSpc>
                        <a:spcAft>
                          <a:spcPts val="800"/>
                        </a:spcAft>
                        <a:buNone/>
                      </a:pPr>
                      <a:r>
                        <a:rPr lang="en-US" sz="2000" kern="100" dirty="0">
                          <a:effectLst/>
                        </a:rPr>
                        <a:t>GDPR (E-Commerce)</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IA2 - Credit Card Payment Info</a:t>
                      </a:r>
                    </a:p>
                    <a:p>
                      <a:pPr marL="0" marR="0" algn="ctr">
                        <a:lnSpc>
                          <a:spcPct val="107000"/>
                        </a:lnSpc>
                        <a:spcAft>
                          <a:spcPts val="800"/>
                        </a:spcAft>
                        <a:buNone/>
                      </a:pPr>
                      <a:r>
                        <a:rPr lang="en-US" sz="1600" kern="100" dirty="0">
                          <a:effectLst/>
                        </a:rPr>
                        <a:t>IA5 - Customer Payment Information</a:t>
                      </a:r>
                    </a:p>
                    <a:p>
                      <a:pPr marL="0" marR="0" algn="ctr">
                        <a:lnSpc>
                          <a:spcPct val="107000"/>
                        </a:lnSpc>
                        <a:spcAft>
                          <a:spcPts val="800"/>
                        </a:spcAft>
                        <a:buNone/>
                      </a:pPr>
                      <a:r>
                        <a:rPr lang="en-US" sz="1600" kern="100" dirty="0">
                          <a:effectLst/>
                        </a:rPr>
                        <a:t>A3 – E-commerce site</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Partial</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Data integrity concerns include vulnerabilities in the system. No documented policies for notifying of a data breach.</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extLst>
                  <a:ext uri="{0D108BD9-81ED-4DB2-BD59-A6C34878D82A}">
                    <a16:rowId xmlns:a16="http://schemas.microsoft.com/office/drawing/2014/main" val="2226360102"/>
                  </a:ext>
                </a:extLst>
              </a:tr>
              <a:tr h="854167">
                <a:tc>
                  <a:txBody>
                    <a:bodyPr/>
                    <a:lstStyle/>
                    <a:p>
                      <a:pPr marL="0" marR="0" algn="ctr">
                        <a:lnSpc>
                          <a:spcPct val="107000"/>
                        </a:lnSpc>
                        <a:spcAft>
                          <a:spcPts val="800"/>
                        </a:spcAft>
                        <a:buNone/>
                      </a:pPr>
                      <a:r>
                        <a:rPr lang="en-US" sz="2000" kern="100">
                          <a:effectLst/>
                        </a:rPr>
                        <a:t>HIPPA (Healthcare)</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IA1 - Patient Health Information</a:t>
                      </a:r>
                    </a:p>
                    <a:p>
                      <a:pPr marL="0" marR="0" algn="ctr">
                        <a:lnSpc>
                          <a:spcPct val="107000"/>
                        </a:lnSpc>
                        <a:spcAft>
                          <a:spcPts val="800"/>
                        </a:spcAft>
                        <a:buNone/>
                      </a:pPr>
                      <a:r>
                        <a:rPr lang="en-US" sz="1600" kern="100" dirty="0">
                          <a:effectLst/>
                        </a:rPr>
                        <a:t>A5 - Patient Records system</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Partial</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Legacy servers combined with no auditing process lead to partial noncompliance.</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extLst>
                  <a:ext uri="{0D108BD9-81ED-4DB2-BD59-A6C34878D82A}">
                    <a16:rowId xmlns:a16="http://schemas.microsoft.com/office/drawing/2014/main" val="1116882527"/>
                  </a:ext>
                </a:extLst>
              </a:tr>
              <a:tr h="1341974">
                <a:tc>
                  <a:txBody>
                    <a:bodyPr/>
                    <a:lstStyle/>
                    <a:p>
                      <a:pPr marL="0" marR="0" algn="ctr">
                        <a:lnSpc>
                          <a:spcPct val="107000"/>
                        </a:lnSpc>
                        <a:spcAft>
                          <a:spcPts val="800"/>
                        </a:spcAft>
                        <a:buNone/>
                      </a:pPr>
                      <a:r>
                        <a:rPr lang="en-US" sz="2000" kern="100">
                          <a:effectLst/>
                        </a:rPr>
                        <a:t>PCI-DSS (Fintech)</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A6 - Payment Processing</a:t>
                      </a:r>
                    </a:p>
                    <a:p>
                      <a:pPr marL="0" marR="0" algn="ctr">
                        <a:lnSpc>
                          <a:spcPct val="107000"/>
                        </a:lnSpc>
                        <a:spcAft>
                          <a:spcPts val="800"/>
                        </a:spcAft>
                        <a:buNone/>
                      </a:pPr>
                      <a:r>
                        <a:rPr lang="en-US" sz="1600" kern="100">
                          <a:effectLst/>
                        </a:rPr>
                        <a:t>IA2 - Credit Card Payment Info</a:t>
                      </a:r>
                    </a:p>
                    <a:p>
                      <a:pPr marL="0" marR="0" algn="ctr">
                        <a:lnSpc>
                          <a:spcPct val="107000"/>
                        </a:lnSpc>
                        <a:spcAft>
                          <a:spcPts val="800"/>
                        </a:spcAft>
                        <a:buNone/>
                      </a:pPr>
                      <a:r>
                        <a:rPr lang="en-US" sz="1600" kern="100">
                          <a:effectLst/>
                        </a:rPr>
                        <a:t>IA5 - Customer Payment Information</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Compliant</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End-to-end encryption ensures compliance with this sensitive financial data.</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extLst>
                  <a:ext uri="{0D108BD9-81ED-4DB2-BD59-A6C34878D82A}">
                    <a16:rowId xmlns:a16="http://schemas.microsoft.com/office/drawing/2014/main" val="2177702142"/>
                  </a:ext>
                </a:extLst>
              </a:tr>
              <a:tr h="1126666">
                <a:tc>
                  <a:txBody>
                    <a:bodyPr/>
                    <a:lstStyle/>
                    <a:p>
                      <a:pPr marL="0" marR="0" algn="ctr">
                        <a:lnSpc>
                          <a:spcPct val="107000"/>
                        </a:lnSpc>
                        <a:spcAft>
                          <a:spcPts val="800"/>
                        </a:spcAft>
                        <a:buNone/>
                      </a:pPr>
                      <a:r>
                        <a:rPr lang="en-US" sz="2000" kern="100" dirty="0">
                          <a:effectLst/>
                        </a:rPr>
                        <a:t>NIST (Security Framework)</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A1-A6</a:t>
                      </a:r>
                    </a:p>
                    <a:p>
                      <a:pPr marL="0" marR="0" algn="ctr">
                        <a:lnSpc>
                          <a:spcPct val="107000"/>
                        </a:lnSpc>
                        <a:spcAft>
                          <a:spcPts val="800"/>
                        </a:spcAft>
                        <a:buNone/>
                      </a:pPr>
                      <a:r>
                        <a:rPr lang="en-US" sz="1600" kern="100">
                          <a:effectLst/>
                        </a:rPr>
                        <a:t>IA1-IA5</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Non-compliance</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No consistent penetration testing coupled with outdated infrastructure and no continuous monitoring processes in place lead to non-compliance here.</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65315" marR="65315" marT="0" marB="0" anchor="ctr">
                    <a:solidFill>
                      <a:schemeClr val="tx1">
                        <a:alpha val="70000"/>
                      </a:schemeClr>
                    </a:solidFill>
                  </a:tcPr>
                </a:tc>
                <a:extLst>
                  <a:ext uri="{0D108BD9-81ED-4DB2-BD59-A6C34878D82A}">
                    <a16:rowId xmlns:a16="http://schemas.microsoft.com/office/drawing/2014/main" val="1359901539"/>
                  </a:ext>
                </a:extLst>
              </a:tr>
            </a:tbl>
          </a:graphicData>
        </a:graphic>
      </p:graphicFrame>
    </p:spTree>
    <p:extLst>
      <p:ext uri="{BB962C8B-B14F-4D97-AF65-F5344CB8AC3E}">
        <p14:creationId xmlns:p14="http://schemas.microsoft.com/office/powerpoint/2010/main" val="234789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271F-3807-1AF2-1C51-DAF73B409A80}"/>
            </a:ext>
          </a:extLst>
        </p:cNvPr>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EA953DB0-E391-5071-EFD1-F246F005A068}"/>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4" name="Title 3">
            <a:extLst>
              <a:ext uri="{FF2B5EF4-FFF2-40B4-BE49-F238E27FC236}">
                <a16:creationId xmlns:a16="http://schemas.microsoft.com/office/drawing/2014/main" id="{1AA68BED-59D6-1AEA-30FD-5A3AB0FFEDE2}"/>
              </a:ext>
            </a:extLst>
          </p:cNvPr>
          <p:cNvSpPr>
            <a:spLocks noGrp="1"/>
          </p:cNvSpPr>
          <p:nvPr>
            <p:ph type="title"/>
          </p:nvPr>
        </p:nvSpPr>
        <p:spPr/>
        <p:txBody>
          <a:bodyPr/>
          <a:lstStyle/>
          <a:p>
            <a:r>
              <a:rPr lang="en-US" dirty="0"/>
              <a:t>Business Process Map and Data Flow Diagram</a:t>
            </a:r>
          </a:p>
        </p:txBody>
      </p:sp>
      <p:pic>
        <p:nvPicPr>
          <p:cNvPr id="5" name="Picture 4" descr="A diagram of a diagram&#10;&#10;AI-generated content may be incorrect.">
            <a:extLst>
              <a:ext uri="{FF2B5EF4-FFF2-40B4-BE49-F238E27FC236}">
                <a16:creationId xmlns:a16="http://schemas.microsoft.com/office/drawing/2014/main" id="{6A2C4573-204D-6259-F9B9-032F7FD6891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501" y="1861022"/>
            <a:ext cx="11746731" cy="2331802"/>
          </a:xfrm>
          <a:prstGeom prst="rect">
            <a:avLst/>
          </a:prstGeom>
          <a:noFill/>
          <a:ln>
            <a:noFill/>
          </a:ln>
        </p:spPr>
      </p:pic>
      <p:pic>
        <p:nvPicPr>
          <p:cNvPr id="8" name="Picture 7" descr="A diagram of a flowchart&#10;&#10;AI-generated content may be incorrect.">
            <a:extLst>
              <a:ext uri="{FF2B5EF4-FFF2-40B4-BE49-F238E27FC236}">
                <a16:creationId xmlns:a16="http://schemas.microsoft.com/office/drawing/2014/main" id="{76953D65-16F1-D091-84AB-81265A9F5F3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83760" y="4300760"/>
            <a:ext cx="9072211" cy="2449303"/>
          </a:xfrm>
          <a:prstGeom prst="rect">
            <a:avLst/>
          </a:prstGeom>
          <a:noFill/>
          <a:ln>
            <a:noFill/>
          </a:ln>
        </p:spPr>
      </p:pic>
    </p:spTree>
    <p:extLst>
      <p:ext uri="{BB962C8B-B14F-4D97-AF65-F5344CB8AC3E}">
        <p14:creationId xmlns:p14="http://schemas.microsoft.com/office/powerpoint/2010/main" val="1893173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E7D81-2C1A-CF9A-743C-CF4C7025BEF0}"/>
            </a:ext>
          </a:extLst>
        </p:cNvPr>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0AFC3853-4952-AADC-B5FE-B6B3E14E0C7F}"/>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4" name="Title 3">
            <a:extLst>
              <a:ext uri="{FF2B5EF4-FFF2-40B4-BE49-F238E27FC236}">
                <a16:creationId xmlns:a16="http://schemas.microsoft.com/office/drawing/2014/main" id="{218B9A23-2D6D-CFFF-8584-94B0D41BC8CA}"/>
              </a:ext>
            </a:extLst>
          </p:cNvPr>
          <p:cNvSpPr>
            <a:spLocks noGrp="1"/>
          </p:cNvSpPr>
          <p:nvPr>
            <p:ph type="title"/>
          </p:nvPr>
        </p:nvSpPr>
        <p:spPr/>
        <p:txBody>
          <a:bodyPr/>
          <a:lstStyle/>
          <a:p>
            <a:r>
              <a:rPr lang="en-US" dirty="0"/>
              <a:t>Critical Linkages</a:t>
            </a:r>
          </a:p>
        </p:txBody>
      </p:sp>
      <p:graphicFrame>
        <p:nvGraphicFramePr>
          <p:cNvPr id="6" name="Content Placeholder 5">
            <a:extLst>
              <a:ext uri="{FF2B5EF4-FFF2-40B4-BE49-F238E27FC236}">
                <a16:creationId xmlns:a16="http://schemas.microsoft.com/office/drawing/2014/main" id="{1FAB00DB-3947-A798-2CB9-A589DF364D43}"/>
              </a:ext>
            </a:extLst>
          </p:cNvPr>
          <p:cNvGraphicFramePr>
            <a:graphicFrameLocks noGrp="1"/>
          </p:cNvGraphicFramePr>
          <p:nvPr>
            <p:ph idx="1"/>
            <p:extLst>
              <p:ext uri="{D42A27DB-BD31-4B8C-83A1-F6EECF244321}">
                <p14:modId xmlns:p14="http://schemas.microsoft.com/office/powerpoint/2010/main" val="2461718592"/>
              </p:ext>
            </p:extLst>
          </p:nvPr>
        </p:nvGraphicFramePr>
        <p:xfrm>
          <a:off x="838199" y="1690688"/>
          <a:ext cx="10515600" cy="5052061"/>
        </p:xfrm>
        <a:graphic>
          <a:graphicData uri="http://schemas.openxmlformats.org/drawingml/2006/table">
            <a:tbl>
              <a:tblPr firstRow="1" firstCol="1" bandRow="1">
                <a:tableStyleId>{1FECB4D8-DB02-4DC6-A0A2-4F2EBAE1DC90}</a:tableStyleId>
              </a:tblPr>
              <a:tblGrid>
                <a:gridCol w="3504452">
                  <a:extLst>
                    <a:ext uri="{9D8B030D-6E8A-4147-A177-3AD203B41FA5}">
                      <a16:colId xmlns:a16="http://schemas.microsoft.com/office/drawing/2014/main" val="2267259445"/>
                    </a:ext>
                  </a:extLst>
                </a:gridCol>
                <a:gridCol w="3505574">
                  <a:extLst>
                    <a:ext uri="{9D8B030D-6E8A-4147-A177-3AD203B41FA5}">
                      <a16:colId xmlns:a16="http://schemas.microsoft.com/office/drawing/2014/main" val="3980544671"/>
                    </a:ext>
                  </a:extLst>
                </a:gridCol>
                <a:gridCol w="3505574">
                  <a:extLst>
                    <a:ext uri="{9D8B030D-6E8A-4147-A177-3AD203B41FA5}">
                      <a16:colId xmlns:a16="http://schemas.microsoft.com/office/drawing/2014/main" val="54044518"/>
                    </a:ext>
                  </a:extLst>
                </a:gridCol>
              </a:tblGrid>
              <a:tr h="127911">
                <a:tc>
                  <a:txBody>
                    <a:bodyPr/>
                    <a:lstStyle/>
                    <a:p>
                      <a:pPr marL="0" marR="0" algn="ctr">
                        <a:lnSpc>
                          <a:spcPct val="107000"/>
                        </a:lnSpc>
                        <a:spcAft>
                          <a:spcPts val="800"/>
                        </a:spcAft>
                        <a:buNone/>
                      </a:pPr>
                      <a:r>
                        <a:rPr lang="en-US" sz="2000" kern="100" dirty="0">
                          <a:effectLst/>
                        </a:rPr>
                        <a:t>Asset #</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tc>
                <a:tc>
                  <a:txBody>
                    <a:bodyPr/>
                    <a:lstStyle/>
                    <a:p>
                      <a:pPr marL="0" marR="0" algn="ctr">
                        <a:lnSpc>
                          <a:spcPct val="107000"/>
                        </a:lnSpc>
                        <a:spcAft>
                          <a:spcPts val="800"/>
                        </a:spcAft>
                        <a:buNone/>
                      </a:pPr>
                      <a:r>
                        <a:rPr lang="en-US" sz="2000" kern="100" dirty="0">
                          <a:effectLst/>
                        </a:rPr>
                        <a:t>Information Asset</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tc>
                <a:tc>
                  <a:txBody>
                    <a:bodyPr/>
                    <a:lstStyle/>
                    <a:p>
                      <a:pPr marL="0" marR="0" algn="ctr">
                        <a:lnSpc>
                          <a:spcPct val="107000"/>
                        </a:lnSpc>
                        <a:spcAft>
                          <a:spcPts val="800"/>
                        </a:spcAft>
                        <a:buNone/>
                      </a:pPr>
                      <a:r>
                        <a:rPr lang="en-US" sz="2000" kern="100" dirty="0">
                          <a:effectLst/>
                        </a:rPr>
                        <a:t>Connection</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tc>
                <a:extLst>
                  <a:ext uri="{0D108BD9-81ED-4DB2-BD59-A6C34878D82A}">
                    <a16:rowId xmlns:a16="http://schemas.microsoft.com/office/drawing/2014/main" val="2887342688"/>
                  </a:ext>
                </a:extLst>
              </a:tr>
              <a:tr h="973735">
                <a:tc>
                  <a:txBody>
                    <a:bodyPr/>
                    <a:lstStyle/>
                    <a:p>
                      <a:pPr marL="0" marR="0" algn="ctr">
                        <a:lnSpc>
                          <a:spcPct val="107000"/>
                        </a:lnSpc>
                        <a:spcAft>
                          <a:spcPts val="800"/>
                        </a:spcAft>
                        <a:buNone/>
                      </a:pPr>
                      <a:r>
                        <a:rPr lang="en-US" sz="2000" kern="100" dirty="0">
                          <a:effectLst/>
                        </a:rPr>
                        <a:t>A2 – Private Servers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IA1 - Patient Health Information</a:t>
                      </a:r>
                    </a:p>
                    <a:p>
                      <a:pPr marL="0" marR="0" algn="ctr">
                        <a:lnSpc>
                          <a:spcPct val="107000"/>
                        </a:lnSpc>
                        <a:spcAft>
                          <a:spcPts val="800"/>
                        </a:spcAft>
                        <a:buNone/>
                      </a:pPr>
                      <a:r>
                        <a:rPr lang="en-US" sz="1600" kern="100">
                          <a:effectLst/>
                        </a:rPr>
                        <a:t>IA3 - AlphaCorp Intellectual Property</a:t>
                      </a:r>
                    </a:p>
                    <a:p>
                      <a:pPr marL="0" marR="0" algn="ctr">
                        <a:lnSpc>
                          <a:spcPct val="107000"/>
                        </a:lnSpc>
                        <a:spcAft>
                          <a:spcPts val="800"/>
                        </a:spcAft>
                        <a:buNone/>
                      </a:pPr>
                      <a:r>
                        <a:rPr lang="en-US" sz="1600" kern="100">
                          <a:effectLst/>
                        </a:rPr>
                        <a:t>IA4 - AlphaCorp Financial Records</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A2 acts as the storge of these information assets. A security breach of A2 puts all core data at risk. </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extLst>
                  <a:ext uri="{0D108BD9-81ED-4DB2-BD59-A6C34878D82A}">
                    <a16:rowId xmlns:a16="http://schemas.microsoft.com/office/drawing/2014/main" val="2075443216"/>
                  </a:ext>
                </a:extLst>
              </a:tr>
              <a:tr h="835815">
                <a:tc>
                  <a:txBody>
                    <a:bodyPr/>
                    <a:lstStyle/>
                    <a:p>
                      <a:pPr marL="0" marR="0" algn="ctr">
                        <a:lnSpc>
                          <a:spcPct val="107000"/>
                        </a:lnSpc>
                        <a:spcAft>
                          <a:spcPts val="800"/>
                        </a:spcAft>
                        <a:buNone/>
                      </a:pPr>
                      <a:r>
                        <a:rPr lang="en-US" sz="2000" kern="100" dirty="0">
                          <a:effectLst/>
                        </a:rPr>
                        <a:t>A1 - Firewalls</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IA1 - Patient Health Information</a:t>
                      </a:r>
                    </a:p>
                    <a:p>
                      <a:pPr marL="0" marR="0" algn="ctr">
                        <a:lnSpc>
                          <a:spcPct val="107000"/>
                        </a:lnSpc>
                        <a:spcAft>
                          <a:spcPts val="800"/>
                        </a:spcAft>
                        <a:buNone/>
                      </a:pPr>
                      <a:r>
                        <a:rPr lang="en-US" sz="1600" kern="100" dirty="0">
                          <a:effectLst/>
                        </a:rPr>
                        <a:t>IA5 - Customer Payment Information</a:t>
                      </a:r>
                    </a:p>
                    <a:p>
                      <a:pPr marL="0" marR="0" algn="ctr">
                        <a:lnSpc>
                          <a:spcPct val="107000"/>
                        </a:lnSpc>
                        <a:spcAft>
                          <a:spcPts val="800"/>
                        </a:spcAft>
                        <a:buNone/>
                      </a:pPr>
                      <a:r>
                        <a:rPr lang="en-US" sz="1600" kern="100" dirty="0">
                          <a:effectLst/>
                        </a:rPr>
                        <a:t> </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a:effectLst/>
                        </a:rPr>
                        <a:t>A1 acts as the network access point for these information assets. Outdated firewalls represent a security risk for unauthorized access of data in transit.</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extLst>
                  <a:ext uri="{0D108BD9-81ED-4DB2-BD59-A6C34878D82A}">
                    <a16:rowId xmlns:a16="http://schemas.microsoft.com/office/drawing/2014/main" val="2760323756"/>
                  </a:ext>
                </a:extLst>
              </a:tr>
              <a:tr h="1681638">
                <a:tc>
                  <a:txBody>
                    <a:bodyPr/>
                    <a:lstStyle/>
                    <a:p>
                      <a:pPr marL="0" marR="0" algn="ctr">
                        <a:lnSpc>
                          <a:spcPct val="107000"/>
                        </a:lnSpc>
                        <a:spcAft>
                          <a:spcPts val="800"/>
                        </a:spcAft>
                        <a:buNone/>
                      </a:pPr>
                      <a:r>
                        <a:rPr lang="en-US" sz="2000" kern="100">
                          <a:effectLst/>
                        </a:rPr>
                        <a:t>A4 - Computers and laptops</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IA1 - Patient Health Information</a:t>
                      </a:r>
                    </a:p>
                    <a:p>
                      <a:pPr marL="0" marR="0" algn="ctr">
                        <a:lnSpc>
                          <a:spcPct val="107000"/>
                        </a:lnSpc>
                        <a:spcAft>
                          <a:spcPts val="800"/>
                        </a:spcAft>
                        <a:buNone/>
                      </a:pPr>
                      <a:r>
                        <a:rPr lang="en-US" sz="1600" kern="100" dirty="0">
                          <a:effectLst/>
                        </a:rPr>
                        <a:t>IA2 - Credit Card Payment Info</a:t>
                      </a:r>
                    </a:p>
                    <a:p>
                      <a:pPr marL="0" marR="0" algn="ctr">
                        <a:lnSpc>
                          <a:spcPct val="107000"/>
                        </a:lnSpc>
                        <a:spcAft>
                          <a:spcPts val="800"/>
                        </a:spcAft>
                        <a:buNone/>
                      </a:pPr>
                      <a:r>
                        <a:rPr lang="en-US" sz="1600" kern="100" dirty="0">
                          <a:effectLst/>
                        </a:rPr>
                        <a:t>IA3 - AlphaCorp Intellectual Property</a:t>
                      </a:r>
                    </a:p>
                    <a:p>
                      <a:pPr marL="0" marR="0" algn="ctr">
                        <a:lnSpc>
                          <a:spcPct val="107000"/>
                        </a:lnSpc>
                        <a:spcAft>
                          <a:spcPts val="800"/>
                        </a:spcAft>
                        <a:buNone/>
                      </a:pPr>
                      <a:r>
                        <a:rPr lang="en-US" sz="1600" kern="100" dirty="0">
                          <a:effectLst/>
                        </a:rPr>
                        <a:t>IA4 - AlphaCorp Financial Records</a:t>
                      </a:r>
                    </a:p>
                    <a:p>
                      <a:pPr marL="0" marR="0" algn="ctr">
                        <a:lnSpc>
                          <a:spcPct val="107000"/>
                        </a:lnSpc>
                        <a:spcAft>
                          <a:spcPts val="800"/>
                        </a:spcAft>
                        <a:buNone/>
                      </a:pPr>
                      <a:r>
                        <a:rPr lang="en-US" sz="1600" kern="100" dirty="0">
                          <a:effectLst/>
                        </a:rPr>
                        <a:t>IA5 - Customer Payment Information</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An employee laptop acts as an access point to all of these information assets. A stolen or compromised computer could lead to theft of IA3, or other sensitive customer information and data.</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extLst>
                  <a:ext uri="{0D108BD9-81ED-4DB2-BD59-A6C34878D82A}">
                    <a16:rowId xmlns:a16="http://schemas.microsoft.com/office/drawing/2014/main" val="2588084710"/>
                  </a:ext>
                </a:extLst>
              </a:tr>
              <a:tr h="817507">
                <a:tc>
                  <a:txBody>
                    <a:bodyPr/>
                    <a:lstStyle/>
                    <a:p>
                      <a:pPr marL="0" marR="0" algn="ctr">
                        <a:lnSpc>
                          <a:spcPct val="107000"/>
                        </a:lnSpc>
                        <a:spcAft>
                          <a:spcPts val="800"/>
                        </a:spcAft>
                        <a:buNone/>
                      </a:pPr>
                      <a:r>
                        <a:rPr lang="en-US" sz="2000" kern="100" dirty="0">
                          <a:effectLst/>
                        </a:rPr>
                        <a:t>A6 - Payment Processing</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IA2 - Credit Card Payment Info</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tc>
                  <a:txBody>
                    <a:bodyPr/>
                    <a:lstStyle/>
                    <a:p>
                      <a:pPr marL="0" marR="0" algn="ctr">
                        <a:lnSpc>
                          <a:spcPct val="107000"/>
                        </a:lnSpc>
                        <a:spcAft>
                          <a:spcPts val="800"/>
                        </a:spcAft>
                        <a:buNone/>
                      </a:pPr>
                      <a:r>
                        <a:rPr lang="en-US" sz="1600" kern="100" dirty="0">
                          <a:effectLst/>
                        </a:rPr>
                        <a:t>A6 directly interacts and processes IA2. An architecture failure here has a direct impact on potential sales and customer trust in AlphaCorp.</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51713" marR="51713" marT="0" marB="0" anchor="ctr">
                    <a:solidFill>
                      <a:schemeClr val="tx1">
                        <a:alpha val="70000"/>
                      </a:schemeClr>
                    </a:solidFill>
                  </a:tcPr>
                </a:tc>
                <a:extLst>
                  <a:ext uri="{0D108BD9-81ED-4DB2-BD59-A6C34878D82A}">
                    <a16:rowId xmlns:a16="http://schemas.microsoft.com/office/drawing/2014/main" val="3237878921"/>
                  </a:ext>
                </a:extLst>
              </a:tr>
            </a:tbl>
          </a:graphicData>
        </a:graphic>
      </p:graphicFrame>
    </p:spTree>
    <p:extLst>
      <p:ext uri="{BB962C8B-B14F-4D97-AF65-F5344CB8AC3E}">
        <p14:creationId xmlns:p14="http://schemas.microsoft.com/office/powerpoint/2010/main" val="1879995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A01F-1C92-5764-9505-F1D9EB964A64}"/>
            </a:ext>
          </a:extLst>
        </p:cNvPr>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2E27909D-DFCC-2360-5B70-F370E3124B6E}"/>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4" name="Title 3">
            <a:extLst>
              <a:ext uri="{FF2B5EF4-FFF2-40B4-BE49-F238E27FC236}">
                <a16:creationId xmlns:a16="http://schemas.microsoft.com/office/drawing/2014/main" id="{2C02C5E5-310F-6598-66A0-4C894A5A2B72}"/>
              </a:ext>
            </a:extLst>
          </p:cNvPr>
          <p:cNvSpPr>
            <a:spLocks noGrp="1"/>
          </p:cNvSpPr>
          <p:nvPr>
            <p:ph type="title"/>
          </p:nvPr>
        </p:nvSpPr>
        <p:spPr>
          <a:xfrm>
            <a:off x="779834" y="0"/>
            <a:ext cx="10515600" cy="1325563"/>
          </a:xfrm>
        </p:spPr>
        <p:txBody>
          <a:bodyPr/>
          <a:lstStyle/>
          <a:p>
            <a:r>
              <a:rPr lang="en-US" dirty="0"/>
              <a:t>Risk And Vulnerability</a:t>
            </a:r>
          </a:p>
        </p:txBody>
      </p:sp>
      <p:graphicFrame>
        <p:nvGraphicFramePr>
          <p:cNvPr id="5" name="Content Placeholder 4">
            <a:extLst>
              <a:ext uri="{FF2B5EF4-FFF2-40B4-BE49-F238E27FC236}">
                <a16:creationId xmlns:a16="http://schemas.microsoft.com/office/drawing/2014/main" id="{5AC0BACD-B4BB-F1E7-D680-CCD9A432758C}"/>
              </a:ext>
            </a:extLst>
          </p:cNvPr>
          <p:cNvGraphicFramePr>
            <a:graphicFrameLocks noGrp="1"/>
          </p:cNvGraphicFramePr>
          <p:nvPr>
            <p:ph idx="1"/>
            <p:extLst>
              <p:ext uri="{D42A27DB-BD31-4B8C-83A1-F6EECF244321}">
                <p14:modId xmlns:p14="http://schemas.microsoft.com/office/powerpoint/2010/main" val="3480156228"/>
              </p:ext>
            </p:extLst>
          </p:nvPr>
        </p:nvGraphicFramePr>
        <p:xfrm>
          <a:off x="779834" y="1061848"/>
          <a:ext cx="10515600" cy="5526595"/>
        </p:xfrm>
        <a:graphic>
          <a:graphicData uri="http://schemas.openxmlformats.org/drawingml/2006/table">
            <a:tbl>
              <a:tblPr firstRow="1" firstCol="1" bandRow="1">
                <a:tableStyleId>{1FECB4D8-DB02-4DC6-A0A2-4F2EBAE1DC90}</a:tableStyleId>
              </a:tblPr>
              <a:tblGrid>
                <a:gridCol w="851960">
                  <a:extLst>
                    <a:ext uri="{9D8B030D-6E8A-4147-A177-3AD203B41FA5}">
                      <a16:colId xmlns:a16="http://schemas.microsoft.com/office/drawing/2014/main" val="4186719875"/>
                    </a:ext>
                  </a:extLst>
                </a:gridCol>
                <a:gridCol w="1630214">
                  <a:extLst>
                    <a:ext uri="{9D8B030D-6E8A-4147-A177-3AD203B41FA5}">
                      <a16:colId xmlns:a16="http://schemas.microsoft.com/office/drawing/2014/main" val="222749660"/>
                    </a:ext>
                  </a:extLst>
                </a:gridCol>
                <a:gridCol w="2157347">
                  <a:extLst>
                    <a:ext uri="{9D8B030D-6E8A-4147-A177-3AD203B41FA5}">
                      <a16:colId xmlns:a16="http://schemas.microsoft.com/office/drawing/2014/main" val="2351452974"/>
                    </a:ext>
                  </a:extLst>
                </a:gridCol>
                <a:gridCol w="1331641">
                  <a:extLst>
                    <a:ext uri="{9D8B030D-6E8A-4147-A177-3AD203B41FA5}">
                      <a16:colId xmlns:a16="http://schemas.microsoft.com/office/drawing/2014/main" val="3168913744"/>
                    </a:ext>
                  </a:extLst>
                </a:gridCol>
                <a:gridCol w="1998299">
                  <a:extLst>
                    <a:ext uri="{9D8B030D-6E8A-4147-A177-3AD203B41FA5}">
                      <a16:colId xmlns:a16="http://schemas.microsoft.com/office/drawing/2014/main" val="1072630713"/>
                    </a:ext>
                  </a:extLst>
                </a:gridCol>
                <a:gridCol w="839302">
                  <a:extLst>
                    <a:ext uri="{9D8B030D-6E8A-4147-A177-3AD203B41FA5}">
                      <a16:colId xmlns:a16="http://schemas.microsoft.com/office/drawing/2014/main" val="1840057169"/>
                    </a:ext>
                  </a:extLst>
                </a:gridCol>
                <a:gridCol w="1706837">
                  <a:extLst>
                    <a:ext uri="{9D8B030D-6E8A-4147-A177-3AD203B41FA5}">
                      <a16:colId xmlns:a16="http://schemas.microsoft.com/office/drawing/2014/main" val="483145536"/>
                    </a:ext>
                  </a:extLst>
                </a:gridCol>
              </a:tblGrid>
              <a:tr h="190055">
                <a:tc>
                  <a:txBody>
                    <a:bodyPr/>
                    <a:lstStyle/>
                    <a:p>
                      <a:pPr marL="0" marR="0" algn="ctr">
                        <a:lnSpc>
                          <a:spcPct val="107000"/>
                        </a:lnSpc>
                        <a:spcAft>
                          <a:spcPts val="800"/>
                        </a:spcAft>
                        <a:buNone/>
                      </a:pPr>
                      <a:r>
                        <a:rPr lang="en-US" sz="2000" kern="100" dirty="0">
                          <a:effectLst/>
                        </a:rPr>
                        <a:t>Risk #</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tc>
                  <a:txBody>
                    <a:bodyPr/>
                    <a:lstStyle/>
                    <a:p>
                      <a:pPr marL="0" marR="0" algn="ctr">
                        <a:lnSpc>
                          <a:spcPct val="107000"/>
                        </a:lnSpc>
                        <a:spcAft>
                          <a:spcPts val="800"/>
                        </a:spcAft>
                        <a:buNone/>
                      </a:pPr>
                      <a:r>
                        <a:rPr lang="en-US" sz="2000" kern="100" dirty="0">
                          <a:effectLst/>
                        </a:rPr>
                        <a:t>Vulnerability</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tc>
                  <a:txBody>
                    <a:bodyPr/>
                    <a:lstStyle/>
                    <a:p>
                      <a:pPr marL="0" marR="0" algn="ctr">
                        <a:lnSpc>
                          <a:spcPct val="107000"/>
                        </a:lnSpc>
                        <a:spcAft>
                          <a:spcPts val="800"/>
                        </a:spcAft>
                        <a:buNone/>
                      </a:pPr>
                      <a:r>
                        <a:rPr lang="en-US" sz="2000" kern="100" dirty="0">
                          <a:effectLst/>
                        </a:rPr>
                        <a:t>Asset #</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tc>
                  <a:txBody>
                    <a:bodyPr/>
                    <a:lstStyle/>
                    <a:p>
                      <a:pPr marL="0" marR="0" algn="ctr">
                        <a:lnSpc>
                          <a:spcPct val="107000"/>
                        </a:lnSpc>
                        <a:spcAft>
                          <a:spcPts val="800"/>
                        </a:spcAft>
                        <a:buNone/>
                      </a:pPr>
                      <a:r>
                        <a:rPr lang="en-US" sz="2000" kern="100" dirty="0">
                          <a:effectLst/>
                        </a:rPr>
                        <a:t>Likelihood</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tc>
                  <a:txBody>
                    <a:bodyPr/>
                    <a:lstStyle/>
                    <a:p>
                      <a:pPr marL="0" marR="0" algn="ctr">
                        <a:lnSpc>
                          <a:spcPct val="107000"/>
                        </a:lnSpc>
                        <a:spcAft>
                          <a:spcPts val="800"/>
                        </a:spcAft>
                        <a:buNone/>
                      </a:pPr>
                      <a:r>
                        <a:rPr lang="en-US" sz="2000" kern="100" dirty="0">
                          <a:effectLst/>
                        </a:rPr>
                        <a:t>Impact</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tc>
                  <a:txBody>
                    <a:bodyPr/>
                    <a:lstStyle/>
                    <a:p>
                      <a:pPr marL="0" marR="0" algn="ctr">
                        <a:lnSpc>
                          <a:spcPct val="107000"/>
                        </a:lnSpc>
                        <a:spcAft>
                          <a:spcPts val="800"/>
                        </a:spcAft>
                        <a:buNone/>
                      </a:pPr>
                      <a:r>
                        <a:rPr lang="en-US" sz="2000" kern="100">
                          <a:effectLst/>
                        </a:rPr>
                        <a:t>Level</a:t>
                      </a:r>
                      <a:endParaRPr lang="en-US" sz="20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tc>
                  <a:txBody>
                    <a:bodyPr/>
                    <a:lstStyle/>
                    <a:p>
                      <a:pPr marL="0" marR="0" algn="ctr">
                        <a:lnSpc>
                          <a:spcPct val="107000"/>
                        </a:lnSpc>
                        <a:spcAft>
                          <a:spcPts val="800"/>
                        </a:spcAft>
                        <a:buNone/>
                      </a:pPr>
                      <a:r>
                        <a:rPr lang="en-US" sz="2000" kern="100" dirty="0">
                          <a:effectLst/>
                        </a:rPr>
                        <a:t>Current State</a:t>
                      </a:r>
                      <a:endParaRPr lang="en-US" sz="20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tc>
                <a:extLst>
                  <a:ext uri="{0D108BD9-81ED-4DB2-BD59-A6C34878D82A}">
                    <a16:rowId xmlns:a16="http://schemas.microsoft.com/office/drawing/2014/main" val="4144698540"/>
                  </a:ext>
                </a:extLst>
              </a:tr>
              <a:tr h="720114">
                <a:tc>
                  <a:txBody>
                    <a:bodyPr/>
                    <a:lstStyle/>
                    <a:p>
                      <a:pPr marL="0" marR="0" algn="ctr">
                        <a:lnSpc>
                          <a:spcPct val="107000"/>
                        </a:lnSpc>
                        <a:spcAft>
                          <a:spcPts val="800"/>
                        </a:spcAft>
                        <a:buNone/>
                      </a:pPr>
                      <a:r>
                        <a:rPr lang="en-US" sz="2000" kern="100" dirty="0">
                          <a:effectLst/>
                        </a:rPr>
                        <a:t>R1</a:t>
                      </a:r>
                      <a:endParaRPr lang="en-US" sz="2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Firewall is outdated.</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A1 - Firewalls</a:t>
                      </a:r>
                      <a:endParaRPr lang="en-US" sz="1100" kern="100">
                        <a:effectLst/>
                      </a:endParaRPr>
                    </a:p>
                    <a:p>
                      <a:pPr marL="0" marR="0" algn="ctr">
                        <a:lnSpc>
                          <a:spcPct val="107000"/>
                        </a:lnSpc>
                        <a:spcAft>
                          <a:spcPts val="800"/>
                        </a:spcAft>
                        <a:buNone/>
                      </a:pPr>
                      <a:r>
                        <a:rPr lang="en-US" sz="1050" kern="100">
                          <a:effectLst/>
                        </a:rPr>
                        <a:t>IA1 - Patient Health Information</a:t>
                      </a:r>
                      <a:endParaRPr lang="en-US" sz="1100" kern="100">
                        <a:effectLst/>
                      </a:endParaRPr>
                    </a:p>
                    <a:p>
                      <a:pPr marL="0" marR="0" algn="ctr">
                        <a:lnSpc>
                          <a:spcPct val="107000"/>
                        </a:lnSpc>
                        <a:spcAft>
                          <a:spcPts val="800"/>
                        </a:spcAft>
                        <a:buNone/>
                      </a:pPr>
                      <a:r>
                        <a:rPr lang="en-US" sz="1050" kern="100">
                          <a:effectLst/>
                        </a:rPr>
                        <a:t>IA5 - Customer Payment Information</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High</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Theft of sensitive financial and health data. Insertion of ransomware into AlphaCorp’s network.</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High</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Basic filtering of access based on legacy technology.</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extLst>
                  <a:ext uri="{0D108BD9-81ED-4DB2-BD59-A6C34878D82A}">
                    <a16:rowId xmlns:a16="http://schemas.microsoft.com/office/drawing/2014/main" val="2506624306"/>
                  </a:ext>
                </a:extLst>
              </a:tr>
              <a:tr h="1644662">
                <a:tc>
                  <a:txBody>
                    <a:bodyPr/>
                    <a:lstStyle/>
                    <a:p>
                      <a:pPr marL="0" marR="0" algn="ctr">
                        <a:lnSpc>
                          <a:spcPct val="107000"/>
                        </a:lnSpc>
                        <a:spcAft>
                          <a:spcPts val="800"/>
                        </a:spcAft>
                        <a:buNone/>
                      </a:pPr>
                      <a:r>
                        <a:rPr lang="en-US" sz="2000" kern="100">
                          <a:effectLst/>
                        </a:rPr>
                        <a:t>R2</a:t>
                      </a:r>
                      <a:endParaRPr lang="en-US" sz="24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No continuous training of staff in security protocols.</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A4 - Computers and laptops</a:t>
                      </a:r>
                      <a:endParaRPr lang="en-US" sz="1100" kern="100" dirty="0">
                        <a:effectLst/>
                      </a:endParaRPr>
                    </a:p>
                    <a:p>
                      <a:pPr marL="0" marR="0" algn="ctr">
                        <a:lnSpc>
                          <a:spcPct val="107000"/>
                        </a:lnSpc>
                        <a:spcAft>
                          <a:spcPts val="800"/>
                        </a:spcAft>
                        <a:buNone/>
                      </a:pPr>
                      <a:r>
                        <a:rPr lang="en-US" sz="1050" kern="100" dirty="0">
                          <a:effectLst/>
                        </a:rPr>
                        <a:t>IA1 - Patient Health Information</a:t>
                      </a:r>
                      <a:endParaRPr lang="en-US" sz="1100" kern="100" dirty="0">
                        <a:effectLst/>
                      </a:endParaRPr>
                    </a:p>
                    <a:p>
                      <a:pPr marL="0" marR="0" algn="ctr">
                        <a:lnSpc>
                          <a:spcPct val="107000"/>
                        </a:lnSpc>
                        <a:spcAft>
                          <a:spcPts val="800"/>
                        </a:spcAft>
                        <a:buNone/>
                      </a:pPr>
                      <a:r>
                        <a:rPr lang="en-US" sz="1050" kern="100" dirty="0">
                          <a:effectLst/>
                        </a:rPr>
                        <a:t>IA2 - Credit Card Payment Info</a:t>
                      </a:r>
                      <a:endParaRPr lang="en-US" sz="1100" kern="100" dirty="0">
                        <a:effectLst/>
                      </a:endParaRPr>
                    </a:p>
                    <a:p>
                      <a:pPr marL="0" marR="0" algn="ctr">
                        <a:lnSpc>
                          <a:spcPct val="107000"/>
                        </a:lnSpc>
                        <a:spcAft>
                          <a:spcPts val="800"/>
                        </a:spcAft>
                        <a:buNone/>
                      </a:pPr>
                      <a:r>
                        <a:rPr lang="en-US" sz="1050" kern="100" dirty="0">
                          <a:effectLst/>
                        </a:rPr>
                        <a:t>IA3 - AlphaCorp Intellectual Property</a:t>
                      </a:r>
                      <a:endParaRPr lang="en-US" sz="1100" kern="100" dirty="0">
                        <a:effectLst/>
                      </a:endParaRPr>
                    </a:p>
                    <a:p>
                      <a:pPr marL="0" marR="0" algn="ctr">
                        <a:lnSpc>
                          <a:spcPct val="107000"/>
                        </a:lnSpc>
                        <a:spcAft>
                          <a:spcPts val="800"/>
                        </a:spcAft>
                        <a:buNone/>
                      </a:pPr>
                      <a:r>
                        <a:rPr lang="en-US" sz="1050" kern="100" dirty="0">
                          <a:effectLst/>
                        </a:rPr>
                        <a:t>IA4 - AlphaCorp Financial Records</a:t>
                      </a:r>
                      <a:endParaRPr lang="en-US" sz="1100" kern="100" dirty="0">
                        <a:effectLst/>
                      </a:endParaRPr>
                    </a:p>
                    <a:p>
                      <a:pPr marL="0" marR="0" algn="ctr">
                        <a:lnSpc>
                          <a:spcPct val="107000"/>
                        </a:lnSpc>
                        <a:spcAft>
                          <a:spcPts val="800"/>
                        </a:spcAft>
                        <a:buNone/>
                      </a:pPr>
                      <a:r>
                        <a:rPr lang="en-US" sz="1050" kern="100" dirty="0">
                          <a:effectLst/>
                        </a:rPr>
                        <a:t>IA5 - Customer Payment Information</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Medium</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Opens up AlphaCorp to internal threats. Also has the potential for malware and stolen data such as IA3. </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Medium</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Organization currently deploys two factor authentication policies on all devices as well as providing initial training for employees.</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extLst>
                  <a:ext uri="{0D108BD9-81ED-4DB2-BD59-A6C34878D82A}">
                    <a16:rowId xmlns:a16="http://schemas.microsoft.com/office/drawing/2014/main" val="3675835985"/>
                  </a:ext>
                </a:extLst>
              </a:tr>
              <a:tr h="1048983">
                <a:tc>
                  <a:txBody>
                    <a:bodyPr/>
                    <a:lstStyle/>
                    <a:p>
                      <a:pPr marL="0" marR="0" algn="ctr">
                        <a:lnSpc>
                          <a:spcPct val="107000"/>
                        </a:lnSpc>
                        <a:spcAft>
                          <a:spcPts val="800"/>
                        </a:spcAft>
                        <a:buNone/>
                      </a:pPr>
                      <a:r>
                        <a:rPr lang="en-US" sz="2000" kern="100">
                          <a:effectLst/>
                        </a:rPr>
                        <a:t>R3</a:t>
                      </a:r>
                      <a:endParaRPr lang="en-US" sz="24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Legacy servers without security patches.</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A2 – Private Servers</a:t>
                      </a:r>
                      <a:endParaRPr lang="en-US" sz="1100" kern="100" dirty="0">
                        <a:effectLst/>
                      </a:endParaRPr>
                    </a:p>
                    <a:p>
                      <a:pPr marL="0" marR="0" algn="ctr">
                        <a:lnSpc>
                          <a:spcPct val="107000"/>
                        </a:lnSpc>
                        <a:spcAft>
                          <a:spcPts val="800"/>
                        </a:spcAft>
                        <a:buNone/>
                      </a:pPr>
                      <a:r>
                        <a:rPr lang="en-US" sz="1050" kern="100" dirty="0">
                          <a:effectLst/>
                        </a:rPr>
                        <a:t>IA1 - Patient Health Information</a:t>
                      </a:r>
                      <a:endParaRPr lang="en-US" sz="1100" kern="100" dirty="0">
                        <a:effectLst/>
                      </a:endParaRPr>
                    </a:p>
                    <a:p>
                      <a:pPr marL="0" marR="0" algn="ctr">
                        <a:lnSpc>
                          <a:spcPct val="107000"/>
                        </a:lnSpc>
                        <a:spcAft>
                          <a:spcPts val="800"/>
                        </a:spcAft>
                        <a:buNone/>
                      </a:pPr>
                      <a:r>
                        <a:rPr lang="en-US" sz="1050" kern="100" dirty="0">
                          <a:effectLst/>
                        </a:rPr>
                        <a:t>IA3 - AlphaCorp Intellectual Property</a:t>
                      </a:r>
                      <a:endParaRPr lang="en-US" sz="1100" kern="100" dirty="0">
                        <a:effectLst/>
                      </a:endParaRPr>
                    </a:p>
                    <a:p>
                      <a:pPr marL="0" marR="0" algn="ctr">
                        <a:lnSpc>
                          <a:spcPct val="107000"/>
                        </a:lnSpc>
                        <a:spcAft>
                          <a:spcPts val="800"/>
                        </a:spcAft>
                        <a:buNone/>
                      </a:pPr>
                      <a:r>
                        <a:rPr lang="en-US" sz="1050" kern="100" dirty="0">
                          <a:effectLst/>
                        </a:rPr>
                        <a:t>IA4 - AlphaCorp Financial Records</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High</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Data breach or architectural failure leading to government fines, financial loss, and loss of customer trust.</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Critical</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None</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extLst>
                  <a:ext uri="{0D108BD9-81ED-4DB2-BD59-A6C34878D82A}">
                    <a16:rowId xmlns:a16="http://schemas.microsoft.com/office/drawing/2014/main" val="641668617"/>
                  </a:ext>
                </a:extLst>
              </a:tr>
              <a:tr h="1619845">
                <a:tc>
                  <a:txBody>
                    <a:bodyPr/>
                    <a:lstStyle/>
                    <a:p>
                      <a:pPr marL="0" marR="0" algn="ctr">
                        <a:lnSpc>
                          <a:spcPct val="107000"/>
                        </a:lnSpc>
                        <a:spcAft>
                          <a:spcPts val="800"/>
                        </a:spcAft>
                        <a:buNone/>
                      </a:pPr>
                      <a:r>
                        <a:rPr lang="en-US" sz="2000" kern="100" dirty="0">
                          <a:effectLst/>
                        </a:rPr>
                        <a:t>R4</a:t>
                      </a:r>
                      <a:endParaRPr lang="en-US" sz="2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a:effectLst/>
                        </a:rPr>
                        <a:t>No consistent schedule for penetration testing.</a:t>
                      </a:r>
                      <a:endParaRPr lang="en-US" sz="1100" kern="10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A3 - E-commerce site</a:t>
                      </a:r>
                      <a:endParaRPr lang="en-US" sz="1100" kern="100" dirty="0">
                        <a:effectLst/>
                      </a:endParaRPr>
                    </a:p>
                    <a:p>
                      <a:pPr marL="0" marR="0" algn="ctr">
                        <a:lnSpc>
                          <a:spcPct val="107000"/>
                        </a:lnSpc>
                        <a:spcAft>
                          <a:spcPts val="800"/>
                        </a:spcAft>
                        <a:buNone/>
                      </a:pPr>
                      <a:r>
                        <a:rPr lang="en-US" sz="1050" kern="100" dirty="0">
                          <a:effectLst/>
                        </a:rPr>
                        <a:t>A5 - Patient Records</a:t>
                      </a:r>
                      <a:endParaRPr lang="en-US" sz="1100" kern="100" dirty="0">
                        <a:effectLst/>
                      </a:endParaRPr>
                    </a:p>
                    <a:p>
                      <a:pPr marL="0" marR="0" algn="ctr">
                        <a:lnSpc>
                          <a:spcPct val="107000"/>
                        </a:lnSpc>
                        <a:spcAft>
                          <a:spcPts val="800"/>
                        </a:spcAft>
                        <a:buNone/>
                      </a:pPr>
                      <a:r>
                        <a:rPr lang="en-US" sz="1050" kern="100" dirty="0">
                          <a:effectLst/>
                        </a:rPr>
                        <a:t>A6 - Payment Processing</a:t>
                      </a:r>
                      <a:endParaRPr lang="en-US" sz="1100" kern="100" dirty="0">
                        <a:effectLst/>
                      </a:endParaRPr>
                    </a:p>
                    <a:p>
                      <a:pPr marL="0" marR="0" algn="ctr">
                        <a:lnSpc>
                          <a:spcPct val="107000"/>
                        </a:lnSpc>
                        <a:spcAft>
                          <a:spcPts val="800"/>
                        </a:spcAft>
                        <a:buNone/>
                      </a:pPr>
                      <a:r>
                        <a:rPr lang="en-US" sz="1050" kern="100" dirty="0">
                          <a:effectLst/>
                        </a:rPr>
                        <a:t>IA1 - Patient Health Information</a:t>
                      </a:r>
                      <a:endParaRPr lang="en-US" sz="1100" kern="100" dirty="0">
                        <a:effectLst/>
                      </a:endParaRPr>
                    </a:p>
                    <a:p>
                      <a:pPr marL="0" marR="0" algn="ctr">
                        <a:lnSpc>
                          <a:spcPct val="107000"/>
                        </a:lnSpc>
                        <a:spcAft>
                          <a:spcPts val="800"/>
                        </a:spcAft>
                        <a:buNone/>
                      </a:pPr>
                      <a:r>
                        <a:rPr lang="en-US" sz="1050" kern="100" dirty="0">
                          <a:effectLst/>
                        </a:rPr>
                        <a:t>IA2 - Credit Card Payment Info</a:t>
                      </a:r>
                      <a:endParaRPr lang="en-US" sz="1100" kern="100" dirty="0">
                        <a:effectLst/>
                      </a:endParaRPr>
                    </a:p>
                    <a:p>
                      <a:pPr marL="0" marR="0" algn="ctr">
                        <a:lnSpc>
                          <a:spcPct val="107000"/>
                        </a:lnSpc>
                        <a:spcAft>
                          <a:spcPts val="800"/>
                        </a:spcAft>
                        <a:buNone/>
                      </a:pPr>
                      <a:r>
                        <a:rPr lang="en-US" sz="1050" kern="100" dirty="0">
                          <a:effectLst/>
                        </a:rPr>
                        <a:t>IA5 - Customer Payment Information</a:t>
                      </a:r>
                      <a:endParaRPr lang="en-US" sz="1100" kern="100" dirty="0">
                        <a:effectLst/>
                      </a:endParaRPr>
                    </a:p>
                    <a:p>
                      <a:pPr marL="0" marR="0" algn="ctr">
                        <a:lnSpc>
                          <a:spcPct val="107000"/>
                        </a:lnSpc>
                        <a:spcAft>
                          <a:spcPts val="800"/>
                        </a:spcAft>
                        <a:buNone/>
                      </a:pPr>
                      <a:r>
                        <a:rPr lang="en-US" sz="1050" kern="100" dirty="0">
                          <a:effectLst/>
                        </a:rPr>
                        <a:t> </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Medium</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Potential for different cloud server configurations that have different security umbrellas in different domains, leading to noncompliance and vulnerabilities.</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Medium</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tc>
                  <a:txBody>
                    <a:bodyPr/>
                    <a:lstStyle/>
                    <a:p>
                      <a:pPr marL="0" marR="0" algn="ctr">
                        <a:lnSpc>
                          <a:spcPct val="107000"/>
                        </a:lnSpc>
                        <a:spcAft>
                          <a:spcPts val="800"/>
                        </a:spcAft>
                        <a:buNone/>
                      </a:pPr>
                      <a:r>
                        <a:rPr lang="en-US" sz="1050" kern="100" dirty="0">
                          <a:effectLst/>
                        </a:rPr>
                        <a:t>AlphaCorp has an end-to-end encryption policy to protect data.</a:t>
                      </a:r>
                      <a:endParaRPr lang="en-US" sz="11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31402" marR="31402" marT="0" marB="0" anchor="ctr">
                    <a:solidFill>
                      <a:schemeClr val="tx1">
                        <a:alpha val="70000"/>
                      </a:schemeClr>
                    </a:solidFill>
                  </a:tcPr>
                </a:tc>
                <a:extLst>
                  <a:ext uri="{0D108BD9-81ED-4DB2-BD59-A6C34878D82A}">
                    <a16:rowId xmlns:a16="http://schemas.microsoft.com/office/drawing/2014/main" val="426049"/>
                  </a:ext>
                </a:extLst>
              </a:tr>
            </a:tbl>
          </a:graphicData>
        </a:graphic>
      </p:graphicFrame>
    </p:spTree>
    <p:extLst>
      <p:ext uri="{BB962C8B-B14F-4D97-AF65-F5344CB8AC3E}">
        <p14:creationId xmlns:p14="http://schemas.microsoft.com/office/powerpoint/2010/main" val="2817762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FE091-C77A-0AD4-519D-82727101A997}"/>
            </a:ext>
          </a:extLst>
        </p:cNvPr>
        <p:cNvGrpSpPr/>
        <p:nvPr/>
      </p:nvGrpSpPr>
      <p:grpSpPr>
        <a:xfrm>
          <a:off x="0" y="0"/>
          <a:ext cx="0" cy="0"/>
          <a:chOff x="0" y="0"/>
          <a:chExt cx="0" cy="0"/>
        </a:xfrm>
      </p:grpSpPr>
      <p:pic>
        <p:nvPicPr>
          <p:cNvPr id="7" name="Picture 6" descr="Abstract particle graph background">
            <a:extLst>
              <a:ext uri="{FF2B5EF4-FFF2-40B4-BE49-F238E27FC236}">
                <a16:creationId xmlns:a16="http://schemas.microsoft.com/office/drawing/2014/main" id="{925367AA-E740-6362-38FE-45202A1BB8D5}"/>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0"/>
            <a:ext cx="12191980" cy="6857990"/>
          </a:xfrm>
          <a:prstGeom prst="rect">
            <a:avLst/>
          </a:prstGeom>
          <a:solidFill>
            <a:schemeClr val="tx1"/>
          </a:solidFill>
        </p:spPr>
      </p:pic>
      <p:sp>
        <p:nvSpPr>
          <p:cNvPr id="4" name="Title 3">
            <a:extLst>
              <a:ext uri="{FF2B5EF4-FFF2-40B4-BE49-F238E27FC236}">
                <a16:creationId xmlns:a16="http://schemas.microsoft.com/office/drawing/2014/main" id="{54659B3B-24D3-42CF-AC83-548F58691B20}"/>
              </a:ext>
            </a:extLst>
          </p:cNvPr>
          <p:cNvSpPr>
            <a:spLocks noGrp="1"/>
          </p:cNvSpPr>
          <p:nvPr>
            <p:ph type="title"/>
          </p:nvPr>
        </p:nvSpPr>
        <p:spPr/>
        <p:txBody>
          <a:bodyPr/>
          <a:lstStyle/>
          <a:p>
            <a:r>
              <a:rPr lang="en-US" dirty="0"/>
              <a:t>Investment Prioritization</a:t>
            </a:r>
          </a:p>
        </p:txBody>
      </p:sp>
      <p:graphicFrame>
        <p:nvGraphicFramePr>
          <p:cNvPr id="5" name="Content Placeholder 4">
            <a:extLst>
              <a:ext uri="{FF2B5EF4-FFF2-40B4-BE49-F238E27FC236}">
                <a16:creationId xmlns:a16="http://schemas.microsoft.com/office/drawing/2014/main" id="{4343A2C7-B504-FD9D-6324-F19A4ADDF57A}"/>
              </a:ext>
            </a:extLst>
          </p:cNvPr>
          <p:cNvGraphicFramePr>
            <a:graphicFrameLocks noGrp="1"/>
          </p:cNvGraphicFramePr>
          <p:nvPr>
            <p:ph idx="1"/>
            <p:extLst>
              <p:ext uri="{D42A27DB-BD31-4B8C-83A1-F6EECF244321}">
                <p14:modId xmlns:p14="http://schemas.microsoft.com/office/powerpoint/2010/main" val="3509682618"/>
              </p:ext>
            </p:extLst>
          </p:nvPr>
        </p:nvGraphicFramePr>
        <p:xfrm>
          <a:off x="230221" y="1299014"/>
          <a:ext cx="11731557" cy="5558976"/>
        </p:xfrm>
        <a:graphic>
          <a:graphicData uri="http://schemas.openxmlformats.org/drawingml/2006/table">
            <a:tbl>
              <a:tblPr firstRow="1" firstCol="1" bandRow="1">
                <a:tableStyleId>{1FECB4D8-DB02-4DC6-A0A2-4F2EBAE1DC90}</a:tableStyleId>
              </a:tblPr>
              <a:tblGrid>
                <a:gridCol w="1380076">
                  <a:extLst>
                    <a:ext uri="{9D8B030D-6E8A-4147-A177-3AD203B41FA5}">
                      <a16:colId xmlns:a16="http://schemas.microsoft.com/office/drawing/2014/main" val="162706370"/>
                    </a:ext>
                  </a:extLst>
                </a:gridCol>
                <a:gridCol w="2648011">
                  <a:extLst>
                    <a:ext uri="{9D8B030D-6E8A-4147-A177-3AD203B41FA5}">
                      <a16:colId xmlns:a16="http://schemas.microsoft.com/office/drawing/2014/main" val="1583186398"/>
                    </a:ext>
                  </a:extLst>
                </a:gridCol>
                <a:gridCol w="1931746">
                  <a:extLst>
                    <a:ext uri="{9D8B030D-6E8A-4147-A177-3AD203B41FA5}">
                      <a16:colId xmlns:a16="http://schemas.microsoft.com/office/drawing/2014/main" val="447478655"/>
                    </a:ext>
                  </a:extLst>
                </a:gridCol>
                <a:gridCol w="665620">
                  <a:extLst>
                    <a:ext uri="{9D8B030D-6E8A-4147-A177-3AD203B41FA5}">
                      <a16:colId xmlns:a16="http://schemas.microsoft.com/office/drawing/2014/main" val="2993657288"/>
                    </a:ext>
                  </a:extLst>
                </a:gridCol>
                <a:gridCol w="5106104">
                  <a:extLst>
                    <a:ext uri="{9D8B030D-6E8A-4147-A177-3AD203B41FA5}">
                      <a16:colId xmlns:a16="http://schemas.microsoft.com/office/drawing/2014/main" val="2089021454"/>
                    </a:ext>
                  </a:extLst>
                </a:gridCol>
              </a:tblGrid>
              <a:tr h="365042">
                <a:tc>
                  <a:txBody>
                    <a:bodyPr/>
                    <a:lstStyle/>
                    <a:p>
                      <a:pPr marL="0" marR="0" algn="ctr">
                        <a:lnSpc>
                          <a:spcPct val="107000"/>
                        </a:lnSpc>
                        <a:spcAft>
                          <a:spcPts val="800"/>
                        </a:spcAft>
                        <a:buNone/>
                      </a:pPr>
                      <a:r>
                        <a:rPr lang="en-US" sz="1600" kern="100">
                          <a:effectLst/>
                        </a:rPr>
                        <a:t>Priority Level</a:t>
                      </a:r>
                    </a:p>
                    <a:p>
                      <a:pPr marL="0" marR="0" algn="ctr">
                        <a:lnSpc>
                          <a:spcPct val="107000"/>
                        </a:lnSpc>
                        <a:spcAft>
                          <a:spcPts val="800"/>
                        </a:spcAft>
                        <a:buNone/>
                      </a:pPr>
                      <a:r>
                        <a:rPr lang="en-US" sz="1600" kern="100">
                          <a:effectLst/>
                        </a:rPr>
                        <a:t>(1 – high, 5 – Low)</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tc>
                <a:tc>
                  <a:txBody>
                    <a:bodyPr/>
                    <a:lstStyle/>
                    <a:p>
                      <a:pPr marL="0" marR="0" algn="ctr">
                        <a:lnSpc>
                          <a:spcPct val="107000"/>
                        </a:lnSpc>
                        <a:spcAft>
                          <a:spcPts val="800"/>
                        </a:spcAft>
                        <a:buNone/>
                      </a:pPr>
                      <a:r>
                        <a:rPr lang="en-US" sz="1600" kern="100" dirty="0">
                          <a:effectLst/>
                        </a:rPr>
                        <a:t>Description</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tc>
                <a:tc>
                  <a:txBody>
                    <a:bodyPr/>
                    <a:lstStyle/>
                    <a:p>
                      <a:pPr marL="0" marR="0" algn="ctr">
                        <a:lnSpc>
                          <a:spcPct val="107000"/>
                        </a:lnSpc>
                        <a:spcAft>
                          <a:spcPts val="800"/>
                        </a:spcAft>
                        <a:buNone/>
                      </a:pPr>
                      <a:r>
                        <a:rPr lang="en-US" sz="1600" kern="100">
                          <a:effectLst/>
                        </a:rPr>
                        <a:t>Business Goal</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tc>
                <a:tc>
                  <a:txBody>
                    <a:bodyPr/>
                    <a:lstStyle/>
                    <a:p>
                      <a:pPr marL="0" marR="0" algn="ctr">
                        <a:lnSpc>
                          <a:spcPct val="107000"/>
                        </a:lnSpc>
                        <a:spcAft>
                          <a:spcPts val="800"/>
                        </a:spcAft>
                        <a:buNone/>
                      </a:pPr>
                      <a:r>
                        <a:rPr lang="en-US" sz="1600" kern="100" dirty="0">
                          <a:effectLst/>
                        </a:rPr>
                        <a:t>Risks</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tc>
                <a:tc>
                  <a:txBody>
                    <a:bodyPr/>
                    <a:lstStyle/>
                    <a:p>
                      <a:pPr marL="0" marR="0" algn="ctr">
                        <a:lnSpc>
                          <a:spcPct val="107000"/>
                        </a:lnSpc>
                        <a:spcAft>
                          <a:spcPts val="800"/>
                        </a:spcAft>
                        <a:buNone/>
                      </a:pPr>
                      <a:r>
                        <a:rPr lang="en-US" sz="1600" kern="100" dirty="0">
                          <a:effectLst/>
                        </a:rPr>
                        <a:t>ROI</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tc>
                <a:extLst>
                  <a:ext uri="{0D108BD9-81ED-4DB2-BD59-A6C34878D82A}">
                    <a16:rowId xmlns:a16="http://schemas.microsoft.com/office/drawing/2014/main" val="2489547409"/>
                  </a:ext>
                </a:extLst>
              </a:tr>
              <a:tr h="1272231">
                <a:tc>
                  <a:txBody>
                    <a:bodyPr/>
                    <a:lstStyle/>
                    <a:p>
                      <a:pPr marL="0" marR="0" algn="ctr">
                        <a:lnSpc>
                          <a:spcPct val="107000"/>
                        </a:lnSpc>
                        <a:spcAft>
                          <a:spcPts val="800"/>
                        </a:spcAft>
                        <a:buNone/>
                      </a:pPr>
                      <a:r>
                        <a:rPr lang="en-US" sz="1600" kern="100" dirty="0">
                          <a:effectLst/>
                        </a:rPr>
                        <a:t>1</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Update legacy systems and migrate data to cloud infrastructure. </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Cost optimization and scalability.  </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R3</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High ROI. Updating these systems and migrating data to the cloud mitigates the most critical risk area that AlphaCorp has. Additionally it provides cost savings through consolidation of data storage as well as the inherent scalability of a cloud service provider.</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extLst>
                  <a:ext uri="{0D108BD9-81ED-4DB2-BD59-A6C34878D82A}">
                    <a16:rowId xmlns:a16="http://schemas.microsoft.com/office/drawing/2014/main" val="2033038136"/>
                  </a:ext>
                </a:extLst>
              </a:tr>
              <a:tr h="759619">
                <a:tc>
                  <a:txBody>
                    <a:bodyPr/>
                    <a:lstStyle/>
                    <a:p>
                      <a:pPr marL="0" marR="0" algn="ctr">
                        <a:lnSpc>
                          <a:spcPct val="107000"/>
                        </a:lnSpc>
                        <a:spcAft>
                          <a:spcPts val="800"/>
                        </a:spcAft>
                        <a:buNone/>
                      </a:pPr>
                      <a:r>
                        <a:rPr lang="en-US" sz="1600" kern="100">
                          <a:effectLst/>
                        </a:rPr>
                        <a:t>1</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Update firewall hardware and technology.</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Cybersecurity enhancement</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R1</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High ROI. Updating the firewalls lessens the likelihood of ransomware, malware, and other unauthorized access to core data.</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extLst>
                  <a:ext uri="{0D108BD9-81ED-4DB2-BD59-A6C34878D82A}">
                    <a16:rowId xmlns:a16="http://schemas.microsoft.com/office/drawing/2014/main" val="1009421354"/>
                  </a:ext>
                </a:extLst>
              </a:tr>
              <a:tr h="887771">
                <a:tc>
                  <a:txBody>
                    <a:bodyPr/>
                    <a:lstStyle/>
                    <a:p>
                      <a:pPr marL="0" marR="0" algn="ctr">
                        <a:lnSpc>
                          <a:spcPct val="107000"/>
                        </a:lnSpc>
                        <a:spcAft>
                          <a:spcPts val="800"/>
                        </a:spcAft>
                        <a:buNone/>
                      </a:pPr>
                      <a:r>
                        <a:rPr lang="en-US" sz="1600" kern="100">
                          <a:effectLst/>
                        </a:rPr>
                        <a:t>2</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Continuous monitoring and regular penetration testing.</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Cybersecurity enhancement and compliance.</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R4</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Med ROI. Continuous monitoring allows the org. to notice and patch vulnerabilities before they happen reducing the potential of negative financial impact.</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extLst>
                  <a:ext uri="{0D108BD9-81ED-4DB2-BD59-A6C34878D82A}">
                    <a16:rowId xmlns:a16="http://schemas.microsoft.com/office/drawing/2014/main" val="1458269244"/>
                  </a:ext>
                </a:extLst>
              </a:tr>
              <a:tr h="759619">
                <a:tc>
                  <a:txBody>
                    <a:bodyPr/>
                    <a:lstStyle/>
                    <a:p>
                      <a:pPr marL="0" marR="0" algn="ctr">
                        <a:lnSpc>
                          <a:spcPct val="107000"/>
                        </a:lnSpc>
                        <a:spcAft>
                          <a:spcPts val="800"/>
                        </a:spcAft>
                        <a:buNone/>
                      </a:pPr>
                      <a:r>
                        <a:rPr lang="en-US" sz="1600" kern="100">
                          <a:effectLst/>
                        </a:rPr>
                        <a:t>2</a:t>
                      </a:r>
                      <a:endParaRPr lang="en-US" sz="16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Zero Trust Architecture model for cyber security.</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Cybersecurity enhancement </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R1</a:t>
                      </a:r>
                    </a:p>
                    <a:p>
                      <a:pPr marL="0" marR="0" algn="ctr">
                        <a:lnSpc>
                          <a:spcPct val="107000"/>
                        </a:lnSpc>
                        <a:spcAft>
                          <a:spcPts val="800"/>
                        </a:spcAft>
                        <a:buNone/>
                      </a:pPr>
                      <a:r>
                        <a:rPr lang="en-US" sz="1400" kern="100">
                          <a:effectLst/>
                        </a:rPr>
                        <a:t>R2</a:t>
                      </a:r>
                    </a:p>
                    <a:p>
                      <a:pPr marL="0" marR="0" algn="ctr">
                        <a:lnSpc>
                          <a:spcPct val="107000"/>
                        </a:lnSpc>
                        <a:spcAft>
                          <a:spcPts val="800"/>
                        </a:spcAft>
                        <a:buNone/>
                      </a:pPr>
                      <a:r>
                        <a:rPr lang="en-US" sz="1400" kern="100">
                          <a:effectLst/>
                        </a:rPr>
                        <a:t>R4</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Med ROI. Adopting this philosophy will provide long-term benefits of a secure network and infrastructure for AlphaCorp and is industry standard. </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extLst>
                  <a:ext uri="{0D108BD9-81ED-4DB2-BD59-A6C34878D82A}">
                    <a16:rowId xmlns:a16="http://schemas.microsoft.com/office/drawing/2014/main" val="4110662414"/>
                  </a:ext>
                </a:extLst>
              </a:tr>
              <a:tr h="887771">
                <a:tc>
                  <a:txBody>
                    <a:bodyPr/>
                    <a:lstStyle/>
                    <a:p>
                      <a:pPr marL="0" marR="0" algn="ctr">
                        <a:lnSpc>
                          <a:spcPct val="107000"/>
                        </a:lnSpc>
                        <a:spcAft>
                          <a:spcPts val="800"/>
                        </a:spcAft>
                        <a:buNone/>
                      </a:pPr>
                      <a:r>
                        <a:rPr lang="en-US" sz="1600" kern="100" dirty="0">
                          <a:effectLst/>
                        </a:rPr>
                        <a:t>3</a:t>
                      </a:r>
                      <a:endParaRPr lang="en-US" sz="16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Ongoing security training for employees.</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Cybersecurity enhancement and resource allocation.</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a:effectLst/>
                        </a:rPr>
                        <a:t>R2</a:t>
                      </a:r>
                      <a:endParaRPr lang="en-US" sz="1400" kern="10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tc>
                  <a:txBody>
                    <a:bodyPr/>
                    <a:lstStyle/>
                    <a:p>
                      <a:pPr marL="0" marR="0" algn="ctr">
                        <a:lnSpc>
                          <a:spcPct val="107000"/>
                        </a:lnSpc>
                        <a:spcAft>
                          <a:spcPts val="800"/>
                        </a:spcAft>
                        <a:buNone/>
                      </a:pPr>
                      <a:r>
                        <a:rPr lang="en-US" sz="1400" kern="100" dirty="0">
                          <a:effectLst/>
                        </a:rPr>
                        <a:t>High ROI. Training the employees to act as another layer of security defense is an easy way to better protect your network without a significant technological investment.</a:t>
                      </a:r>
                      <a:endParaRPr lang="en-US" sz="14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43626" marR="43626" marT="0" marB="0" anchor="ctr">
                    <a:solidFill>
                      <a:schemeClr val="tx1">
                        <a:alpha val="70000"/>
                      </a:schemeClr>
                    </a:solidFill>
                  </a:tcPr>
                </a:tc>
                <a:extLst>
                  <a:ext uri="{0D108BD9-81ED-4DB2-BD59-A6C34878D82A}">
                    <a16:rowId xmlns:a16="http://schemas.microsoft.com/office/drawing/2014/main" val="2482144608"/>
                  </a:ext>
                </a:extLst>
              </a:tr>
            </a:tbl>
          </a:graphicData>
        </a:graphic>
      </p:graphicFrame>
    </p:spTree>
    <p:extLst>
      <p:ext uri="{BB962C8B-B14F-4D97-AF65-F5344CB8AC3E}">
        <p14:creationId xmlns:p14="http://schemas.microsoft.com/office/powerpoint/2010/main" val="2627671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E2E73-E9C9-D7D8-DFD2-FE811D1B2701}"/>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DADC8616-E853-8A06-98D9-59761276CFB6}"/>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E7F1D999-025A-2759-0667-75F5D1B38D28}"/>
              </a:ext>
            </a:extLst>
          </p:cNvPr>
          <p:cNvSpPr>
            <a:spLocks noGrp="1"/>
          </p:cNvSpPr>
          <p:nvPr>
            <p:ph type="title"/>
          </p:nvPr>
        </p:nvSpPr>
        <p:spPr>
          <a:xfrm>
            <a:off x="831850" y="3062288"/>
            <a:ext cx="10515600" cy="1500187"/>
          </a:xfrm>
          <a:solidFill>
            <a:schemeClr val="tx1">
              <a:alpha val="70000"/>
            </a:schemeClr>
          </a:solidFill>
        </p:spPr>
        <p:txBody>
          <a:bodyPr>
            <a:normAutofit fontScale="90000"/>
          </a:bodyPr>
          <a:lstStyle/>
          <a:p>
            <a:pPr algn="ctr"/>
            <a:r>
              <a:rPr lang="en-US" dirty="0">
                <a:solidFill>
                  <a:sysClr val="windowText" lastClr="000000"/>
                </a:solidFill>
              </a:rPr>
              <a:t>Product Development Integration - Healthcare</a:t>
            </a:r>
          </a:p>
        </p:txBody>
      </p:sp>
      <p:sp>
        <p:nvSpPr>
          <p:cNvPr id="3" name="Text Placeholder 2">
            <a:extLst>
              <a:ext uri="{FF2B5EF4-FFF2-40B4-BE49-F238E27FC236}">
                <a16:creationId xmlns:a16="http://schemas.microsoft.com/office/drawing/2014/main" id="{3EDAE44D-7FB0-1E91-F1DE-339CF1C3802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00993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bstract particle graph background">
            <a:extLst>
              <a:ext uri="{FF2B5EF4-FFF2-40B4-BE49-F238E27FC236}">
                <a16:creationId xmlns:a16="http://schemas.microsoft.com/office/drawing/2014/main" id="{169BC861-E818-B5FA-0B10-B2EFF611C40F}"/>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1CC3F29B-FB24-7BC7-3E6A-F019EC731C12}"/>
              </a:ext>
            </a:extLst>
          </p:cNvPr>
          <p:cNvSpPr>
            <a:spLocks noGrp="1"/>
          </p:cNvSpPr>
          <p:nvPr>
            <p:ph type="title"/>
          </p:nvPr>
        </p:nvSpPr>
        <p:spPr/>
        <p:txBody>
          <a:bodyPr/>
          <a:lstStyle/>
          <a:p>
            <a:r>
              <a:rPr lang="en-US" dirty="0"/>
              <a:t>Business Architecture – Healthcare Product Development</a:t>
            </a:r>
          </a:p>
        </p:txBody>
      </p:sp>
      <p:pic>
        <p:nvPicPr>
          <p:cNvPr id="4" name="Content Placeholder 3" descr="A diagram of a system&#10;&#10;AI-generated content may be incorrect.">
            <a:extLst>
              <a:ext uri="{FF2B5EF4-FFF2-40B4-BE49-F238E27FC236}">
                <a16:creationId xmlns:a16="http://schemas.microsoft.com/office/drawing/2014/main" id="{8299D8EB-0B63-1BBE-E8EE-90237BF7EB9C}"/>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75190" y="1978954"/>
            <a:ext cx="11041620" cy="4879046"/>
          </a:xfrm>
          <a:prstGeom prst="rect">
            <a:avLst/>
          </a:prstGeom>
          <a:noFill/>
          <a:ln>
            <a:noFill/>
          </a:ln>
        </p:spPr>
      </p:pic>
    </p:spTree>
    <p:extLst>
      <p:ext uri="{BB962C8B-B14F-4D97-AF65-F5344CB8AC3E}">
        <p14:creationId xmlns:p14="http://schemas.microsoft.com/office/powerpoint/2010/main" val="1058563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bstract particle graph background">
            <a:extLst>
              <a:ext uri="{FF2B5EF4-FFF2-40B4-BE49-F238E27FC236}">
                <a16:creationId xmlns:a16="http://schemas.microsoft.com/office/drawing/2014/main" id="{3799B61F-79E4-1DB5-DBE3-08F2384A3E1C}"/>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3DA59EFC-BA48-DBF2-9B76-3BD25C2DC1DD}"/>
              </a:ext>
            </a:extLst>
          </p:cNvPr>
          <p:cNvSpPr>
            <a:spLocks noGrp="1"/>
          </p:cNvSpPr>
          <p:nvPr>
            <p:ph type="title"/>
          </p:nvPr>
        </p:nvSpPr>
        <p:spPr>
          <a:xfrm>
            <a:off x="838200" y="43847"/>
            <a:ext cx="10515600" cy="1325563"/>
          </a:xfrm>
        </p:spPr>
        <p:txBody>
          <a:bodyPr/>
          <a:lstStyle/>
          <a:p>
            <a:r>
              <a:rPr lang="en-US" dirty="0"/>
              <a:t>Technology Architecture – Healthcare Product Development</a:t>
            </a:r>
          </a:p>
        </p:txBody>
      </p:sp>
      <p:pic>
        <p:nvPicPr>
          <p:cNvPr id="4" name="Content Placeholder 3" descr="A diagram of a cloud server&#10;&#10;AI-generated content may be incorrect.">
            <a:extLst>
              <a:ext uri="{FF2B5EF4-FFF2-40B4-BE49-F238E27FC236}">
                <a16:creationId xmlns:a16="http://schemas.microsoft.com/office/drawing/2014/main" id="{5295EC3D-24F1-77B0-1896-ADB1B401C698}"/>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613633" y="1369410"/>
            <a:ext cx="10964734" cy="5488590"/>
          </a:xfrm>
          <a:prstGeom prst="rect">
            <a:avLst/>
          </a:prstGeom>
          <a:noFill/>
          <a:ln>
            <a:noFill/>
          </a:ln>
        </p:spPr>
      </p:pic>
    </p:spTree>
    <p:extLst>
      <p:ext uri="{BB962C8B-B14F-4D97-AF65-F5344CB8AC3E}">
        <p14:creationId xmlns:p14="http://schemas.microsoft.com/office/powerpoint/2010/main" val="27932782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particle graph background">
            <a:extLst>
              <a:ext uri="{FF2B5EF4-FFF2-40B4-BE49-F238E27FC236}">
                <a16:creationId xmlns:a16="http://schemas.microsoft.com/office/drawing/2014/main" id="{0F3C522E-CBC9-FB79-1233-0E8080F6899A}"/>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64B726DC-3277-B93E-5D9A-816AB3F6CF18}"/>
              </a:ext>
            </a:extLst>
          </p:cNvPr>
          <p:cNvSpPr>
            <a:spLocks noGrp="1"/>
          </p:cNvSpPr>
          <p:nvPr>
            <p:ph type="title"/>
          </p:nvPr>
        </p:nvSpPr>
        <p:spPr/>
        <p:txBody>
          <a:bodyPr/>
          <a:lstStyle/>
          <a:p>
            <a:r>
              <a:rPr lang="en-US" dirty="0"/>
              <a:t>Gap Identification – Healthcare Product Development</a:t>
            </a:r>
          </a:p>
        </p:txBody>
      </p:sp>
      <p:graphicFrame>
        <p:nvGraphicFramePr>
          <p:cNvPr id="5" name="Content Placeholder 4">
            <a:extLst>
              <a:ext uri="{FF2B5EF4-FFF2-40B4-BE49-F238E27FC236}">
                <a16:creationId xmlns:a16="http://schemas.microsoft.com/office/drawing/2014/main" id="{67D511A5-5177-239F-425E-03EF52D2216A}"/>
              </a:ext>
            </a:extLst>
          </p:cNvPr>
          <p:cNvGraphicFramePr>
            <a:graphicFrameLocks noGrp="1"/>
          </p:cNvGraphicFramePr>
          <p:nvPr>
            <p:ph idx="1"/>
            <p:extLst>
              <p:ext uri="{D42A27DB-BD31-4B8C-83A1-F6EECF244321}">
                <p14:modId xmlns:p14="http://schemas.microsoft.com/office/powerpoint/2010/main" val="3705975983"/>
              </p:ext>
            </p:extLst>
          </p:nvPr>
        </p:nvGraphicFramePr>
        <p:xfrm>
          <a:off x="838200" y="1924208"/>
          <a:ext cx="10515600" cy="4836956"/>
        </p:xfrm>
        <a:graphic>
          <a:graphicData uri="http://schemas.openxmlformats.org/drawingml/2006/table">
            <a:tbl>
              <a:tblPr firstRow="1" firstCol="1" bandRow="1">
                <a:tableStyleId>{1FECB4D8-DB02-4DC6-A0A2-4F2EBAE1DC90}</a:tableStyleId>
              </a:tblPr>
              <a:tblGrid>
                <a:gridCol w="2694080">
                  <a:extLst>
                    <a:ext uri="{9D8B030D-6E8A-4147-A177-3AD203B41FA5}">
                      <a16:colId xmlns:a16="http://schemas.microsoft.com/office/drawing/2014/main" val="1515621446"/>
                    </a:ext>
                  </a:extLst>
                </a:gridCol>
                <a:gridCol w="4171478">
                  <a:extLst>
                    <a:ext uri="{9D8B030D-6E8A-4147-A177-3AD203B41FA5}">
                      <a16:colId xmlns:a16="http://schemas.microsoft.com/office/drawing/2014/main" val="2599070213"/>
                    </a:ext>
                  </a:extLst>
                </a:gridCol>
                <a:gridCol w="3650042">
                  <a:extLst>
                    <a:ext uri="{9D8B030D-6E8A-4147-A177-3AD203B41FA5}">
                      <a16:colId xmlns:a16="http://schemas.microsoft.com/office/drawing/2014/main" val="701236863"/>
                    </a:ext>
                  </a:extLst>
                </a:gridCol>
              </a:tblGrid>
              <a:tr h="328090">
                <a:tc>
                  <a:txBody>
                    <a:bodyPr/>
                    <a:lstStyle/>
                    <a:p>
                      <a:pPr marL="0" marR="0" algn="ctr">
                        <a:lnSpc>
                          <a:spcPct val="115000"/>
                        </a:lnSpc>
                        <a:spcAft>
                          <a:spcPts val="800"/>
                        </a:spcAft>
                        <a:buNone/>
                      </a:pPr>
                      <a:r>
                        <a:rPr lang="en-US" sz="1600" kern="100">
                          <a:effectLst/>
                        </a:rPr>
                        <a:t>Gap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100">
                          <a:effectLst/>
                        </a:rPr>
                        <a:t>Development Impact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100">
                          <a:effectLst/>
                        </a:rPr>
                        <a:t>Industry Standard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6725357"/>
                  </a:ext>
                </a:extLst>
              </a:tr>
              <a:tr h="1185211">
                <a:tc>
                  <a:txBody>
                    <a:bodyPr/>
                    <a:lstStyle/>
                    <a:p>
                      <a:pPr marL="0" marR="0">
                        <a:lnSpc>
                          <a:spcPct val="115000"/>
                        </a:lnSpc>
                        <a:spcAft>
                          <a:spcPts val="800"/>
                        </a:spcAft>
                        <a:buNone/>
                      </a:pPr>
                      <a:r>
                        <a:rPr lang="en-US" sz="1600" kern="100" dirty="0">
                          <a:effectLst/>
                        </a:rPr>
                        <a:t>No formal collaboration between market research and product development departments.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dirty="0">
                          <a:effectLst/>
                        </a:rPr>
                        <a:t>Delays in product development.</a:t>
                      </a:r>
                    </a:p>
                    <a:p>
                      <a:pPr marL="0" marR="0">
                        <a:lnSpc>
                          <a:spcPct val="115000"/>
                        </a:lnSpc>
                        <a:spcAft>
                          <a:spcPts val="800"/>
                        </a:spcAft>
                        <a:buNone/>
                      </a:pPr>
                      <a:r>
                        <a:rPr lang="en-US" sz="1600" kern="100" dirty="0">
                          <a:effectLst/>
                        </a:rPr>
                        <a:t>Slow to adopt new trends in the market, putting AlphaCorp behind on innovation.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a:effectLst/>
                        </a:rPr>
                        <a:t>Creating a unified EA cycle for product development that identifies all key stakeholders.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3473430011"/>
                  </a:ext>
                </a:extLst>
              </a:tr>
              <a:tr h="1018455">
                <a:tc>
                  <a:txBody>
                    <a:bodyPr/>
                    <a:lstStyle/>
                    <a:p>
                      <a:pPr marL="0" marR="0">
                        <a:lnSpc>
                          <a:spcPct val="115000"/>
                        </a:lnSpc>
                        <a:spcAft>
                          <a:spcPts val="800"/>
                        </a:spcAft>
                        <a:buNone/>
                      </a:pPr>
                      <a:r>
                        <a:rPr lang="en-US" sz="1600" kern="100" dirty="0">
                          <a:effectLst/>
                        </a:rPr>
                        <a:t>Manual process of integrating IoT data with existing databases and applications.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dirty="0">
                          <a:effectLst/>
                        </a:rPr>
                        <a:t>Increases development costs and slows down the entire development process.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a:effectLst/>
                        </a:rPr>
                        <a:t>Creating APIs to integrate and move data between devices, applications, and the cloud network.</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620855187"/>
                  </a:ext>
                </a:extLst>
              </a:tr>
              <a:tr h="1018455">
                <a:tc>
                  <a:txBody>
                    <a:bodyPr/>
                    <a:lstStyle/>
                    <a:p>
                      <a:pPr marL="0" marR="0">
                        <a:lnSpc>
                          <a:spcPct val="115000"/>
                        </a:lnSpc>
                        <a:spcAft>
                          <a:spcPts val="800"/>
                        </a:spcAft>
                        <a:buNone/>
                      </a:pPr>
                      <a:r>
                        <a:rPr lang="en-US" sz="1600" kern="100">
                          <a:effectLst/>
                        </a:rPr>
                        <a:t>Data is stored in separate databases based on the application.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dirty="0">
                          <a:effectLst/>
                        </a:rPr>
                        <a:t>Prevents using data for real time metrics or creating enhanced AI treatment plans as data is scattered. This can also lead to security inconsistencies.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a:effectLst/>
                        </a:rPr>
                        <a:t>Creating a central data repository, with appropriate security protocols and limited access based on job roles.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672507138"/>
                  </a:ext>
                </a:extLst>
              </a:tr>
              <a:tr h="1018455">
                <a:tc>
                  <a:txBody>
                    <a:bodyPr/>
                    <a:lstStyle/>
                    <a:p>
                      <a:pPr marL="0" marR="0">
                        <a:lnSpc>
                          <a:spcPct val="115000"/>
                        </a:lnSpc>
                        <a:spcAft>
                          <a:spcPts val="800"/>
                        </a:spcAft>
                        <a:buNone/>
                      </a:pPr>
                      <a:r>
                        <a:rPr lang="en-US" sz="1600" kern="100">
                          <a:effectLst/>
                        </a:rPr>
                        <a:t>No end-to-end data security.</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dirty="0">
                          <a:effectLst/>
                        </a:rPr>
                        <a:t>This can lead to data leaks, causing customers to lose trust in AlphaCorp and its products. Less customers means less funding for future development.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tc>
                  <a:txBody>
                    <a:bodyPr/>
                    <a:lstStyle/>
                    <a:p>
                      <a:pPr marL="0" marR="0">
                        <a:lnSpc>
                          <a:spcPct val="115000"/>
                        </a:lnSpc>
                        <a:spcAft>
                          <a:spcPts val="800"/>
                        </a:spcAft>
                        <a:buNone/>
                      </a:pPr>
                      <a:r>
                        <a:rPr lang="en-US" sz="1600" kern="100" dirty="0">
                          <a:effectLst/>
                        </a:rPr>
                        <a:t>End to end encryption using standards for data at rest and in transit.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tx1">
                        <a:alpha val="70000"/>
                      </a:schemeClr>
                    </a:solidFill>
                  </a:tcPr>
                </a:tc>
                <a:extLst>
                  <a:ext uri="{0D108BD9-81ED-4DB2-BD59-A6C34878D82A}">
                    <a16:rowId xmlns:a16="http://schemas.microsoft.com/office/drawing/2014/main" val="1853096682"/>
                  </a:ext>
                </a:extLst>
              </a:tr>
            </a:tbl>
          </a:graphicData>
        </a:graphic>
      </p:graphicFrame>
    </p:spTree>
    <p:extLst>
      <p:ext uri="{BB962C8B-B14F-4D97-AF65-F5344CB8AC3E}">
        <p14:creationId xmlns:p14="http://schemas.microsoft.com/office/powerpoint/2010/main" val="22036875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94443ABE-D06F-E507-8629-1261BD9D7642}"/>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734984EC-A511-E13E-44C8-78B58460C9DB}"/>
              </a:ext>
            </a:extLst>
          </p:cNvPr>
          <p:cNvSpPr>
            <a:spLocks noGrp="1"/>
          </p:cNvSpPr>
          <p:nvPr>
            <p:ph type="title"/>
          </p:nvPr>
        </p:nvSpPr>
        <p:spPr/>
        <p:txBody>
          <a:bodyPr/>
          <a:lstStyle/>
          <a:p>
            <a:r>
              <a:rPr lang="en-US" dirty="0"/>
              <a:t>Healthcare Product Development Roadmap</a:t>
            </a:r>
          </a:p>
        </p:txBody>
      </p:sp>
      <p:sp>
        <p:nvSpPr>
          <p:cNvPr id="3" name="Content Placeholder 2">
            <a:extLst>
              <a:ext uri="{FF2B5EF4-FFF2-40B4-BE49-F238E27FC236}">
                <a16:creationId xmlns:a16="http://schemas.microsoft.com/office/drawing/2014/main" id="{EFBACAE9-C834-8B67-E737-CAE05AFA60C1}"/>
              </a:ext>
            </a:extLst>
          </p:cNvPr>
          <p:cNvSpPr>
            <a:spLocks noGrp="1"/>
          </p:cNvSpPr>
          <p:nvPr>
            <p:ph idx="1"/>
          </p:nvPr>
        </p:nvSpPr>
        <p:spPr>
          <a:solidFill>
            <a:schemeClr val="tx1">
              <a:alpha val="70000"/>
            </a:schemeClr>
          </a:solidFill>
        </p:spPr>
        <p:txBody>
          <a:bodyPr>
            <a:normAutofit fontScale="92500"/>
          </a:bodyPr>
          <a:lstStyle/>
          <a:p>
            <a:r>
              <a:rPr lang="en-US" b="1" u="sng" dirty="0">
                <a:solidFill>
                  <a:schemeClr val="bg1"/>
                </a:solidFill>
              </a:rPr>
              <a:t>Phase 1: Ideation and Conceptualization</a:t>
            </a:r>
            <a:endParaRPr lang="en-US" dirty="0">
              <a:solidFill>
                <a:schemeClr val="bg1"/>
              </a:solidFill>
            </a:endParaRPr>
          </a:p>
          <a:p>
            <a:pPr lvl="1"/>
            <a:r>
              <a:rPr lang="en-US" dirty="0">
                <a:solidFill>
                  <a:schemeClr val="bg1"/>
                </a:solidFill>
              </a:rPr>
              <a:t>Product idea will be compared and proven viable against the market research.</a:t>
            </a:r>
          </a:p>
          <a:p>
            <a:pPr lvl="1"/>
            <a:r>
              <a:rPr lang="en-US" dirty="0">
                <a:solidFill>
                  <a:schemeClr val="bg1"/>
                </a:solidFill>
              </a:rPr>
              <a:t>Involvement with key stakeholders to determine the return on investment.</a:t>
            </a:r>
          </a:p>
          <a:p>
            <a:r>
              <a:rPr lang="en-US" b="1" u="sng" dirty="0">
                <a:solidFill>
                  <a:schemeClr val="bg1"/>
                </a:solidFill>
              </a:rPr>
              <a:t>Phase 2: Planning and Strategy</a:t>
            </a:r>
            <a:endParaRPr lang="en-US" dirty="0">
              <a:solidFill>
                <a:schemeClr val="bg1"/>
              </a:solidFill>
            </a:endParaRPr>
          </a:p>
          <a:p>
            <a:pPr lvl="1"/>
            <a:r>
              <a:rPr lang="en-US" dirty="0">
                <a:solidFill>
                  <a:schemeClr val="bg1"/>
                </a:solidFill>
              </a:rPr>
              <a:t>Budget allocation and planning take place.</a:t>
            </a:r>
          </a:p>
          <a:p>
            <a:pPr lvl="1"/>
            <a:r>
              <a:rPr lang="en-US" dirty="0">
                <a:solidFill>
                  <a:schemeClr val="bg1"/>
                </a:solidFill>
              </a:rPr>
              <a:t>Confirm the enterprise architecture strategy.</a:t>
            </a:r>
          </a:p>
          <a:p>
            <a:pPr lvl="1"/>
            <a:r>
              <a:rPr lang="en-US" dirty="0">
                <a:solidFill>
                  <a:schemeClr val="bg1"/>
                </a:solidFill>
              </a:rPr>
              <a:t>Scope of the project will be determined and finalized.</a:t>
            </a:r>
          </a:p>
          <a:p>
            <a:pPr lvl="1"/>
            <a:r>
              <a:rPr lang="en-US" dirty="0">
                <a:solidFill>
                  <a:schemeClr val="bg1"/>
                </a:solidFill>
              </a:rPr>
              <a:t>Risk assessment will be performed.</a:t>
            </a:r>
          </a:p>
          <a:p>
            <a:r>
              <a:rPr lang="en-US" b="1" u="sng" dirty="0">
                <a:solidFill>
                  <a:schemeClr val="bg1"/>
                </a:solidFill>
              </a:rPr>
              <a:t>Phase 3: Design and Prototyping</a:t>
            </a:r>
          </a:p>
          <a:p>
            <a:pPr lvl="1"/>
            <a:r>
              <a:rPr lang="en-US" dirty="0">
                <a:solidFill>
                  <a:schemeClr val="bg1"/>
                </a:solidFill>
              </a:rPr>
              <a:t>User experience designed and validation of the technical architecture.</a:t>
            </a:r>
          </a:p>
          <a:p>
            <a:pPr lvl="1"/>
            <a:r>
              <a:rPr lang="en-US" dirty="0">
                <a:solidFill>
                  <a:schemeClr val="bg1"/>
                </a:solidFill>
              </a:rPr>
              <a:t>Basic prototype of the product will be produced.</a:t>
            </a:r>
          </a:p>
          <a:p>
            <a:endParaRPr lang="en-US" dirty="0"/>
          </a:p>
          <a:p>
            <a:pPr lvl="1"/>
            <a:endParaRPr lang="en-US" dirty="0"/>
          </a:p>
        </p:txBody>
      </p:sp>
    </p:spTree>
    <p:extLst>
      <p:ext uri="{BB962C8B-B14F-4D97-AF65-F5344CB8AC3E}">
        <p14:creationId xmlns:p14="http://schemas.microsoft.com/office/powerpoint/2010/main" val="3693185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0331D7B6-8F8C-5119-1391-69D3A33466FA}"/>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5982ADB2-9CFB-B545-A084-6F598CE0B515}"/>
              </a:ext>
            </a:extLst>
          </p:cNvPr>
          <p:cNvSpPr>
            <a:spLocks noGrp="1"/>
          </p:cNvSpPr>
          <p:nvPr>
            <p:ph type="title"/>
          </p:nvPr>
        </p:nvSpPr>
        <p:spPr/>
        <p:txBody>
          <a:bodyPr/>
          <a:lstStyle/>
          <a:p>
            <a:r>
              <a:rPr lang="en-US" dirty="0"/>
              <a:t>Healthcare Product Development Roadmap</a:t>
            </a:r>
          </a:p>
        </p:txBody>
      </p:sp>
      <p:sp>
        <p:nvSpPr>
          <p:cNvPr id="3" name="Content Placeholder 2">
            <a:extLst>
              <a:ext uri="{FF2B5EF4-FFF2-40B4-BE49-F238E27FC236}">
                <a16:creationId xmlns:a16="http://schemas.microsoft.com/office/drawing/2014/main" id="{FA73906E-CF20-0D0D-3354-E9F6FE3A7EF1}"/>
              </a:ext>
            </a:extLst>
          </p:cNvPr>
          <p:cNvSpPr>
            <a:spLocks noGrp="1"/>
          </p:cNvSpPr>
          <p:nvPr>
            <p:ph idx="1"/>
          </p:nvPr>
        </p:nvSpPr>
        <p:spPr>
          <a:xfrm>
            <a:off x="838200" y="1690688"/>
            <a:ext cx="10515600" cy="4950061"/>
          </a:xfrm>
          <a:solidFill>
            <a:schemeClr val="tx1">
              <a:alpha val="70000"/>
            </a:schemeClr>
          </a:solidFill>
        </p:spPr>
        <p:txBody>
          <a:bodyPr>
            <a:normAutofit fontScale="70000" lnSpcReduction="20000"/>
          </a:bodyPr>
          <a:lstStyle/>
          <a:p>
            <a:r>
              <a:rPr lang="en-US" b="1" u="sng" dirty="0">
                <a:solidFill>
                  <a:schemeClr val="bg1"/>
                </a:solidFill>
              </a:rPr>
              <a:t>Phase 4: Development</a:t>
            </a:r>
          </a:p>
          <a:p>
            <a:pPr lvl="1"/>
            <a:r>
              <a:rPr lang="en-US" dirty="0">
                <a:solidFill>
                  <a:schemeClr val="bg1"/>
                </a:solidFill>
              </a:rPr>
              <a:t>Features are continually added to the device, ensuring that there is a minimum viable product by year end.</a:t>
            </a:r>
          </a:p>
          <a:p>
            <a:pPr lvl="1"/>
            <a:r>
              <a:rPr lang="en-US" dirty="0">
                <a:solidFill>
                  <a:schemeClr val="bg1"/>
                </a:solidFill>
              </a:rPr>
              <a:t>Tested and adjusted depending on the feedback.</a:t>
            </a:r>
          </a:p>
          <a:p>
            <a:pPr lvl="1"/>
            <a:r>
              <a:rPr lang="en-US" dirty="0">
                <a:solidFill>
                  <a:schemeClr val="bg1"/>
                </a:solidFill>
              </a:rPr>
              <a:t>Data integration APIs will be developed.</a:t>
            </a:r>
          </a:p>
          <a:p>
            <a:pPr lvl="1"/>
            <a:r>
              <a:rPr lang="en-US" dirty="0">
                <a:solidFill>
                  <a:schemeClr val="bg1"/>
                </a:solidFill>
              </a:rPr>
              <a:t>Central database will be developed.</a:t>
            </a:r>
          </a:p>
          <a:p>
            <a:r>
              <a:rPr lang="en-US" b="1" u="sng" dirty="0">
                <a:solidFill>
                  <a:schemeClr val="bg1"/>
                </a:solidFill>
              </a:rPr>
              <a:t>Phase 5: Quality Assurance</a:t>
            </a:r>
            <a:endParaRPr lang="en-US" dirty="0">
              <a:solidFill>
                <a:schemeClr val="bg1"/>
              </a:solidFill>
            </a:endParaRPr>
          </a:p>
          <a:p>
            <a:pPr lvl="1"/>
            <a:r>
              <a:rPr lang="en-US" dirty="0">
                <a:solidFill>
                  <a:schemeClr val="bg1"/>
                </a:solidFill>
              </a:rPr>
              <a:t>Product is tested to see if it meets data security requirements.</a:t>
            </a:r>
          </a:p>
          <a:p>
            <a:pPr lvl="1"/>
            <a:r>
              <a:rPr lang="en-US" dirty="0">
                <a:solidFill>
                  <a:schemeClr val="bg1"/>
                </a:solidFill>
              </a:rPr>
              <a:t>Comprehensive testing of the new APIs for data load and proper ingestion.</a:t>
            </a:r>
          </a:p>
          <a:p>
            <a:r>
              <a:rPr lang="en-US" b="1" u="sng" dirty="0">
                <a:solidFill>
                  <a:schemeClr val="bg1"/>
                </a:solidFill>
              </a:rPr>
              <a:t>Phase 6: Deployment</a:t>
            </a:r>
            <a:endParaRPr lang="en-US" dirty="0">
              <a:solidFill>
                <a:schemeClr val="bg1"/>
              </a:solidFill>
            </a:endParaRPr>
          </a:p>
          <a:p>
            <a:pPr lvl="1"/>
            <a:r>
              <a:rPr lang="en-US" dirty="0">
                <a:solidFill>
                  <a:schemeClr val="bg1"/>
                </a:solidFill>
              </a:rPr>
              <a:t>Product gets launched incrementally.</a:t>
            </a:r>
          </a:p>
          <a:p>
            <a:pPr lvl="1"/>
            <a:r>
              <a:rPr lang="en-US" dirty="0">
                <a:solidFill>
                  <a:schemeClr val="bg1"/>
                </a:solidFill>
              </a:rPr>
              <a:t>Training of sales and marketing departments.</a:t>
            </a:r>
          </a:p>
          <a:p>
            <a:pPr lvl="1"/>
            <a:r>
              <a:rPr lang="en-US" dirty="0">
                <a:solidFill>
                  <a:schemeClr val="bg1"/>
                </a:solidFill>
              </a:rPr>
              <a:t>Monitoring of system performance and stability.</a:t>
            </a:r>
          </a:p>
          <a:p>
            <a:r>
              <a:rPr lang="en-US" b="1" u="sng" dirty="0">
                <a:solidFill>
                  <a:schemeClr val="bg1"/>
                </a:solidFill>
              </a:rPr>
              <a:t>Phase 7: Post-launch and Optimization</a:t>
            </a:r>
            <a:endParaRPr lang="en-US" dirty="0">
              <a:solidFill>
                <a:schemeClr val="bg1"/>
              </a:solidFill>
            </a:endParaRPr>
          </a:p>
          <a:p>
            <a:pPr lvl="1"/>
            <a:r>
              <a:rPr lang="en-US" dirty="0">
                <a:solidFill>
                  <a:schemeClr val="bg1"/>
                </a:solidFill>
              </a:rPr>
              <a:t>Device is monitored, and user feedback is consolidated and analyzed.</a:t>
            </a:r>
          </a:p>
          <a:p>
            <a:pPr lvl="1"/>
            <a:r>
              <a:rPr lang="en-US" dirty="0">
                <a:solidFill>
                  <a:schemeClr val="bg1"/>
                </a:solidFill>
              </a:rPr>
              <a:t>Software updates and other fixes are pushed.</a:t>
            </a:r>
          </a:p>
          <a:p>
            <a:pPr lvl="1"/>
            <a:r>
              <a:rPr lang="en-US" dirty="0">
                <a:solidFill>
                  <a:schemeClr val="bg1"/>
                </a:solidFill>
              </a:rPr>
              <a:t>Inclusion of industry innovations, such as AI for patient diagnosis and blockchain for additional security in V2.</a:t>
            </a:r>
          </a:p>
          <a:p>
            <a:endParaRPr lang="en-US" dirty="0"/>
          </a:p>
        </p:txBody>
      </p:sp>
    </p:spTree>
    <p:extLst>
      <p:ext uri="{BB962C8B-B14F-4D97-AF65-F5344CB8AC3E}">
        <p14:creationId xmlns:p14="http://schemas.microsoft.com/office/powerpoint/2010/main" val="1776734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79C37A8C-BF9F-3C12-8D75-EC216C4135A4}"/>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20" y="10"/>
            <a:ext cx="12191980" cy="6857990"/>
          </a:xfrm>
          <a:prstGeom prst="rect">
            <a:avLst/>
          </a:prstGeom>
          <a:solidFill>
            <a:schemeClr val="tx1"/>
          </a:solidFill>
        </p:spPr>
      </p:pic>
      <p:sp>
        <p:nvSpPr>
          <p:cNvPr id="2" name="Title 1">
            <a:extLst>
              <a:ext uri="{FF2B5EF4-FFF2-40B4-BE49-F238E27FC236}">
                <a16:creationId xmlns:a16="http://schemas.microsoft.com/office/drawing/2014/main" id="{A0C0929E-03EF-7755-A4AE-6B2B92267F14}"/>
              </a:ext>
            </a:extLst>
          </p:cNvPr>
          <p:cNvSpPr>
            <a:spLocks noGrp="1"/>
          </p:cNvSpPr>
          <p:nvPr>
            <p:ph type="title"/>
          </p:nvPr>
        </p:nvSpPr>
        <p:spPr/>
        <p:txBody>
          <a:bodyPr/>
          <a:lstStyle/>
          <a:p>
            <a:r>
              <a:rPr lang="en-US" dirty="0"/>
              <a:t>Healthcare Product Development Roadmap</a:t>
            </a:r>
          </a:p>
        </p:txBody>
      </p:sp>
      <p:sp>
        <p:nvSpPr>
          <p:cNvPr id="6" name="TextBox 5">
            <a:extLst>
              <a:ext uri="{FF2B5EF4-FFF2-40B4-BE49-F238E27FC236}">
                <a16:creationId xmlns:a16="http://schemas.microsoft.com/office/drawing/2014/main" id="{3619E56E-E2DF-0D88-8B7A-72F3A2170701}"/>
              </a:ext>
            </a:extLst>
          </p:cNvPr>
          <p:cNvSpPr txBox="1"/>
          <p:nvPr/>
        </p:nvSpPr>
        <p:spPr>
          <a:xfrm>
            <a:off x="0" y="2405616"/>
            <a:ext cx="2412460" cy="3343159"/>
          </a:xfrm>
          <a:prstGeom prst="rect">
            <a:avLst/>
          </a:prstGeom>
          <a:solidFill>
            <a:schemeClr val="tx1">
              <a:lumMod val="95000"/>
              <a:alpha val="70000"/>
            </a:schemeClr>
          </a:solidFill>
        </p:spPr>
        <p:txBody>
          <a:bodyPr wrap="square">
            <a:spAutoFit/>
          </a:bodyPr>
          <a:lstStyle/>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1 - $25,000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2 - $25,000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3 - $25,000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4 - $100,000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5 – $75,000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6 - $25,000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Phase 7 – $</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25</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,000</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Total - $300,000</a:t>
            </a:r>
          </a:p>
        </p:txBody>
      </p:sp>
      <p:pic>
        <p:nvPicPr>
          <p:cNvPr id="4" name="Content Placeholder 3" descr="A calendar with arrows and blue circles&#10;&#10;AI-generated content may be incorrect.">
            <a:extLst>
              <a:ext uri="{FF2B5EF4-FFF2-40B4-BE49-F238E27FC236}">
                <a16:creationId xmlns:a16="http://schemas.microsoft.com/office/drawing/2014/main" id="{1876DA5E-D181-E5F1-52C1-5E9202CAFC25}"/>
              </a:ext>
            </a:extLst>
          </p:cNvPr>
          <p:cNvPicPr>
            <a:picLocks noGrp="1" noChangeAspect="1"/>
          </p:cNvPicPr>
          <p:nvPr>
            <p:ph idx="1"/>
          </p:nvPr>
        </p:nvPicPr>
        <p:blipFill>
          <a:blip r:embed="rId3"/>
          <a:stretch>
            <a:fillRect/>
          </a:stretch>
        </p:blipFill>
        <p:spPr>
          <a:xfrm>
            <a:off x="2080017" y="2386518"/>
            <a:ext cx="10111983" cy="4065899"/>
          </a:xfrm>
          <a:prstGeom prst="rect">
            <a:avLst/>
          </a:prstGeom>
        </p:spPr>
      </p:pic>
    </p:spTree>
    <p:extLst>
      <p:ext uri="{BB962C8B-B14F-4D97-AF65-F5344CB8AC3E}">
        <p14:creationId xmlns:p14="http://schemas.microsoft.com/office/powerpoint/2010/main" val="2438721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670D-80F0-F83B-B346-EEB8FBA419B4}"/>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1A5A4746-A21E-C2C2-3DE8-91F0B342A9A8}"/>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65CFA5B0-807C-9F88-7289-77F4981A257C}"/>
              </a:ext>
            </a:extLst>
          </p:cNvPr>
          <p:cNvSpPr>
            <a:spLocks noGrp="1"/>
          </p:cNvSpPr>
          <p:nvPr>
            <p:ph type="title"/>
          </p:nvPr>
        </p:nvSpPr>
        <p:spPr>
          <a:xfrm>
            <a:off x="831850" y="3429000"/>
            <a:ext cx="10515600" cy="1133475"/>
          </a:xfrm>
          <a:solidFill>
            <a:schemeClr val="tx1">
              <a:alpha val="70000"/>
            </a:schemeClr>
          </a:solidFill>
        </p:spPr>
        <p:txBody>
          <a:bodyPr/>
          <a:lstStyle/>
          <a:p>
            <a:pPr algn="ctr"/>
            <a:r>
              <a:rPr lang="en-US" dirty="0">
                <a:solidFill>
                  <a:sysClr val="windowText" lastClr="000000"/>
                </a:solidFill>
              </a:rPr>
              <a:t>Solutions</a:t>
            </a:r>
          </a:p>
        </p:txBody>
      </p:sp>
      <p:sp>
        <p:nvSpPr>
          <p:cNvPr id="3" name="Text Placeholder 2">
            <a:extLst>
              <a:ext uri="{FF2B5EF4-FFF2-40B4-BE49-F238E27FC236}">
                <a16:creationId xmlns:a16="http://schemas.microsoft.com/office/drawing/2014/main" id="{D583FD87-866D-C94D-C14B-0C00063E24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400008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7B265E75-8F46-018B-54BF-771CD0ECF280}"/>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735963F7-E717-7266-B313-3EEF14B1B084}"/>
              </a:ext>
            </a:extLst>
          </p:cNvPr>
          <p:cNvSpPr>
            <a:spLocks noGrp="1"/>
          </p:cNvSpPr>
          <p:nvPr>
            <p:ph type="title"/>
          </p:nvPr>
        </p:nvSpPr>
        <p:spPr/>
        <p:txBody>
          <a:bodyPr/>
          <a:lstStyle/>
          <a:p>
            <a:r>
              <a:rPr lang="en-US" dirty="0"/>
              <a:t>Uniformity In Practice</a:t>
            </a:r>
          </a:p>
        </p:txBody>
      </p:sp>
      <p:pic>
        <p:nvPicPr>
          <p:cNvPr id="6148" name="Picture 4">
            <a:extLst>
              <a:ext uri="{FF2B5EF4-FFF2-40B4-BE49-F238E27FC236}">
                <a16:creationId xmlns:a16="http://schemas.microsoft.com/office/drawing/2014/main" id="{2CD321D0-CCEB-8455-916A-E931669469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1086" y="1230493"/>
            <a:ext cx="9549827" cy="5627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952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bstract particle graph background">
            <a:extLst>
              <a:ext uri="{FF2B5EF4-FFF2-40B4-BE49-F238E27FC236}">
                <a16:creationId xmlns:a16="http://schemas.microsoft.com/office/drawing/2014/main" id="{D0F9557B-D7A4-09FB-CCC7-768DD5B37631}"/>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737523C4-A6D1-5CFC-8BC2-E0B0FCEB61AE}"/>
              </a:ext>
            </a:extLst>
          </p:cNvPr>
          <p:cNvSpPr>
            <a:spLocks noGrp="1"/>
          </p:cNvSpPr>
          <p:nvPr>
            <p:ph type="title"/>
          </p:nvPr>
        </p:nvSpPr>
        <p:spPr/>
        <p:txBody>
          <a:bodyPr/>
          <a:lstStyle/>
          <a:p>
            <a:r>
              <a:rPr lang="en-US" dirty="0"/>
              <a:t>Back to the Beginning</a:t>
            </a:r>
          </a:p>
        </p:txBody>
      </p:sp>
      <p:graphicFrame>
        <p:nvGraphicFramePr>
          <p:cNvPr id="4" name="Content Placeholder 3">
            <a:extLst>
              <a:ext uri="{FF2B5EF4-FFF2-40B4-BE49-F238E27FC236}">
                <a16:creationId xmlns:a16="http://schemas.microsoft.com/office/drawing/2014/main" id="{05D27B03-F00F-ED03-E7F4-5E41D1FBCA40}"/>
              </a:ext>
            </a:extLst>
          </p:cNvPr>
          <p:cNvGraphicFramePr>
            <a:graphicFrameLocks noGrp="1"/>
          </p:cNvGraphicFramePr>
          <p:nvPr>
            <p:ph idx="1"/>
            <p:extLst>
              <p:ext uri="{D42A27DB-BD31-4B8C-83A1-F6EECF244321}">
                <p14:modId xmlns:p14="http://schemas.microsoft.com/office/powerpoint/2010/main" val="56802286"/>
              </p:ext>
            </p:extLst>
          </p:nvPr>
        </p:nvGraphicFramePr>
        <p:xfrm>
          <a:off x="838200" y="1457960"/>
          <a:ext cx="10515600" cy="4511040"/>
        </p:xfrm>
        <a:graphic>
          <a:graphicData uri="http://schemas.openxmlformats.org/drawingml/2006/table">
            <a:tbl>
              <a:tblPr firstRow="1" bandRow="1">
                <a:tableStyleId>{1FECB4D8-DB02-4DC6-A0A2-4F2EBAE1DC90}</a:tableStyleId>
              </a:tblPr>
              <a:tblGrid>
                <a:gridCol w="5257800">
                  <a:extLst>
                    <a:ext uri="{9D8B030D-6E8A-4147-A177-3AD203B41FA5}">
                      <a16:colId xmlns:a16="http://schemas.microsoft.com/office/drawing/2014/main" val="3741432758"/>
                    </a:ext>
                  </a:extLst>
                </a:gridCol>
                <a:gridCol w="5257800">
                  <a:extLst>
                    <a:ext uri="{9D8B030D-6E8A-4147-A177-3AD203B41FA5}">
                      <a16:colId xmlns:a16="http://schemas.microsoft.com/office/drawing/2014/main" val="339747946"/>
                    </a:ext>
                  </a:extLst>
                </a:gridCol>
              </a:tblGrid>
              <a:tr h="370840">
                <a:tc>
                  <a:txBody>
                    <a:bodyPr/>
                    <a:lstStyle/>
                    <a:p>
                      <a:pPr algn="ctr"/>
                      <a:r>
                        <a:rPr lang="en-US" sz="2000" dirty="0"/>
                        <a:t>Goal</a:t>
                      </a:r>
                    </a:p>
                  </a:txBody>
                  <a:tcPr anchor="ctr"/>
                </a:tc>
                <a:tc>
                  <a:txBody>
                    <a:bodyPr/>
                    <a:lstStyle/>
                    <a:p>
                      <a:pPr algn="ctr"/>
                      <a:r>
                        <a:rPr lang="en-US" sz="2000" dirty="0"/>
                        <a:t>Solution</a:t>
                      </a:r>
                    </a:p>
                  </a:txBody>
                  <a:tcPr anchor="ctr"/>
                </a:tc>
                <a:extLst>
                  <a:ext uri="{0D108BD9-81ED-4DB2-BD59-A6C34878D82A}">
                    <a16:rowId xmlns:a16="http://schemas.microsoft.com/office/drawing/2014/main" val="3747380790"/>
                  </a:ext>
                </a:extLst>
              </a:tr>
              <a:tr h="370840">
                <a:tc>
                  <a:txBody>
                    <a:bodyPr/>
                    <a:lstStyle/>
                    <a:p>
                      <a:pPr algn="ctr"/>
                      <a:r>
                        <a:rPr lang="en-US" sz="1800" dirty="0"/>
                        <a:t>Industry leader in cybersecurity measures.</a:t>
                      </a:r>
                    </a:p>
                  </a:txBody>
                  <a:tcPr anchor="ctr">
                    <a:solidFill>
                      <a:schemeClr val="tx1">
                        <a:alpha val="70000"/>
                      </a:schemeClr>
                    </a:solidFill>
                  </a:tcPr>
                </a:tc>
                <a:tc>
                  <a:txBody>
                    <a:bodyPr/>
                    <a:lstStyle/>
                    <a:p>
                      <a:pPr algn="ctr"/>
                      <a:r>
                        <a:rPr lang="en-US" sz="1800" dirty="0"/>
                        <a:t>A unified standard compliance framework, which includes standard data encryption protocols as well as ID and access management that is consistent across all business units and threat detection as well.</a:t>
                      </a:r>
                    </a:p>
                  </a:txBody>
                  <a:tcPr anchor="ctr">
                    <a:solidFill>
                      <a:schemeClr val="tx1">
                        <a:alpha val="70000"/>
                      </a:schemeClr>
                    </a:solidFill>
                  </a:tcPr>
                </a:tc>
                <a:extLst>
                  <a:ext uri="{0D108BD9-81ED-4DB2-BD59-A6C34878D82A}">
                    <a16:rowId xmlns:a16="http://schemas.microsoft.com/office/drawing/2014/main" val="2160761435"/>
                  </a:ext>
                </a:extLst>
              </a:tr>
              <a:tr h="370840">
                <a:tc>
                  <a:txBody>
                    <a:bodyPr/>
                    <a:lstStyle/>
                    <a:p>
                      <a:pPr algn="ctr"/>
                      <a:r>
                        <a:rPr lang="en-US" sz="1800" dirty="0"/>
                        <a:t>Optimize operational costs.</a:t>
                      </a:r>
                    </a:p>
                  </a:txBody>
                  <a:tcPr anchor="ctr">
                    <a:solidFill>
                      <a:schemeClr val="tx1">
                        <a:alpha val="70000"/>
                      </a:schemeClr>
                    </a:solidFill>
                  </a:tcPr>
                </a:tc>
                <a:tc>
                  <a:txBody>
                    <a:bodyPr/>
                    <a:lstStyle/>
                    <a:p>
                      <a:pPr algn="ctr"/>
                      <a:r>
                        <a:rPr lang="en-US" sz="1800" dirty="0"/>
                        <a:t>Shared services and infrastructure, allowing for better resource allocation and cost savings, as we consolidate redundant infrastructure and other resources. In our technology layer, we propose having a central data lake for all of AlphaCorp’s generated data.</a:t>
                      </a:r>
                    </a:p>
                  </a:txBody>
                  <a:tcPr anchor="ctr">
                    <a:solidFill>
                      <a:schemeClr val="tx1">
                        <a:alpha val="70000"/>
                      </a:schemeClr>
                    </a:solidFill>
                  </a:tcPr>
                </a:tc>
                <a:extLst>
                  <a:ext uri="{0D108BD9-81ED-4DB2-BD59-A6C34878D82A}">
                    <a16:rowId xmlns:a16="http://schemas.microsoft.com/office/drawing/2014/main" val="69173805"/>
                  </a:ext>
                </a:extLst>
              </a:tr>
              <a:tr h="370840">
                <a:tc>
                  <a:txBody>
                    <a:bodyPr/>
                    <a:lstStyle/>
                    <a:p>
                      <a:pPr algn="ctr"/>
                      <a:r>
                        <a:rPr lang="en-US" sz="1800" dirty="0"/>
                        <a:t>Scale operations effectively to support growth.</a:t>
                      </a:r>
                    </a:p>
                  </a:txBody>
                  <a:tcPr anchor="ctr">
                    <a:solidFill>
                      <a:schemeClr val="tx1">
                        <a:alpha val="70000"/>
                      </a:schemeClr>
                    </a:solidFill>
                  </a:tcPr>
                </a:tc>
                <a:tc>
                  <a:txBody>
                    <a:bodyPr/>
                    <a:lstStyle/>
                    <a:p>
                      <a:pPr algn="ctr"/>
                      <a:r>
                        <a:rPr lang="en-US" sz="1800" dirty="0"/>
                        <a:t>Migrating to the cloud for all infrastructure to provide the scalability that is needed for future growth.</a:t>
                      </a:r>
                    </a:p>
                  </a:txBody>
                  <a:tcPr anchor="ctr">
                    <a:solidFill>
                      <a:schemeClr val="tx1">
                        <a:alpha val="70000"/>
                      </a:schemeClr>
                    </a:solidFill>
                  </a:tcPr>
                </a:tc>
                <a:extLst>
                  <a:ext uri="{0D108BD9-81ED-4DB2-BD59-A6C34878D82A}">
                    <a16:rowId xmlns:a16="http://schemas.microsoft.com/office/drawing/2014/main" val="2266705882"/>
                  </a:ext>
                </a:extLst>
              </a:tr>
            </a:tbl>
          </a:graphicData>
        </a:graphic>
      </p:graphicFrame>
    </p:spTree>
    <p:extLst>
      <p:ext uri="{BB962C8B-B14F-4D97-AF65-F5344CB8AC3E}">
        <p14:creationId xmlns:p14="http://schemas.microsoft.com/office/powerpoint/2010/main" val="3657652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rry blue and yellow background&#10;&#10;AI-generated content may be incorrect.">
            <a:extLst>
              <a:ext uri="{FF2B5EF4-FFF2-40B4-BE49-F238E27FC236}">
                <a16:creationId xmlns:a16="http://schemas.microsoft.com/office/drawing/2014/main" id="{C6A7B3BF-0F6D-F0D0-A3CD-FE2DF37049CC}"/>
              </a:ext>
            </a:extLst>
          </p:cNvPr>
          <p:cNvPicPr>
            <a:picLocks noChangeAspect="1"/>
          </p:cNvPicPr>
          <p:nvPr/>
        </p:nvPicPr>
        <p:blipFill>
          <a:blip r:embed="rId2">
            <a:duotone>
              <a:schemeClr val="bg2">
                <a:shade val="45000"/>
                <a:satMod val="135000"/>
              </a:schemeClr>
              <a:prstClr val="white"/>
            </a:duotone>
          </a:blip>
          <a:srcRect t="17582"/>
          <a:stretch>
            <a:fillRect/>
          </a:stretch>
        </p:blipFill>
        <p:spPr>
          <a:xfrm>
            <a:off x="20" y="10"/>
            <a:ext cx="12191980" cy="6857990"/>
          </a:xfrm>
          <a:prstGeom prst="rect">
            <a:avLst/>
          </a:prstGeom>
        </p:spPr>
      </p:pic>
      <p:pic>
        <p:nvPicPr>
          <p:cNvPr id="3" name="Picture 2" descr="Abstract particle graph background">
            <a:extLst>
              <a:ext uri="{FF2B5EF4-FFF2-40B4-BE49-F238E27FC236}">
                <a16:creationId xmlns:a16="http://schemas.microsoft.com/office/drawing/2014/main" id="{9F1C741E-015E-D492-70F4-C63EAD10953E}"/>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4DB855DE-6B2C-2058-E890-179E08B8C611}"/>
              </a:ext>
            </a:extLst>
          </p:cNvPr>
          <p:cNvSpPr>
            <a:spLocks noGrp="1"/>
          </p:cNvSpPr>
          <p:nvPr>
            <p:ph type="title"/>
          </p:nvPr>
        </p:nvSpPr>
        <p:spPr>
          <a:xfrm>
            <a:off x="838200" y="365125"/>
            <a:ext cx="10515600" cy="1325563"/>
          </a:xfrm>
        </p:spPr>
        <p:txBody>
          <a:bodyPr>
            <a:normAutofit/>
          </a:bodyPr>
          <a:lstStyle/>
          <a:p>
            <a:r>
              <a:rPr lang="en-US" dirty="0"/>
              <a:t>Next Steps</a:t>
            </a:r>
          </a:p>
        </p:txBody>
      </p:sp>
      <p:graphicFrame>
        <p:nvGraphicFramePr>
          <p:cNvPr id="5" name="Content Placeholder 2">
            <a:extLst>
              <a:ext uri="{FF2B5EF4-FFF2-40B4-BE49-F238E27FC236}">
                <a16:creationId xmlns:a16="http://schemas.microsoft.com/office/drawing/2014/main" id="{E57C21A2-884E-A386-2964-173412D22C0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30553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CE5C5-B96C-4493-3615-124FCCF13693}"/>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52CF5A99-FB8E-AAB9-7128-5D242AE16B15}"/>
              </a:ext>
            </a:extLst>
          </p:cNvPr>
          <p:cNvPicPr>
            <a:picLocks noChangeAspect="1"/>
          </p:cNvPicPr>
          <p:nvPr/>
        </p:nvPicPr>
        <p:blipFill>
          <a:blip r:embed="rId3">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A269ED7C-6277-35D9-294F-908E67A90938}"/>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319F8D53-F93F-F744-E559-0A22F4E4F313}"/>
              </a:ext>
            </a:extLst>
          </p:cNvPr>
          <p:cNvSpPr>
            <a:spLocks noGrp="1"/>
          </p:cNvSpPr>
          <p:nvPr>
            <p:ph idx="1"/>
          </p:nvPr>
        </p:nvSpPr>
        <p:spPr>
          <a:solidFill>
            <a:schemeClr val="tx1">
              <a:alpha val="80000"/>
            </a:schemeClr>
          </a:solidFill>
        </p:spPr>
        <p:txBody>
          <a:bodyPr>
            <a:normAutofit fontScale="85000" lnSpcReduction="10000"/>
          </a:bodyPr>
          <a:lstStyle/>
          <a:p>
            <a:pPr lvl="0"/>
            <a:r>
              <a:rPr lang="en-US" dirty="0" err="1">
                <a:solidFill>
                  <a:schemeClr val="bg1"/>
                </a:solidFill>
              </a:rPr>
              <a:t>Bouchrika</a:t>
            </a:r>
            <a:r>
              <a:rPr lang="en-US" dirty="0">
                <a:solidFill>
                  <a:schemeClr val="bg1"/>
                </a:solidFill>
              </a:rPr>
              <a:t>, I. (2024, January 2). How to Write Research Methodology: Overview, Tips, and Techniques. Research.com. </a:t>
            </a:r>
            <a:r>
              <a:rPr lang="en-US" u="sng" dirty="0">
                <a:solidFill>
                  <a:schemeClr val="bg1"/>
                </a:solidFill>
                <a:hlinkClick r:id="rId4">
                  <a:extLst>
                    <a:ext uri="{A12FA001-AC4F-418D-AE19-62706E023703}">
                      <ahyp:hlinkClr xmlns:ahyp="http://schemas.microsoft.com/office/drawing/2018/hyperlinkcolor" val="tx"/>
                    </a:ext>
                  </a:extLst>
                </a:hlinkClick>
              </a:rPr>
              <a:t>https://research.com/research/how-to-write-research-methodology</a:t>
            </a:r>
            <a:endParaRPr lang="en-US" dirty="0">
              <a:solidFill>
                <a:schemeClr val="bg1"/>
              </a:solidFill>
            </a:endParaRPr>
          </a:p>
          <a:p>
            <a:pPr lvl="0"/>
            <a:r>
              <a:rPr lang="en-US" dirty="0" err="1">
                <a:solidFill>
                  <a:schemeClr val="bg1"/>
                </a:solidFill>
              </a:rPr>
              <a:t>Kotusev</a:t>
            </a:r>
            <a:r>
              <a:rPr lang="en-US" dirty="0">
                <a:solidFill>
                  <a:schemeClr val="bg1"/>
                </a:solidFill>
              </a:rPr>
              <a:t>, S. (2021, July 1). A comparison of the top four enterprise architecture frameworks | BCS. Www.bcs.org. </a:t>
            </a:r>
            <a:r>
              <a:rPr lang="en-US" u="sng" dirty="0">
                <a:solidFill>
                  <a:schemeClr val="bg1"/>
                </a:solidFill>
                <a:hlinkClick r:id="rId5">
                  <a:extLst>
                    <a:ext uri="{A12FA001-AC4F-418D-AE19-62706E023703}">
                      <ahyp:hlinkClr xmlns:ahyp="http://schemas.microsoft.com/office/drawing/2018/hyperlinkcolor" val="tx"/>
                    </a:ext>
                  </a:extLst>
                </a:hlinkClick>
              </a:rPr>
              <a:t>https://www.bcs.org/articles-opinion-and-research/a-comparison-of-the-top-four-enterprise-architecture-frameworks/</a:t>
            </a:r>
            <a:r>
              <a:rPr lang="en-US" dirty="0">
                <a:solidFill>
                  <a:schemeClr val="bg1"/>
                </a:solidFill>
              </a:rPr>
              <a:t> </a:t>
            </a:r>
          </a:p>
          <a:p>
            <a:pPr lvl="0"/>
            <a:r>
              <a:rPr lang="en-US" dirty="0">
                <a:solidFill>
                  <a:schemeClr val="bg1"/>
                </a:solidFill>
              </a:rPr>
              <a:t>Enterprise Architecture Frameworks: TOGAF, Zachman, SABSA, a. (n.d.). </a:t>
            </a:r>
            <a:r>
              <a:rPr lang="en-US" dirty="0" err="1">
                <a:solidFill>
                  <a:schemeClr val="bg1"/>
                </a:solidFill>
              </a:rPr>
              <a:t>AltexSoft</a:t>
            </a:r>
            <a:r>
              <a:rPr lang="en-US" dirty="0">
                <a:solidFill>
                  <a:schemeClr val="bg1"/>
                </a:solidFill>
              </a:rPr>
              <a:t>. </a:t>
            </a:r>
            <a:r>
              <a:rPr lang="en-US" u="sng" dirty="0">
                <a:solidFill>
                  <a:schemeClr val="bg1"/>
                </a:solidFill>
                <a:hlinkClick r:id="rId6">
                  <a:extLst>
                    <a:ext uri="{A12FA001-AC4F-418D-AE19-62706E023703}">
                      <ahyp:hlinkClr xmlns:ahyp="http://schemas.microsoft.com/office/drawing/2018/hyperlinkcolor" val="tx"/>
                    </a:ext>
                  </a:extLst>
                </a:hlinkClick>
              </a:rPr>
              <a:t>https://www.altexsoft.com/blog/enterprise-architecture-frameworks-documenting-your-roadmap-to-change/</a:t>
            </a:r>
            <a:endParaRPr lang="en-US" dirty="0">
              <a:solidFill>
                <a:schemeClr val="bg1"/>
              </a:solidFill>
            </a:endParaRPr>
          </a:p>
          <a:p>
            <a:pPr lvl="0"/>
            <a:r>
              <a:rPr lang="en-US" dirty="0">
                <a:solidFill>
                  <a:schemeClr val="bg1"/>
                </a:solidFill>
              </a:rPr>
              <a:t>Federal Enterprise Architecture Framework | CMS. (n.d.). Www.cms.gov. </a:t>
            </a:r>
            <a:r>
              <a:rPr lang="en-US" u="sng" dirty="0">
                <a:solidFill>
                  <a:schemeClr val="bg1"/>
                </a:solidFill>
                <a:hlinkClick r:id="rId7">
                  <a:extLst>
                    <a:ext uri="{A12FA001-AC4F-418D-AE19-62706E023703}">
                      <ahyp:hlinkClr xmlns:ahyp="http://schemas.microsoft.com/office/drawing/2018/hyperlinkcolor" val="tx"/>
                    </a:ext>
                  </a:extLst>
                </a:hlinkClick>
              </a:rPr>
              <a:t>https://www.cms.gov/data-research/cms-information-technology/enterprise-architecture/federal-enterprise-architecture-framework</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874893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FEB93-03E2-DA4E-8464-EA73AF37E60F}"/>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CF598454-F064-F000-4D9E-741753E25BC4}"/>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C4C0C3B0-D6B0-EFE9-8018-693A57A9B7AB}"/>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6C7B49C4-E531-CB04-E53E-D9102085FA80}"/>
              </a:ext>
            </a:extLst>
          </p:cNvPr>
          <p:cNvSpPr>
            <a:spLocks noGrp="1"/>
          </p:cNvSpPr>
          <p:nvPr>
            <p:ph idx="1"/>
          </p:nvPr>
        </p:nvSpPr>
        <p:spPr>
          <a:solidFill>
            <a:schemeClr val="tx1">
              <a:alpha val="80000"/>
            </a:schemeClr>
          </a:solidFill>
          <a:ln>
            <a:solidFill>
              <a:schemeClr val="bg1"/>
            </a:solidFill>
          </a:ln>
        </p:spPr>
        <p:txBody>
          <a:bodyPr>
            <a:normAutofit fontScale="92500" lnSpcReduction="10000"/>
          </a:bodyPr>
          <a:lstStyle/>
          <a:p>
            <a:pPr lvl="0"/>
            <a:r>
              <a:rPr lang="en-US" dirty="0" err="1">
                <a:solidFill>
                  <a:schemeClr val="bg1"/>
                </a:solidFill>
              </a:rPr>
              <a:t>LeanIX</a:t>
            </a:r>
            <a:r>
              <a:rPr lang="en-US" dirty="0">
                <a:solidFill>
                  <a:schemeClr val="bg1"/>
                </a:solidFill>
              </a:rPr>
              <a:t>. (n.d.). FEAF – Federal Enterprise Architecture Framework | </a:t>
            </a:r>
            <a:r>
              <a:rPr lang="en-US" dirty="0" err="1">
                <a:solidFill>
                  <a:schemeClr val="bg1"/>
                </a:solidFill>
              </a:rPr>
              <a:t>LeanIX</a:t>
            </a:r>
            <a:r>
              <a:rPr lang="en-US" dirty="0">
                <a:solidFill>
                  <a:schemeClr val="bg1"/>
                </a:solidFill>
              </a:rPr>
              <a:t>. Www.leanix.net. </a:t>
            </a:r>
            <a:r>
              <a:rPr lang="en-US" u="sng" dirty="0">
                <a:solidFill>
                  <a:schemeClr val="bg1"/>
                </a:solidFill>
                <a:hlinkClick r:id="rId3">
                  <a:extLst>
                    <a:ext uri="{A12FA001-AC4F-418D-AE19-62706E023703}">
                      <ahyp:hlinkClr xmlns:ahyp="http://schemas.microsoft.com/office/drawing/2018/hyperlinkcolor" val="tx"/>
                    </a:ext>
                  </a:extLst>
                </a:hlinkClick>
              </a:rPr>
              <a:t>https://www.leanix.net/en/wiki/ea/feaf-federal-enterprise-architecture-framework</a:t>
            </a:r>
            <a:endParaRPr lang="en-US" dirty="0">
              <a:solidFill>
                <a:schemeClr val="bg1"/>
              </a:solidFill>
            </a:endParaRPr>
          </a:p>
          <a:p>
            <a:pPr lvl="0"/>
            <a:r>
              <a:rPr lang="en-US" dirty="0">
                <a:solidFill>
                  <a:schemeClr val="bg1"/>
                </a:solidFill>
              </a:rPr>
              <a:t>White, S. (2022, May 30). What is TOGAF? An enterprise architecture methodology for business. Www.cio.com. </a:t>
            </a:r>
            <a:r>
              <a:rPr lang="en-US" u="sng" dirty="0">
                <a:solidFill>
                  <a:schemeClr val="bg1"/>
                </a:solidFill>
                <a:hlinkClick r:id="rId4">
                  <a:extLst>
                    <a:ext uri="{A12FA001-AC4F-418D-AE19-62706E023703}">
                      <ahyp:hlinkClr xmlns:ahyp="http://schemas.microsoft.com/office/drawing/2018/hyperlinkcolor" val="tx"/>
                    </a:ext>
                  </a:extLst>
                </a:hlinkClick>
              </a:rPr>
              <a:t>https://www.cio.com/article/228328/what-is-togaf-an-enterprise-architecture-methodology-for-business.html</a:t>
            </a:r>
            <a:endParaRPr lang="en-US" dirty="0">
              <a:solidFill>
                <a:schemeClr val="bg1"/>
              </a:solidFill>
            </a:endParaRPr>
          </a:p>
          <a:p>
            <a:pPr lvl="0"/>
            <a:r>
              <a:rPr lang="en-US" dirty="0" err="1">
                <a:solidFill>
                  <a:schemeClr val="bg1"/>
                </a:solidFill>
              </a:rPr>
              <a:t>Estrach</a:t>
            </a:r>
            <a:r>
              <a:rPr lang="en-US" dirty="0">
                <a:solidFill>
                  <a:schemeClr val="bg1"/>
                </a:solidFill>
              </a:rPr>
              <a:t>, P. (2023, January 11). What is Enterprise Architecture (EA), and Why is it Important? MEGA. </a:t>
            </a:r>
            <a:r>
              <a:rPr lang="en-US" u="sng" dirty="0">
                <a:solidFill>
                  <a:schemeClr val="bg1"/>
                </a:solidFill>
                <a:hlinkClick r:id="rId5">
                  <a:extLst>
                    <a:ext uri="{A12FA001-AC4F-418D-AE19-62706E023703}">
                      <ahyp:hlinkClr xmlns:ahyp="http://schemas.microsoft.com/office/drawing/2018/hyperlinkcolor" val="tx"/>
                    </a:ext>
                  </a:extLst>
                </a:hlinkClick>
              </a:rPr>
              <a:t>https://www.mega.com/blog/what-is-enterprise-architecture-definition</a:t>
            </a:r>
            <a:endParaRPr lang="en-US" dirty="0">
              <a:solidFill>
                <a:schemeClr val="bg1"/>
              </a:solidFill>
            </a:endParaRPr>
          </a:p>
          <a:p>
            <a:pPr lvl="0"/>
            <a:r>
              <a:rPr lang="en-US" dirty="0">
                <a:solidFill>
                  <a:schemeClr val="bg1"/>
                </a:solidFill>
              </a:rPr>
              <a:t>Gartner, I. (2019). Enterprise Architecture (EA) Tools Reviews. Gartner. </a:t>
            </a:r>
            <a:r>
              <a:rPr lang="en-US" u="sng" dirty="0">
                <a:solidFill>
                  <a:schemeClr val="bg1"/>
                </a:solidFill>
                <a:hlinkClick r:id="rId6">
                  <a:extLst>
                    <a:ext uri="{A12FA001-AC4F-418D-AE19-62706E023703}">
                      <ahyp:hlinkClr xmlns:ahyp="http://schemas.microsoft.com/office/drawing/2018/hyperlinkcolor" val="tx"/>
                    </a:ext>
                  </a:extLst>
                </a:hlinkClick>
              </a:rPr>
              <a:t>https://www.gartner.com/reviews/market/enterprise-architecture-tools</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2835568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EB2-66F3-C28B-C330-093F3A412FE0}"/>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62A8BE74-2A8C-670A-F052-4938C3454472}"/>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ED92EF58-561F-C867-21A2-AFFF18DBA553}"/>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AF7E01BE-D638-AC11-84EE-6EDAD458DDA9}"/>
              </a:ext>
            </a:extLst>
          </p:cNvPr>
          <p:cNvSpPr>
            <a:spLocks noGrp="1"/>
          </p:cNvSpPr>
          <p:nvPr>
            <p:ph idx="1"/>
          </p:nvPr>
        </p:nvSpPr>
        <p:spPr>
          <a:solidFill>
            <a:schemeClr val="tx1">
              <a:alpha val="80000"/>
            </a:schemeClr>
          </a:solidFill>
        </p:spPr>
        <p:txBody>
          <a:bodyPr>
            <a:normAutofit fontScale="85000" lnSpcReduction="10000"/>
          </a:bodyPr>
          <a:lstStyle/>
          <a:p>
            <a:pPr lvl="0"/>
            <a:r>
              <a:rPr lang="en-US" dirty="0">
                <a:solidFill>
                  <a:schemeClr val="bg1"/>
                </a:solidFill>
              </a:rPr>
              <a:t>Bhatt, A. (2025, August 15). What Will An Enterprise Architecture Tool Cost You in 2025? A Pricing Breakdown. Ardoq.com; </a:t>
            </a:r>
            <a:r>
              <a:rPr lang="en-US" dirty="0" err="1">
                <a:solidFill>
                  <a:schemeClr val="bg1"/>
                </a:solidFill>
              </a:rPr>
              <a:t>Ardoq</a:t>
            </a:r>
            <a:r>
              <a:rPr lang="en-US" dirty="0">
                <a:solidFill>
                  <a:schemeClr val="bg1"/>
                </a:solidFill>
              </a:rPr>
              <a:t> AS. </a:t>
            </a:r>
            <a:r>
              <a:rPr lang="en-US" u="sng" dirty="0">
                <a:solidFill>
                  <a:schemeClr val="bg1"/>
                </a:solidFill>
                <a:hlinkClick r:id="rId3">
                  <a:extLst>
                    <a:ext uri="{A12FA001-AC4F-418D-AE19-62706E023703}">
                      <ahyp:hlinkClr xmlns:ahyp="http://schemas.microsoft.com/office/drawing/2018/hyperlinkcolor" val="tx"/>
                    </a:ext>
                  </a:extLst>
                </a:hlinkClick>
              </a:rPr>
              <a:t>https://www.ardoq.com/blog/enterprise-architecture-cost-in-2025</a:t>
            </a:r>
            <a:endParaRPr lang="en-US" dirty="0">
              <a:solidFill>
                <a:schemeClr val="bg1"/>
              </a:solidFill>
            </a:endParaRPr>
          </a:p>
          <a:p>
            <a:pPr lvl="0"/>
            <a:r>
              <a:rPr lang="en-US" dirty="0" err="1">
                <a:solidFill>
                  <a:schemeClr val="bg1"/>
                </a:solidFill>
              </a:rPr>
              <a:t>Reselman</a:t>
            </a:r>
            <a:r>
              <a:rPr lang="en-US" dirty="0">
                <a:solidFill>
                  <a:schemeClr val="bg1"/>
                </a:solidFill>
              </a:rPr>
              <a:t>, B. (2020). TOGAF and the history of enterprise architecture. Redhat.com. </a:t>
            </a:r>
            <a:r>
              <a:rPr lang="en-US" u="sng" dirty="0">
                <a:solidFill>
                  <a:schemeClr val="bg1"/>
                </a:solidFill>
                <a:hlinkClick r:id="rId4">
                  <a:extLst>
                    <a:ext uri="{A12FA001-AC4F-418D-AE19-62706E023703}">
                      <ahyp:hlinkClr xmlns:ahyp="http://schemas.microsoft.com/office/drawing/2018/hyperlinkcolor" val="tx"/>
                    </a:ext>
                  </a:extLst>
                </a:hlinkClick>
              </a:rPr>
              <a:t>https://www.redhat.com/en/blog/togaf</a:t>
            </a:r>
            <a:endParaRPr lang="en-US" dirty="0">
              <a:solidFill>
                <a:schemeClr val="bg1"/>
              </a:solidFill>
            </a:endParaRPr>
          </a:p>
          <a:p>
            <a:pPr lvl="0"/>
            <a:r>
              <a:rPr lang="en-US" dirty="0">
                <a:solidFill>
                  <a:schemeClr val="bg1"/>
                </a:solidFill>
              </a:rPr>
              <a:t>Viccars, A. (2024, November 11). Blockchain’s impact on Enterprise Architecture. A new standard in security and transparency. Entasispartners.com; Entasis Partners. </a:t>
            </a:r>
            <a:r>
              <a:rPr lang="en-US" u="sng" dirty="0">
                <a:solidFill>
                  <a:schemeClr val="bg1"/>
                </a:solidFill>
                <a:hlinkClick r:id="rId5">
                  <a:extLst>
                    <a:ext uri="{A12FA001-AC4F-418D-AE19-62706E023703}">
                      <ahyp:hlinkClr xmlns:ahyp="http://schemas.microsoft.com/office/drawing/2018/hyperlinkcolor" val="tx"/>
                    </a:ext>
                  </a:extLst>
                </a:hlinkClick>
              </a:rPr>
              <a:t>https://www.entasispartners.com/blog/blockchains-impact-on-enterprise-architecture-a-new-standard-in-security-and-transparency</a:t>
            </a:r>
            <a:endParaRPr lang="en-US" dirty="0">
              <a:solidFill>
                <a:schemeClr val="bg1"/>
              </a:solidFill>
            </a:endParaRPr>
          </a:p>
          <a:p>
            <a:pPr lvl="0"/>
            <a:r>
              <a:rPr lang="en-US" dirty="0">
                <a:solidFill>
                  <a:schemeClr val="bg1"/>
                </a:solidFill>
              </a:rPr>
              <a:t>Betz, C. (2025, April 2). The Augmented Architect: Real-Time Enterprise Architecture In The Age Of AI. Forrester. </a:t>
            </a:r>
            <a:r>
              <a:rPr lang="en-US" u="sng" dirty="0">
                <a:solidFill>
                  <a:schemeClr val="bg1"/>
                </a:solidFill>
                <a:hlinkClick r:id="rId6">
                  <a:extLst>
                    <a:ext uri="{A12FA001-AC4F-418D-AE19-62706E023703}">
                      <ahyp:hlinkClr xmlns:ahyp="http://schemas.microsoft.com/office/drawing/2018/hyperlinkcolor" val="tx"/>
                    </a:ext>
                  </a:extLst>
                </a:hlinkClick>
              </a:rPr>
              <a:t>https://www.forrester.com/blogs/the-augmented-architect-real-time-enterprise-architecture-in-the-age-of-ai/</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5618268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50FDF-1640-C8D0-AA17-EBAE29CD5C6D}"/>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866B7A3C-1C2C-E654-AEC5-FFCC97A6EB4B}"/>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701B9FA0-FC21-2C44-D9E0-9F8101541F33}"/>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4CD9EB6F-BFFF-7ECB-27F5-DF4B6E2B419D}"/>
              </a:ext>
            </a:extLst>
          </p:cNvPr>
          <p:cNvSpPr>
            <a:spLocks noGrp="1"/>
          </p:cNvSpPr>
          <p:nvPr>
            <p:ph idx="1"/>
          </p:nvPr>
        </p:nvSpPr>
        <p:spPr>
          <a:solidFill>
            <a:schemeClr val="tx1">
              <a:alpha val="80000"/>
            </a:schemeClr>
          </a:solidFill>
        </p:spPr>
        <p:txBody>
          <a:bodyPr>
            <a:normAutofit fontScale="77500" lnSpcReduction="20000"/>
          </a:bodyPr>
          <a:lstStyle/>
          <a:p>
            <a:pPr lvl="0"/>
            <a:r>
              <a:rPr lang="en-US" dirty="0">
                <a:solidFill>
                  <a:schemeClr val="bg1"/>
                </a:solidFill>
              </a:rPr>
              <a:t>Guide to Enterprise Architecture ENTERPRISE ARCHITECT User Guide Series. (2023). </a:t>
            </a:r>
            <a:r>
              <a:rPr lang="en-US" u="sng" dirty="0">
                <a:solidFill>
                  <a:schemeClr val="bg1"/>
                </a:solidFill>
                <a:hlinkClick r:id="rId3">
                  <a:extLst>
                    <a:ext uri="{A12FA001-AC4F-418D-AE19-62706E023703}">
                      <ahyp:hlinkClr xmlns:ahyp="http://schemas.microsoft.com/office/drawing/2018/hyperlinkcolor" val="tx"/>
                    </a:ext>
                  </a:extLst>
                </a:hlinkClick>
              </a:rPr>
              <a:t>https://sparxsystems.com/resources/user-guides/16.1/guidebooks/enterprise-architecture.pdf</a:t>
            </a:r>
            <a:r>
              <a:rPr lang="en-US" dirty="0">
                <a:solidFill>
                  <a:schemeClr val="bg1"/>
                </a:solidFill>
              </a:rPr>
              <a:t> </a:t>
            </a:r>
          </a:p>
          <a:p>
            <a:pPr lvl="0"/>
            <a:r>
              <a:rPr lang="en-US" dirty="0">
                <a:solidFill>
                  <a:schemeClr val="bg1"/>
                </a:solidFill>
              </a:rPr>
              <a:t>White, S. (2020, April 6). What is the Zachman Framework? A matrix for managing enterprise architecture. CIO. </a:t>
            </a:r>
            <a:r>
              <a:rPr lang="en-US" u="sng" dirty="0">
                <a:solidFill>
                  <a:schemeClr val="bg1"/>
                </a:solidFill>
                <a:hlinkClick r:id="rId4">
                  <a:extLst>
                    <a:ext uri="{A12FA001-AC4F-418D-AE19-62706E023703}">
                      <ahyp:hlinkClr xmlns:ahyp="http://schemas.microsoft.com/office/drawing/2018/hyperlinkcolor" val="tx"/>
                    </a:ext>
                  </a:extLst>
                </a:hlinkClick>
              </a:rPr>
              <a:t>https://www.cio.com/article/193229/what-is-the-zachman-framework-a-matrix-for-managing-enterprise-architecture.html</a:t>
            </a:r>
            <a:r>
              <a:rPr lang="en-US" dirty="0">
                <a:solidFill>
                  <a:schemeClr val="bg1"/>
                </a:solidFill>
              </a:rPr>
              <a:t> </a:t>
            </a:r>
          </a:p>
          <a:p>
            <a:pPr lvl="0"/>
            <a:r>
              <a:rPr lang="en-US" dirty="0" err="1">
                <a:solidFill>
                  <a:schemeClr val="bg1"/>
                </a:solidFill>
              </a:rPr>
              <a:t>Ardoq</a:t>
            </a:r>
            <a:r>
              <a:rPr lang="en-US" dirty="0">
                <a:solidFill>
                  <a:schemeClr val="bg1"/>
                </a:solidFill>
              </a:rPr>
              <a:t>. (2024, October 22). What is the Zachman Framework? A Definitive Guide to this EA Standard. Ardoq.com; </a:t>
            </a:r>
            <a:r>
              <a:rPr lang="en-US" dirty="0" err="1">
                <a:solidFill>
                  <a:schemeClr val="bg1"/>
                </a:solidFill>
              </a:rPr>
              <a:t>Ardoq</a:t>
            </a:r>
            <a:r>
              <a:rPr lang="en-US" dirty="0">
                <a:solidFill>
                  <a:schemeClr val="bg1"/>
                </a:solidFill>
              </a:rPr>
              <a:t> AS. </a:t>
            </a:r>
            <a:r>
              <a:rPr lang="en-US" u="sng" dirty="0">
                <a:solidFill>
                  <a:schemeClr val="bg1"/>
                </a:solidFill>
                <a:hlinkClick r:id="rId5">
                  <a:extLst>
                    <a:ext uri="{A12FA001-AC4F-418D-AE19-62706E023703}">
                      <ahyp:hlinkClr xmlns:ahyp="http://schemas.microsoft.com/office/drawing/2018/hyperlinkcolor" val="tx"/>
                    </a:ext>
                  </a:extLst>
                </a:hlinkClick>
              </a:rPr>
              <a:t>https://www.ardoq.com/knowledge-hub/zachman-framework</a:t>
            </a:r>
            <a:r>
              <a:rPr lang="en-US" dirty="0">
                <a:solidFill>
                  <a:schemeClr val="bg1"/>
                </a:solidFill>
              </a:rPr>
              <a:t> </a:t>
            </a:r>
          </a:p>
          <a:p>
            <a:pPr lvl="0"/>
            <a:r>
              <a:rPr lang="en-US" dirty="0">
                <a:solidFill>
                  <a:schemeClr val="bg1"/>
                </a:solidFill>
              </a:rPr>
              <a:t>The Zachman Framework Main View. (n.d.). Sparxsystems.com. </a:t>
            </a:r>
            <a:r>
              <a:rPr lang="en-US" u="sng" dirty="0">
                <a:solidFill>
                  <a:schemeClr val="bg1"/>
                </a:solidFill>
                <a:hlinkClick r:id="rId6">
                  <a:extLst>
                    <a:ext uri="{A12FA001-AC4F-418D-AE19-62706E023703}">
                      <ahyp:hlinkClr xmlns:ahyp="http://schemas.microsoft.com/office/drawing/2018/hyperlinkcolor" val="tx"/>
                    </a:ext>
                  </a:extLst>
                </a:hlinkClick>
              </a:rPr>
              <a:t>https://sparxsystems.com/resources/gallery/diagrams/architecture/arc-zachman-framework.html</a:t>
            </a:r>
            <a:r>
              <a:rPr lang="en-US" dirty="0">
                <a:solidFill>
                  <a:schemeClr val="bg1"/>
                </a:solidFill>
              </a:rPr>
              <a:t> </a:t>
            </a:r>
          </a:p>
          <a:p>
            <a:pPr lvl="0"/>
            <a:r>
              <a:rPr lang="en-US" dirty="0">
                <a:solidFill>
                  <a:schemeClr val="bg1"/>
                </a:solidFill>
              </a:rPr>
              <a:t>Raza, M. (2020, March 27). TOGAF vs Zachman: What’s The Difference? BMC Blogs. </a:t>
            </a:r>
            <a:r>
              <a:rPr lang="en-US" u="sng" dirty="0">
                <a:solidFill>
                  <a:schemeClr val="bg1"/>
                </a:solidFill>
                <a:hlinkClick r:id="rId7">
                  <a:extLst>
                    <a:ext uri="{A12FA001-AC4F-418D-AE19-62706E023703}">
                      <ahyp:hlinkClr xmlns:ahyp="http://schemas.microsoft.com/office/drawing/2018/hyperlinkcolor" val="tx"/>
                    </a:ext>
                  </a:extLst>
                </a:hlinkClick>
              </a:rPr>
              <a:t>https://www.bmc.com/blogs/togaf-vs-zachman/</a:t>
            </a:r>
            <a:r>
              <a:rPr lang="en-US" dirty="0">
                <a:solidFill>
                  <a:schemeClr val="bg1"/>
                </a:solidFill>
              </a:rPr>
              <a:t> </a:t>
            </a:r>
          </a:p>
        </p:txBody>
      </p:sp>
    </p:spTree>
    <p:extLst>
      <p:ext uri="{BB962C8B-B14F-4D97-AF65-F5344CB8AC3E}">
        <p14:creationId xmlns:p14="http://schemas.microsoft.com/office/powerpoint/2010/main" val="2696849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B29B-5FA3-760F-11E9-A919FBDF9670}"/>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EE514A11-D8D1-0FB9-9C18-123F476E497B}"/>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155ACA6E-B5BA-962F-38AA-ACF18D583C04}"/>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4F0FE9E1-28B4-FEF9-CBC8-F357ABD49FEA}"/>
              </a:ext>
            </a:extLst>
          </p:cNvPr>
          <p:cNvSpPr>
            <a:spLocks noGrp="1"/>
          </p:cNvSpPr>
          <p:nvPr>
            <p:ph idx="1"/>
          </p:nvPr>
        </p:nvSpPr>
        <p:spPr>
          <a:solidFill>
            <a:schemeClr val="tx1">
              <a:alpha val="80000"/>
            </a:schemeClr>
          </a:solidFill>
        </p:spPr>
        <p:txBody>
          <a:bodyPr>
            <a:normAutofit fontScale="92500" lnSpcReduction="20000"/>
          </a:bodyPr>
          <a:lstStyle/>
          <a:p>
            <a:pPr lvl="0"/>
            <a:r>
              <a:rPr lang="en-US" dirty="0">
                <a:solidFill>
                  <a:schemeClr val="bg1"/>
                </a:solidFill>
              </a:rPr>
              <a:t>Asana. (2024, January 8). </a:t>
            </a:r>
            <a:r>
              <a:rPr lang="en-US" i="1" dirty="0">
                <a:solidFill>
                  <a:schemeClr val="bg1"/>
                </a:solidFill>
              </a:rPr>
              <a:t>Guide to Process Mapping: Definition, How-to, and Tips • Asana</a:t>
            </a:r>
            <a:r>
              <a:rPr lang="en-US" dirty="0">
                <a:solidFill>
                  <a:schemeClr val="bg1"/>
                </a:solidFill>
              </a:rPr>
              <a:t>. Asana. </a:t>
            </a:r>
            <a:r>
              <a:rPr lang="en-US" u="sng" dirty="0">
                <a:solidFill>
                  <a:schemeClr val="bg1"/>
                </a:solidFill>
                <a:hlinkClick r:id="rId3">
                  <a:extLst>
                    <a:ext uri="{A12FA001-AC4F-418D-AE19-62706E023703}">
                      <ahyp:hlinkClr xmlns:ahyp="http://schemas.microsoft.com/office/drawing/2018/hyperlinkcolor" val="tx"/>
                    </a:ext>
                  </a:extLst>
                </a:hlinkClick>
              </a:rPr>
              <a:t>https://asana.com/resources/process-mapping</a:t>
            </a:r>
            <a:r>
              <a:rPr lang="en-US" dirty="0">
                <a:solidFill>
                  <a:schemeClr val="bg1"/>
                </a:solidFill>
              </a:rPr>
              <a:t> </a:t>
            </a:r>
          </a:p>
          <a:p>
            <a:pPr lvl="0"/>
            <a:r>
              <a:rPr lang="en-US" dirty="0" err="1">
                <a:solidFill>
                  <a:schemeClr val="bg1"/>
                </a:solidFill>
              </a:rPr>
              <a:t>Sinur</a:t>
            </a:r>
            <a:r>
              <a:rPr lang="en-US" dirty="0">
                <a:solidFill>
                  <a:schemeClr val="bg1"/>
                </a:solidFill>
              </a:rPr>
              <a:t>, J., Misiak, Z., &amp; BJ </a:t>
            </a:r>
            <a:r>
              <a:rPr lang="en-US" dirty="0" err="1">
                <a:solidFill>
                  <a:schemeClr val="bg1"/>
                </a:solidFill>
              </a:rPr>
              <a:t>Biernatowski</a:t>
            </a:r>
            <a:r>
              <a:rPr lang="en-US" dirty="0">
                <a:solidFill>
                  <a:schemeClr val="bg1"/>
                </a:solidFill>
              </a:rPr>
              <a:t>. (2025). Practical Business Process Modeling and Analysis. </a:t>
            </a:r>
            <a:r>
              <a:rPr lang="en-US" dirty="0" err="1">
                <a:solidFill>
                  <a:schemeClr val="bg1"/>
                </a:solidFill>
              </a:rPr>
              <a:t>Packt</a:t>
            </a:r>
            <a:r>
              <a:rPr lang="en-US" dirty="0">
                <a:solidFill>
                  <a:schemeClr val="bg1"/>
                </a:solidFill>
              </a:rPr>
              <a:t> Publishing Ltd.</a:t>
            </a:r>
          </a:p>
          <a:p>
            <a:pPr lvl="0"/>
            <a:r>
              <a:rPr lang="en-US" dirty="0">
                <a:solidFill>
                  <a:schemeClr val="bg1"/>
                </a:solidFill>
              </a:rPr>
              <a:t>Angelo the BA. (2020, October 4). Business Process Modeling BPMN Basics Tutorial with Draw.IO (Free Visio Alternative). YouTube. </a:t>
            </a:r>
            <a:r>
              <a:rPr lang="en-US" u="sng" dirty="0">
                <a:solidFill>
                  <a:schemeClr val="bg1"/>
                </a:solidFill>
                <a:hlinkClick r:id="rId4">
                  <a:extLst>
                    <a:ext uri="{A12FA001-AC4F-418D-AE19-62706E023703}">
                      <ahyp:hlinkClr xmlns:ahyp="http://schemas.microsoft.com/office/drawing/2018/hyperlinkcolor" val="tx"/>
                    </a:ext>
                  </a:extLst>
                </a:hlinkClick>
              </a:rPr>
              <a:t>https://www.youtube.com/watch?v=e9wANApZXL8</a:t>
            </a:r>
            <a:r>
              <a:rPr lang="en-US" dirty="0">
                <a:solidFill>
                  <a:schemeClr val="bg1"/>
                </a:solidFill>
              </a:rPr>
              <a:t> </a:t>
            </a:r>
          </a:p>
          <a:p>
            <a:pPr lvl="0"/>
            <a:r>
              <a:rPr lang="en-US" dirty="0">
                <a:solidFill>
                  <a:schemeClr val="bg1"/>
                </a:solidFill>
              </a:rPr>
              <a:t>Building a Business Architecture. (n.d.). </a:t>
            </a:r>
            <a:r>
              <a:rPr lang="en-US" dirty="0" err="1">
                <a:solidFill>
                  <a:schemeClr val="bg1"/>
                </a:solidFill>
              </a:rPr>
              <a:t>Lucidchart</a:t>
            </a:r>
            <a:r>
              <a:rPr lang="en-US" dirty="0">
                <a:solidFill>
                  <a:schemeClr val="bg1"/>
                </a:solidFill>
              </a:rPr>
              <a:t>. </a:t>
            </a:r>
            <a:r>
              <a:rPr lang="en-US" u="sng" dirty="0">
                <a:solidFill>
                  <a:schemeClr val="bg1"/>
                </a:solidFill>
                <a:hlinkClick r:id="rId5">
                  <a:extLst>
                    <a:ext uri="{A12FA001-AC4F-418D-AE19-62706E023703}">
                      <ahyp:hlinkClr xmlns:ahyp="http://schemas.microsoft.com/office/drawing/2018/hyperlinkcolor" val="tx"/>
                    </a:ext>
                  </a:extLst>
                </a:hlinkClick>
              </a:rPr>
              <a:t>https://www.lucidchart.com/blog/building-a-business-architecture</a:t>
            </a:r>
            <a:endParaRPr lang="en-US" dirty="0">
              <a:solidFill>
                <a:schemeClr val="bg1"/>
              </a:solidFill>
            </a:endParaRPr>
          </a:p>
          <a:p>
            <a:pPr lvl="0"/>
            <a:r>
              <a:rPr lang="en-US" dirty="0" err="1">
                <a:solidFill>
                  <a:schemeClr val="bg1"/>
                </a:solidFill>
              </a:rPr>
              <a:t>DTUdk</a:t>
            </a:r>
            <a:r>
              <a:rPr lang="en-US" dirty="0">
                <a:solidFill>
                  <a:schemeClr val="bg1"/>
                </a:solidFill>
              </a:rPr>
              <a:t>. (2012, February 15). 03-2/4: Integrated Product Development. YouTube. </a:t>
            </a:r>
            <a:r>
              <a:rPr lang="en-US" u="sng" dirty="0">
                <a:solidFill>
                  <a:srgbClr val="538D9D"/>
                </a:solidFill>
                <a:hlinkClick r:id="rId6">
                  <a:extLst>
                    <a:ext uri="{A12FA001-AC4F-418D-AE19-62706E023703}">
                      <ahyp:hlinkClr xmlns:ahyp="http://schemas.microsoft.com/office/drawing/2018/hyperlinkcolor" val="tx"/>
                    </a:ext>
                  </a:extLst>
                </a:hlinkClick>
              </a:rPr>
              <a:t>https://www.youtube.com/watch?v=VJTA6bT_</a:t>
            </a:r>
            <a:r>
              <a:rPr lang="en-US" u="sng" dirty="0">
                <a:solidFill>
                  <a:schemeClr val="bg1"/>
                </a:solidFill>
                <a:hlinkClick r:id="rId6">
                  <a:extLst>
                    <a:ext uri="{A12FA001-AC4F-418D-AE19-62706E023703}">
                      <ahyp:hlinkClr xmlns:ahyp="http://schemas.microsoft.com/office/drawing/2018/hyperlinkcolor" val="tx"/>
                    </a:ext>
                  </a:extLst>
                </a:hlinkClick>
              </a:rPr>
              <a:t>PRk</a:t>
            </a:r>
            <a:endParaRPr lang="en-US" dirty="0">
              <a:solidFill>
                <a:schemeClr val="bg1"/>
              </a:solidFill>
            </a:endParaRPr>
          </a:p>
        </p:txBody>
      </p:sp>
    </p:spTree>
    <p:extLst>
      <p:ext uri="{BB962C8B-B14F-4D97-AF65-F5344CB8AC3E}">
        <p14:creationId xmlns:p14="http://schemas.microsoft.com/office/powerpoint/2010/main" val="823448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42D1-9340-A668-5DD2-A1DAEBF63BFF}"/>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AA738A24-E540-5C97-3C2D-281ADDD3CC92}"/>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EEECDED0-8D2F-FFAB-3FF1-E59FAC4CCD2C}"/>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4CE9D08E-D49F-70CF-7088-B2FDC452E5FC}"/>
              </a:ext>
            </a:extLst>
          </p:cNvPr>
          <p:cNvSpPr>
            <a:spLocks noGrp="1"/>
          </p:cNvSpPr>
          <p:nvPr>
            <p:ph idx="1"/>
          </p:nvPr>
        </p:nvSpPr>
        <p:spPr>
          <a:solidFill>
            <a:schemeClr val="tx1">
              <a:alpha val="80000"/>
            </a:schemeClr>
          </a:solidFill>
        </p:spPr>
        <p:txBody>
          <a:bodyPr>
            <a:normAutofit fontScale="85000" lnSpcReduction="10000"/>
          </a:bodyPr>
          <a:lstStyle/>
          <a:p>
            <a:pPr lvl="0"/>
            <a:r>
              <a:rPr lang="en-US" dirty="0">
                <a:solidFill>
                  <a:schemeClr val="bg1"/>
                </a:solidFill>
              </a:rPr>
              <a:t>What is Predictive Modeling? An Introduction | Splunk. (2025). Splunk. </a:t>
            </a:r>
            <a:r>
              <a:rPr lang="en-US" u="sng" dirty="0">
                <a:solidFill>
                  <a:schemeClr val="bg1"/>
                </a:solidFill>
                <a:hlinkClick r:id="rId3">
                  <a:extLst>
                    <a:ext uri="{A12FA001-AC4F-418D-AE19-62706E023703}">
                      <ahyp:hlinkClr xmlns:ahyp="http://schemas.microsoft.com/office/drawing/2018/hyperlinkcolor" val="tx"/>
                    </a:ext>
                  </a:extLst>
                </a:hlinkClick>
              </a:rPr>
              <a:t>https://www.splunk.com/en_us/blog/learn/predictive-modeling.html?301=/en_us/data-insider/what-is-predictive-modeling.html</a:t>
            </a:r>
            <a:r>
              <a:rPr lang="en-US" dirty="0">
                <a:solidFill>
                  <a:schemeClr val="bg1"/>
                </a:solidFill>
              </a:rPr>
              <a:t> </a:t>
            </a:r>
          </a:p>
          <a:p>
            <a:pPr lvl="0"/>
            <a:r>
              <a:rPr lang="en-US" dirty="0">
                <a:solidFill>
                  <a:schemeClr val="bg1"/>
                </a:solidFill>
              </a:rPr>
              <a:t>Ali, R. (2020, September 22). </a:t>
            </a:r>
            <a:r>
              <a:rPr lang="en-US" i="1" dirty="0">
                <a:solidFill>
                  <a:schemeClr val="bg1"/>
                </a:solidFill>
              </a:rPr>
              <a:t>Predicting Your Business’s Future</a:t>
            </a:r>
            <a:r>
              <a:rPr lang="en-US" dirty="0">
                <a:solidFill>
                  <a:schemeClr val="bg1"/>
                </a:solidFill>
              </a:rPr>
              <a:t>. Oracle NetSuite. </a:t>
            </a:r>
            <a:r>
              <a:rPr lang="en-US" u="sng" dirty="0">
                <a:solidFill>
                  <a:schemeClr val="bg1"/>
                </a:solidFill>
                <a:hlinkClick r:id="rId4">
                  <a:extLst>
                    <a:ext uri="{A12FA001-AC4F-418D-AE19-62706E023703}">
                      <ahyp:hlinkClr xmlns:ahyp="http://schemas.microsoft.com/office/drawing/2018/hyperlinkcolor" val="tx"/>
                    </a:ext>
                  </a:extLst>
                </a:hlinkClick>
              </a:rPr>
              <a:t>https://www.netsuite.com/portal/resource/articles/financial-management/predictive-modeling.shtml</a:t>
            </a:r>
            <a:r>
              <a:rPr lang="en-US" dirty="0">
                <a:solidFill>
                  <a:schemeClr val="bg1"/>
                </a:solidFill>
              </a:rPr>
              <a:t> </a:t>
            </a:r>
          </a:p>
          <a:p>
            <a:pPr lvl="0"/>
            <a:r>
              <a:rPr lang="en-US" dirty="0" err="1">
                <a:solidFill>
                  <a:schemeClr val="bg1"/>
                </a:solidFill>
              </a:rPr>
              <a:t>dotData</a:t>
            </a:r>
            <a:r>
              <a:rPr lang="en-US" dirty="0">
                <a:solidFill>
                  <a:schemeClr val="bg1"/>
                </a:solidFill>
              </a:rPr>
              <a:t>. (2022, September 22). </a:t>
            </a:r>
            <a:r>
              <a:rPr lang="en-US" i="1" dirty="0">
                <a:solidFill>
                  <a:schemeClr val="bg1"/>
                </a:solidFill>
              </a:rPr>
              <a:t>Types of Predictive Models (&amp; How They Work)</a:t>
            </a:r>
            <a:r>
              <a:rPr lang="en-US" dirty="0">
                <a:solidFill>
                  <a:schemeClr val="bg1"/>
                </a:solidFill>
              </a:rPr>
              <a:t>. </a:t>
            </a:r>
            <a:r>
              <a:rPr lang="en-US" dirty="0" err="1">
                <a:solidFill>
                  <a:schemeClr val="bg1"/>
                </a:solidFill>
              </a:rPr>
              <a:t>DotData</a:t>
            </a:r>
            <a:r>
              <a:rPr lang="en-US" dirty="0">
                <a:solidFill>
                  <a:schemeClr val="bg1"/>
                </a:solidFill>
              </a:rPr>
              <a:t>. </a:t>
            </a:r>
            <a:r>
              <a:rPr lang="en-US" u="sng" dirty="0">
                <a:solidFill>
                  <a:schemeClr val="bg1"/>
                </a:solidFill>
                <a:hlinkClick r:id="rId5">
                  <a:extLst>
                    <a:ext uri="{A12FA001-AC4F-418D-AE19-62706E023703}">
                      <ahyp:hlinkClr xmlns:ahyp="http://schemas.microsoft.com/office/drawing/2018/hyperlinkcolor" val="tx"/>
                    </a:ext>
                  </a:extLst>
                </a:hlinkClick>
              </a:rPr>
              <a:t>https://dotdata.com/blog/types-of-predictive-models-how-they-work/</a:t>
            </a:r>
            <a:r>
              <a:rPr lang="en-US" dirty="0">
                <a:solidFill>
                  <a:schemeClr val="bg1"/>
                </a:solidFill>
              </a:rPr>
              <a:t> </a:t>
            </a:r>
          </a:p>
          <a:p>
            <a:pPr lvl="0"/>
            <a:r>
              <a:rPr lang="en-US" dirty="0">
                <a:solidFill>
                  <a:schemeClr val="bg1"/>
                </a:solidFill>
              </a:rPr>
              <a:t>Pratama, I. N., Dachyar, M., &amp; Pratama, N. R. (2023). Optimization of Resource Allocation and Task Allocation with Project Management Information Systems in Information Technology Companies. </a:t>
            </a:r>
            <a:r>
              <a:rPr lang="en-US" i="1" dirty="0">
                <a:solidFill>
                  <a:schemeClr val="bg1"/>
                </a:solidFill>
              </a:rPr>
              <a:t>TEM Journal</a:t>
            </a:r>
            <a:r>
              <a:rPr lang="en-US" dirty="0">
                <a:solidFill>
                  <a:schemeClr val="bg1"/>
                </a:solidFill>
              </a:rPr>
              <a:t>, </a:t>
            </a:r>
            <a:r>
              <a:rPr lang="en-US" i="1" dirty="0">
                <a:solidFill>
                  <a:schemeClr val="bg1"/>
                </a:solidFill>
              </a:rPr>
              <a:t>12</a:t>
            </a:r>
            <a:r>
              <a:rPr lang="en-US" dirty="0">
                <a:solidFill>
                  <a:schemeClr val="bg1"/>
                </a:solidFill>
              </a:rPr>
              <a:t>(3), 1814–1824. </a:t>
            </a:r>
            <a:r>
              <a:rPr lang="en-US" u="sng" dirty="0">
                <a:solidFill>
                  <a:schemeClr val="bg1"/>
                </a:solidFill>
                <a:hlinkClick r:id="rId6">
                  <a:extLst>
                    <a:ext uri="{A12FA001-AC4F-418D-AE19-62706E023703}">
                      <ahyp:hlinkClr xmlns:ahyp="http://schemas.microsoft.com/office/drawing/2018/hyperlinkcolor" val="tx"/>
                    </a:ext>
                  </a:extLst>
                </a:hlinkClick>
              </a:rPr>
              <a:t>https://doi.org/10.18421/tem123-65</a:t>
            </a:r>
            <a:r>
              <a:rPr lang="en-US" dirty="0">
                <a:solidFill>
                  <a:schemeClr val="bg1"/>
                </a:solidFill>
              </a:rPr>
              <a:t> </a:t>
            </a:r>
          </a:p>
          <a:p>
            <a:pPr lvl="0"/>
            <a:endParaRPr lang="en-US" dirty="0">
              <a:solidFill>
                <a:schemeClr val="bg1"/>
              </a:solidFill>
            </a:endParaRPr>
          </a:p>
        </p:txBody>
      </p:sp>
    </p:spTree>
    <p:extLst>
      <p:ext uri="{BB962C8B-B14F-4D97-AF65-F5344CB8AC3E}">
        <p14:creationId xmlns:p14="http://schemas.microsoft.com/office/powerpoint/2010/main" val="22809782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ABD7-CC36-D088-E03B-4AC13233CF3E}"/>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EBF8751C-AC31-880E-2720-2D1C0A17C658}"/>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581DB9EC-0833-55CE-B231-63115837EEF7}"/>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6B7870E1-A9CB-CA03-7D40-4E2D4A088C54}"/>
              </a:ext>
            </a:extLst>
          </p:cNvPr>
          <p:cNvSpPr>
            <a:spLocks noGrp="1"/>
          </p:cNvSpPr>
          <p:nvPr>
            <p:ph idx="1"/>
          </p:nvPr>
        </p:nvSpPr>
        <p:spPr>
          <a:solidFill>
            <a:schemeClr val="tx1">
              <a:alpha val="80000"/>
            </a:schemeClr>
          </a:solidFill>
        </p:spPr>
        <p:txBody>
          <a:bodyPr>
            <a:normAutofit fontScale="85000" lnSpcReduction="20000"/>
          </a:bodyPr>
          <a:lstStyle/>
          <a:p>
            <a:pPr lvl="0"/>
            <a:r>
              <a:rPr lang="en-US" dirty="0">
                <a:solidFill>
                  <a:schemeClr val="bg1"/>
                </a:solidFill>
              </a:rPr>
              <a:t>Morariu, C., Morariu, O., </a:t>
            </a:r>
            <a:r>
              <a:rPr lang="en-US" dirty="0" err="1">
                <a:solidFill>
                  <a:schemeClr val="bg1"/>
                </a:solidFill>
              </a:rPr>
              <a:t>Răileanu</a:t>
            </a:r>
            <a:r>
              <a:rPr lang="en-US" dirty="0">
                <a:solidFill>
                  <a:schemeClr val="bg1"/>
                </a:solidFill>
              </a:rPr>
              <a:t>, S., &amp; </a:t>
            </a:r>
            <a:r>
              <a:rPr lang="en-US" dirty="0" err="1">
                <a:solidFill>
                  <a:schemeClr val="bg1"/>
                </a:solidFill>
              </a:rPr>
              <a:t>Borangiu</a:t>
            </a:r>
            <a:r>
              <a:rPr lang="en-US" dirty="0">
                <a:solidFill>
                  <a:schemeClr val="bg1"/>
                </a:solidFill>
              </a:rPr>
              <a:t>, T. (2020). Machine learning for predictive scheduling and resource allocation in large scale manufacturing systems. </a:t>
            </a:r>
            <a:r>
              <a:rPr lang="en-US" i="1" dirty="0">
                <a:solidFill>
                  <a:schemeClr val="bg1"/>
                </a:solidFill>
              </a:rPr>
              <a:t>Computers in Industry</a:t>
            </a:r>
            <a:r>
              <a:rPr lang="en-US" dirty="0">
                <a:solidFill>
                  <a:schemeClr val="bg1"/>
                </a:solidFill>
              </a:rPr>
              <a:t>, </a:t>
            </a:r>
            <a:r>
              <a:rPr lang="en-US" i="1" dirty="0">
                <a:solidFill>
                  <a:schemeClr val="bg1"/>
                </a:solidFill>
              </a:rPr>
              <a:t>120</a:t>
            </a:r>
            <a:r>
              <a:rPr lang="en-US" dirty="0">
                <a:solidFill>
                  <a:schemeClr val="bg1"/>
                </a:solidFill>
              </a:rPr>
              <a:t>, 103244. </a:t>
            </a:r>
            <a:r>
              <a:rPr lang="en-US" u="sng" dirty="0">
                <a:solidFill>
                  <a:schemeClr val="bg1"/>
                </a:solidFill>
                <a:hlinkClick r:id="rId3">
                  <a:extLst>
                    <a:ext uri="{A12FA001-AC4F-418D-AE19-62706E023703}">
                      <ahyp:hlinkClr xmlns:ahyp="http://schemas.microsoft.com/office/drawing/2018/hyperlinkcolor" val="tx"/>
                    </a:ext>
                  </a:extLst>
                </a:hlinkClick>
              </a:rPr>
              <a:t>https://doi.org/10.1016/j.compind.2020.103244</a:t>
            </a:r>
            <a:r>
              <a:rPr lang="en-US" dirty="0">
                <a:solidFill>
                  <a:schemeClr val="bg1"/>
                </a:solidFill>
              </a:rPr>
              <a:t> </a:t>
            </a:r>
          </a:p>
          <a:p>
            <a:pPr lvl="0"/>
            <a:r>
              <a:rPr lang="en-US" dirty="0">
                <a:solidFill>
                  <a:schemeClr val="bg1"/>
                </a:solidFill>
              </a:rPr>
              <a:t>Al-Ghamdi, M., Chester, A., He, L., &amp; Jarvis, S. (n.d.). </a:t>
            </a:r>
            <a:r>
              <a:rPr lang="en-US" i="1" dirty="0">
                <a:solidFill>
                  <a:schemeClr val="bg1"/>
                </a:solidFill>
              </a:rPr>
              <a:t>DYNAMIC RESOURCE ALLOCATION AND ACTIVE PREDICTIVE MODELS FOR ENTERPRISE APPLICATIONS</a:t>
            </a:r>
            <a:r>
              <a:rPr lang="en-US" dirty="0">
                <a:solidFill>
                  <a:schemeClr val="bg1"/>
                </a:solidFill>
              </a:rPr>
              <a:t>. </a:t>
            </a:r>
            <a:r>
              <a:rPr lang="en-US" u="sng" dirty="0">
                <a:solidFill>
                  <a:schemeClr val="bg1"/>
                </a:solidFill>
                <a:hlinkClick r:id="rId4">
                  <a:extLst>
                    <a:ext uri="{A12FA001-AC4F-418D-AE19-62706E023703}">
                      <ahyp:hlinkClr xmlns:ahyp="http://schemas.microsoft.com/office/drawing/2018/hyperlinkcolor" val="tx"/>
                    </a:ext>
                  </a:extLst>
                </a:hlinkClick>
              </a:rPr>
              <a:t>https://doi.org/10.5220/0003388705510562</a:t>
            </a:r>
            <a:r>
              <a:rPr lang="en-US" dirty="0">
                <a:solidFill>
                  <a:schemeClr val="bg1"/>
                </a:solidFill>
              </a:rPr>
              <a:t> </a:t>
            </a:r>
          </a:p>
          <a:p>
            <a:pPr lvl="0"/>
            <a:r>
              <a:rPr lang="en-US" dirty="0">
                <a:solidFill>
                  <a:schemeClr val="bg1"/>
                </a:solidFill>
              </a:rPr>
              <a:t>Glaser, V. L., Omidvar, O., &amp; Safavi, M. (2023). Predictive Models Can Lose the Plot. Here’s How to Keep Them on Track. </a:t>
            </a:r>
            <a:r>
              <a:rPr lang="en-US" i="1" dirty="0">
                <a:solidFill>
                  <a:schemeClr val="bg1"/>
                </a:solidFill>
              </a:rPr>
              <a:t>MIT Sloan Management Review</a:t>
            </a:r>
            <a:r>
              <a:rPr lang="en-US" dirty="0">
                <a:solidFill>
                  <a:schemeClr val="bg1"/>
                </a:solidFill>
              </a:rPr>
              <a:t>, </a:t>
            </a:r>
            <a:r>
              <a:rPr lang="en-US" i="1" dirty="0">
                <a:solidFill>
                  <a:schemeClr val="bg1"/>
                </a:solidFill>
              </a:rPr>
              <a:t>64</a:t>
            </a:r>
            <a:r>
              <a:rPr lang="en-US" dirty="0">
                <a:solidFill>
                  <a:schemeClr val="bg1"/>
                </a:solidFill>
              </a:rPr>
              <a:t>(4). </a:t>
            </a:r>
            <a:r>
              <a:rPr lang="en-US" u="sng" dirty="0">
                <a:solidFill>
                  <a:schemeClr val="bg1"/>
                </a:solidFill>
                <a:hlinkClick r:id="rId5">
                  <a:extLst>
                    <a:ext uri="{A12FA001-AC4F-418D-AE19-62706E023703}">
                      <ahyp:hlinkClr xmlns:ahyp="http://schemas.microsoft.com/office/drawing/2018/hyperlinkcolor" val="tx"/>
                    </a:ext>
                  </a:extLst>
                </a:hlinkClick>
              </a:rPr>
              <a:t>https://sloanreview.mit.edu/article/predictive-models-can-lose-the-plot-heres-how-to-keep-them-on-track/</a:t>
            </a:r>
            <a:r>
              <a:rPr lang="en-US" dirty="0">
                <a:solidFill>
                  <a:schemeClr val="bg1"/>
                </a:solidFill>
              </a:rPr>
              <a:t> </a:t>
            </a:r>
          </a:p>
          <a:p>
            <a:pPr lvl="0"/>
            <a:r>
              <a:rPr lang="en-US" dirty="0">
                <a:solidFill>
                  <a:schemeClr val="bg1"/>
                </a:solidFill>
              </a:rPr>
              <a:t>Schwartz, E. I. (2010, December 13). </a:t>
            </a:r>
            <a:r>
              <a:rPr lang="en-US" i="1" dirty="0">
                <a:solidFill>
                  <a:schemeClr val="bg1"/>
                </a:solidFill>
              </a:rPr>
              <a:t>Predictive Modeling Isn’t Magic</a:t>
            </a:r>
            <a:r>
              <a:rPr lang="en-US" dirty="0">
                <a:solidFill>
                  <a:schemeClr val="bg1"/>
                </a:solidFill>
              </a:rPr>
              <a:t>. MIT Technology Review. </a:t>
            </a:r>
            <a:r>
              <a:rPr lang="en-US" u="sng" dirty="0">
                <a:solidFill>
                  <a:schemeClr val="bg1"/>
                </a:solidFill>
                <a:hlinkClick r:id="rId6">
                  <a:extLst>
                    <a:ext uri="{A12FA001-AC4F-418D-AE19-62706E023703}">
                      <ahyp:hlinkClr xmlns:ahyp="http://schemas.microsoft.com/office/drawing/2018/hyperlinkcolor" val="tx"/>
                    </a:ext>
                  </a:extLst>
                </a:hlinkClick>
              </a:rPr>
              <a:t>https://www.technologyreview.com/2010/12/13/198480/predictive-modeling-isnt-magic/</a:t>
            </a:r>
            <a:r>
              <a:rPr lang="en-US" dirty="0">
                <a:solidFill>
                  <a:schemeClr val="bg1"/>
                </a:solidFill>
              </a:rPr>
              <a:t> </a:t>
            </a:r>
          </a:p>
          <a:p>
            <a:pPr lvl="0"/>
            <a:endParaRPr lang="en-US" dirty="0">
              <a:solidFill>
                <a:schemeClr val="bg1"/>
              </a:solidFill>
            </a:endParaRPr>
          </a:p>
        </p:txBody>
      </p:sp>
    </p:spTree>
    <p:extLst>
      <p:ext uri="{BB962C8B-B14F-4D97-AF65-F5344CB8AC3E}">
        <p14:creationId xmlns:p14="http://schemas.microsoft.com/office/powerpoint/2010/main" val="908477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EBF1-D6E2-8B52-EBE7-7BE2F7434C9D}"/>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15770DE8-E1C2-FEEF-3C89-BD4D93B0252E}"/>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A0ACFCC2-0176-A97D-8B26-8BD75B6060DC}"/>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FCF08A70-79AC-F3EE-239E-DD18A4C7D5A3}"/>
              </a:ext>
            </a:extLst>
          </p:cNvPr>
          <p:cNvSpPr>
            <a:spLocks noGrp="1"/>
          </p:cNvSpPr>
          <p:nvPr>
            <p:ph idx="1"/>
          </p:nvPr>
        </p:nvSpPr>
        <p:spPr>
          <a:solidFill>
            <a:schemeClr val="tx1">
              <a:alpha val="80000"/>
            </a:schemeClr>
          </a:solidFill>
        </p:spPr>
        <p:txBody>
          <a:bodyPr>
            <a:normAutofit fontScale="85000" lnSpcReduction="20000"/>
          </a:bodyPr>
          <a:lstStyle/>
          <a:p>
            <a:pPr lvl="0"/>
            <a:r>
              <a:rPr lang="en-US" dirty="0">
                <a:solidFill>
                  <a:schemeClr val="bg1"/>
                </a:solidFill>
              </a:rPr>
              <a:t>Zewe, A. (2023, February 13). </a:t>
            </a:r>
            <a:r>
              <a:rPr lang="en-US" i="1" dirty="0">
                <a:solidFill>
                  <a:schemeClr val="bg1"/>
                </a:solidFill>
              </a:rPr>
              <a:t>Efficient technique improves machine-learning models’ reliability</a:t>
            </a:r>
            <a:r>
              <a:rPr lang="en-US" dirty="0">
                <a:solidFill>
                  <a:schemeClr val="bg1"/>
                </a:solidFill>
              </a:rPr>
              <a:t>. MIT News | Massachusetts Institute of Technology. </a:t>
            </a:r>
            <a:r>
              <a:rPr lang="en-US" u="sng" dirty="0">
                <a:solidFill>
                  <a:schemeClr val="bg1"/>
                </a:solidFill>
                <a:hlinkClick r:id="rId3">
                  <a:extLst>
                    <a:ext uri="{A12FA001-AC4F-418D-AE19-62706E023703}">
                      <ahyp:hlinkClr xmlns:ahyp="http://schemas.microsoft.com/office/drawing/2018/hyperlinkcolor" val="tx"/>
                    </a:ext>
                  </a:extLst>
                </a:hlinkClick>
              </a:rPr>
              <a:t>https://news.mit.edu/2023/improving-machine-learning-models-reliability-0213</a:t>
            </a:r>
            <a:r>
              <a:rPr lang="en-US" dirty="0">
                <a:solidFill>
                  <a:schemeClr val="bg1"/>
                </a:solidFill>
              </a:rPr>
              <a:t> </a:t>
            </a:r>
          </a:p>
          <a:p>
            <a:pPr lvl="0"/>
            <a:r>
              <a:rPr lang="en-US" i="1" dirty="0">
                <a:solidFill>
                  <a:schemeClr val="bg1"/>
                </a:solidFill>
              </a:rPr>
              <a:t>Banking and Capital Markets | Deloitte US</a:t>
            </a:r>
            <a:r>
              <a:rPr lang="en-US" dirty="0">
                <a:solidFill>
                  <a:schemeClr val="bg1"/>
                </a:solidFill>
              </a:rPr>
              <a:t>. (2025). Deloitte. </a:t>
            </a:r>
            <a:r>
              <a:rPr lang="en-US" u="sng" dirty="0">
                <a:solidFill>
                  <a:schemeClr val="bg1"/>
                </a:solidFill>
                <a:hlinkClick r:id="rId4">
                  <a:extLst>
                    <a:ext uri="{A12FA001-AC4F-418D-AE19-62706E023703}">
                      <ahyp:hlinkClr xmlns:ahyp="http://schemas.microsoft.com/office/drawing/2018/hyperlinkcolor" val="tx"/>
                    </a:ext>
                  </a:extLst>
                </a:hlinkClick>
              </a:rPr>
              <a:t>https://www.deloitte.com/us/en/Industries/banking-capital-markets/about.html</a:t>
            </a:r>
            <a:r>
              <a:rPr lang="en-US" dirty="0">
                <a:solidFill>
                  <a:schemeClr val="bg1"/>
                </a:solidFill>
              </a:rPr>
              <a:t> </a:t>
            </a:r>
          </a:p>
          <a:p>
            <a:pPr lvl="0"/>
            <a:r>
              <a:rPr lang="en-US" dirty="0">
                <a:solidFill>
                  <a:schemeClr val="bg1"/>
                </a:solidFill>
              </a:rPr>
              <a:t>Ciocan, D. F., &amp; Farias, V. (2012). Model Predictive Control for Dynamic Resource Allocation. </a:t>
            </a:r>
            <a:r>
              <a:rPr lang="en-US" i="1" dirty="0">
                <a:solidFill>
                  <a:schemeClr val="bg1"/>
                </a:solidFill>
              </a:rPr>
              <a:t>Mathematics of Operations Research</a:t>
            </a:r>
            <a:r>
              <a:rPr lang="en-US" dirty="0">
                <a:solidFill>
                  <a:schemeClr val="bg1"/>
                </a:solidFill>
              </a:rPr>
              <a:t>, </a:t>
            </a:r>
            <a:r>
              <a:rPr lang="en-US" i="1" dirty="0">
                <a:solidFill>
                  <a:schemeClr val="bg1"/>
                </a:solidFill>
              </a:rPr>
              <a:t>37</a:t>
            </a:r>
            <a:r>
              <a:rPr lang="en-US" dirty="0">
                <a:solidFill>
                  <a:schemeClr val="bg1"/>
                </a:solidFill>
              </a:rPr>
              <a:t>(3), 501–525. </a:t>
            </a:r>
            <a:r>
              <a:rPr lang="en-US" u="sng" dirty="0">
                <a:solidFill>
                  <a:schemeClr val="bg1"/>
                </a:solidFill>
                <a:hlinkClick r:id="rId5">
                  <a:extLst>
                    <a:ext uri="{A12FA001-AC4F-418D-AE19-62706E023703}">
                      <ahyp:hlinkClr xmlns:ahyp="http://schemas.microsoft.com/office/drawing/2018/hyperlinkcolor" val="tx"/>
                    </a:ext>
                  </a:extLst>
                </a:hlinkClick>
              </a:rPr>
              <a:t>https://doi.org/10.1287/moor.1120.0548</a:t>
            </a:r>
            <a:r>
              <a:rPr lang="en-US" dirty="0">
                <a:solidFill>
                  <a:schemeClr val="bg1"/>
                </a:solidFill>
              </a:rPr>
              <a:t> </a:t>
            </a:r>
          </a:p>
          <a:p>
            <a:pPr lvl="0"/>
            <a:r>
              <a:rPr lang="en-US" dirty="0">
                <a:solidFill>
                  <a:schemeClr val="bg1"/>
                </a:solidFill>
              </a:rPr>
              <a:t>Philips. (2020, June 12). </a:t>
            </a:r>
            <a:r>
              <a:rPr lang="en-US" i="1" dirty="0">
                <a:solidFill>
                  <a:schemeClr val="bg1"/>
                </a:solidFill>
              </a:rPr>
              <a:t>Predictive analytics in healthcare: three real-world examples</a:t>
            </a:r>
            <a:r>
              <a:rPr lang="en-US" dirty="0">
                <a:solidFill>
                  <a:schemeClr val="bg1"/>
                </a:solidFill>
              </a:rPr>
              <a:t>. Philips. </a:t>
            </a:r>
            <a:r>
              <a:rPr lang="en-US" u="sng" dirty="0">
                <a:solidFill>
                  <a:schemeClr val="bg1"/>
                </a:solidFill>
                <a:hlinkClick r:id="rId6">
                  <a:extLst>
                    <a:ext uri="{A12FA001-AC4F-418D-AE19-62706E023703}">
                      <ahyp:hlinkClr xmlns:ahyp="http://schemas.microsoft.com/office/drawing/2018/hyperlinkcolor" val="tx"/>
                    </a:ext>
                  </a:extLst>
                </a:hlinkClick>
              </a:rPr>
              <a:t>https://www.philips.com/a-w/about/news/archive/features/20200604-predictive-analytics-in-healthcare-three-real-world-examples.html</a:t>
            </a:r>
            <a:r>
              <a:rPr lang="en-US" dirty="0">
                <a:solidFill>
                  <a:schemeClr val="bg1"/>
                </a:solidFill>
              </a:rPr>
              <a:t> </a:t>
            </a:r>
          </a:p>
          <a:p>
            <a:pPr lvl="0"/>
            <a:endParaRPr lang="en-US" dirty="0">
              <a:solidFill>
                <a:schemeClr val="bg1"/>
              </a:solidFill>
            </a:endParaRPr>
          </a:p>
        </p:txBody>
      </p:sp>
    </p:spTree>
    <p:extLst>
      <p:ext uri="{BB962C8B-B14F-4D97-AF65-F5344CB8AC3E}">
        <p14:creationId xmlns:p14="http://schemas.microsoft.com/office/powerpoint/2010/main" val="37522899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C3A4B-E0EB-C486-AFDB-3C392447C6F5}"/>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CE131AEB-AFDA-DEE7-D226-D57AF8EDC282}"/>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BA82E010-A4F7-D8C1-5A82-2AC126AFFE87}"/>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A0BB8C26-B5B5-83A4-D8B0-5640D0E2C41C}"/>
              </a:ext>
            </a:extLst>
          </p:cNvPr>
          <p:cNvSpPr>
            <a:spLocks noGrp="1"/>
          </p:cNvSpPr>
          <p:nvPr>
            <p:ph idx="1"/>
          </p:nvPr>
        </p:nvSpPr>
        <p:spPr>
          <a:solidFill>
            <a:schemeClr val="tx1">
              <a:alpha val="80000"/>
            </a:schemeClr>
          </a:solidFill>
        </p:spPr>
        <p:txBody>
          <a:bodyPr>
            <a:normAutofit fontScale="85000" lnSpcReduction="20000"/>
          </a:bodyPr>
          <a:lstStyle/>
          <a:p>
            <a:pPr lvl="0"/>
            <a:r>
              <a:rPr lang="en-US" dirty="0">
                <a:solidFill>
                  <a:schemeClr val="bg1"/>
                </a:solidFill>
              </a:rPr>
              <a:t>Thakore, A. (2020). ESTABLISHING AN ENTERPRISE SECURITY ARCHITECTURE. </a:t>
            </a:r>
            <a:r>
              <a:rPr lang="en-US" i="1" dirty="0">
                <a:solidFill>
                  <a:schemeClr val="bg1"/>
                </a:solidFill>
              </a:rPr>
              <a:t>ResearchGate</a:t>
            </a:r>
            <a:r>
              <a:rPr lang="en-US" dirty="0">
                <a:solidFill>
                  <a:schemeClr val="bg1"/>
                </a:solidFill>
              </a:rPr>
              <a:t>. </a:t>
            </a:r>
            <a:r>
              <a:rPr lang="en-US" u="sng" dirty="0">
                <a:solidFill>
                  <a:schemeClr val="bg1"/>
                </a:solidFill>
                <a:hlinkClick r:id="rId3">
                  <a:extLst>
                    <a:ext uri="{A12FA001-AC4F-418D-AE19-62706E023703}">
                      <ahyp:hlinkClr xmlns:ahyp="http://schemas.microsoft.com/office/drawing/2018/hyperlinkcolor" val="tx"/>
                    </a:ext>
                  </a:extLst>
                </a:hlinkClick>
              </a:rPr>
              <a:t>https://doi.org/10.13140/RG.2.2.18442.18882</a:t>
            </a:r>
            <a:r>
              <a:rPr lang="en-US" dirty="0">
                <a:solidFill>
                  <a:schemeClr val="bg1"/>
                </a:solidFill>
              </a:rPr>
              <a:t> </a:t>
            </a:r>
          </a:p>
          <a:p>
            <a:pPr lvl="0"/>
            <a:r>
              <a:rPr lang="en-US" dirty="0">
                <a:solidFill>
                  <a:schemeClr val="bg1"/>
                </a:solidFill>
              </a:rPr>
              <a:t>CISA. (2023). </a:t>
            </a:r>
            <a:r>
              <a:rPr lang="en-US" i="1" dirty="0">
                <a:solidFill>
                  <a:schemeClr val="bg1"/>
                </a:solidFill>
              </a:rPr>
              <a:t>Zero Trust Maturity Model</a:t>
            </a:r>
            <a:r>
              <a:rPr lang="en-US" dirty="0">
                <a:solidFill>
                  <a:schemeClr val="bg1"/>
                </a:solidFill>
              </a:rPr>
              <a:t>. </a:t>
            </a:r>
            <a:r>
              <a:rPr lang="en-US" u="sng" dirty="0">
                <a:solidFill>
                  <a:schemeClr val="bg1"/>
                </a:solidFill>
                <a:hlinkClick r:id="rId4">
                  <a:extLst>
                    <a:ext uri="{A12FA001-AC4F-418D-AE19-62706E023703}">
                      <ahyp:hlinkClr xmlns:ahyp="http://schemas.microsoft.com/office/drawing/2018/hyperlinkcolor" val="tx"/>
                    </a:ext>
                  </a:extLst>
                </a:hlinkClick>
              </a:rPr>
              <a:t>https://www.cisa.gov/sites/default/files/2023-04/zero_trust_maturity_model_v2_508.pdf</a:t>
            </a:r>
            <a:r>
              <a:rPr lang="en-US" dirty="0">
                <a:solidFill>
                  <a:schemeClr val="bg1"/>
                </a:solidFill>
              </a:rPr>
              <a:t> </a:t>
            </a:r>
          </a:p>
          <a:p>
            <a:pPr lvl="0"/>
            <a:r>
              <a:rPr lang="en-US" dirty="0">
                <a:solidFill>
                  <a:schemeClr val="bg1"/>
                </a:solidFill>
              </a:rPr>
              <a:t>Kerman, A., Borchert, O., Rose, S., Division, E., &amp; Tan, A. (2020). </a:t>
            </a:r>
            <a:r>
              <a:rPr lang="en-US" i="1" dirty="0">
                <a:solidFill>
                  <a:schemeClr val="bg1"/>
                </a:solidFill>
              </a:rPr>
              <a:t>IMPLEMENTING A ZERO TRUST ARCHITECTURE</a:t>
            </a:r>
            <a:r>
              <a:rPr lang="en-US" dirty="0">
                <a:solidFill>
                  <a:schemeClr val="bg1"/>
                </a:solidFill>
              </a:rPr>
              <a:t>. </a:t>
            </a:r>
            <a:r>
              <a:rPr lang="en-US" u="sng" dirty="0">
                <a:solidFill>
                  <a:schemeClr val="bg1"/>
                </a:solidFill>
                <a:hlinkClick r:id="rId5">
                  <a:extLst>
                    <a:ext uri="{A12FA001-AC4F-418D-AE19-62706E023703}">
                      <ahyp:hlinkClr xmlns:ahyp="http://schemas.microsoft.com/office/drawing/2018/hyperlinkcolor" val="tx"/>
                    </a:ext>
                  </a:extLst>
                </a:hlinkClick>
              </a:rPr>
              <a:t>https://www.nccoe.nist.gov/sites/default/files/legacy-files/zta-project-description-final.pdf</a:t>
            </a:r>
            <a:r>
              <a:rPr lang="en-US" dirty="0">
                <a:solidFill>
                  <a:schemeClr val="bg1"/>
                </a:solidFill>
              </a:rPr>
              <a:t> </a:t>
            </a:r>
          </a:p>
          <a:p>
            <a:pPr lvl="0"/>
            <a:r>
              <a:rPr lang="en-US" i="1" dirty="0">
                <a:solidFill>
                  <a:schemeClr val="bg1"/>
                </a:solidFill>
              </a:rPr>
              <a:t>How to Improve Cyber Security with Enterprise Architecture &gt; Business Analyst Community &amp; Resources | Modern Analyst</a:t>
            </a:r>
            <a:r>
              <a:rPr lang="en-US" dirty="0">
                <a:solidFill>
                  <a:schemeClr val="bg1"/>
                </a:solidFill>
              </a:rPr>
              <a:t>. (n.d.). Www.modernanalyst.com. </a:t>
            </a:r>
            <a:r>
              <a:rPr lang="en-US" u="sng" dirty="0">
                <a:solidFill>
                  <a:schemeClr val="bg1"/>
                </a:solidFill>
                <a:hlinkClick r:id="rId6">
                  <a:extLst>
                    <a:ext uri="{A12FA001-AC4F-418D-AE19-62706E023703}">
                      <ahyp:hlinkClr xmlns:ahyp="http://schemas.microsoft.com/office/drawing/2018/hyperlinkcolor" val="tx"/>
                    </a:ext>
                  </a:extLst>
                </a:hlinkClick>
              </a:rPr>
              <a:t>https://www.modernanalyst.com/Resources/Articles/tabid/115/ID/5249/How-to-Improve-Cyber-Security-with-Enterprise-Architecture.aspx</a:t>
            </a:r>
            <a:r>
              <a:rPr lang="en-US" dirty="0">
                <a:solidFill>
                  <a:schemeClr val="bg1"/>
                </a:solidFill>
              </a:rPr>
              <a:t> </a:t>
            </a:r>
          </a:p>
          <a:p>
            <a:pPr lvl="0"/>
            <a:endParaRPr lang="en-US" dirty="0">
              <a:solidFill>
                <a:schemeClr val="bg1"/>
              </a:solidFill>
            </a:endParaRPr>
          </a:p>
        </p:txBody>
      </p:sp>
    </p:spTree>
    <p:extLst>
      <p:ext uri="{BB962C8B-B14F-4D97-AF65-F5344CB8AC3E}">
        <p14:creationId xmlns:p14="http://schemas.microsoft.com/office/powerpoint/2010/main" val="33878446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B82B-73BE-4245-D566-7D422D4B8C6A}"/>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68DDDA4E-1B43-5E82-596D-377469561F98}"/>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3D956860-834A-CD74-AB09-2137E99C2C4E}"/>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F5DADB00-733E-E062-F59E-2C677CC86447}"/>
              </a:ext>
            </a:extLst>
          </p:cNvPr>
          <p:cNvSpPr>
            <a:spLocks noGrp="1"/>
          </p:cNvSpPr>
          <p:nvPr>
            <p:ph idx="1"/>
          </p:nvPr>
        </p:nvSpPr>
        <p:spPr>
          <a:solidFill>
            <a:schemeClr val="tx1">
              <a:alpha val="80000"/>
            </a:schemeClr>
          </a:solidFill>
        </p:spPr>
        <p:txBody>
          <a:bodyPr>
            <a:normAutofit fontScale="77500" lnSpcReduction="20000"/>
          </a:bodyPr>
          <a:lstStyle/>
          <a:p>
            <a:pPr lvl="0"/>
            <a:r>
              <a:rPr lang="en-US" i="1" dirty="0">
                <a:solidFill>
                  <a:schemeClr val="bg1"/>
                </a:solidFill>
              </a:rPr>
              <a:t>Cloud Security Technical Reference Architecture Federal Risk and Authorization Management Program</a:t>
            </a:r>
            <a:r>
              <a:rPr lang="en-US" dirty="0">
                <a:solidFill>
                  <a:schemeClr val="bg1"/>
                </a:solidFill>
              </a:rPr>
              <a:t>. (2022). </a:t>
            </a:r>
            <a:r>
              <a:rPr lang="en-US" u="sng" dirty="0">
                <a:solidFill>
                  <a:schemeClr val="bg1"/>
                </a:solidFill>
                <a:hlinkClick r:id="rId3">
                  <a:extLst>
                    <a:ext uri="{A12FA001-AC4F-418D-AE19-62706E023703}">
                      <ahyp:hlinkClr xmlns:ahyp="http://schemas.microsoft.com/office/drawing/2018/hyperlinkcolor" val="tx"/>
                    </a:ext>
                  </a:extLst>
                </a:hlinkClick>
              </a:rPr>
              <a:t>https://www.cisa.gov/sites/default/files/publications/Cloud%20Security%20Technical%20Reference%20Architecture.pdf</a:t>
            </a:r>
            <a:r>
              <a:rPr lang="en-US" dirty="0">
                <a:solidFill>
                  <a:schemeClr val="bg1"/>
                </a:solidFill>
              </a:rPr>
              <a:t> </a:t>
            </a:r>
          </a:p>
          <a:p>
            <a:pPr lvl="0"/>
            <a:r>
              <a:rPr lang="en-US" dirty="0">
                <a:solidFill>
                  <a:schemeClr val="bg1"/>
                </a:solidFill>
              </a:rPr>
              <a:t>Quinn, S., Ivy, N., Barrett, M., Feldman, L., Witte, G., &amp; Gardner, R. K. (2021). Identifying and Estimating Cybersecurity Risk for Enterprise Risk Management. </a:t>
            </a:r>
            <a:r>
              <a:rPr lang="en-US" i="1" dirty="0">
                <a:solidFill>
                  <a:schemeClr val="bg1"/>
                </a:solidFill>
              </a:rPr>
              <a:t>Identifying and Estimating Cybersecurity Risk for Enterprise Risk Management</a:t>
            </a:r>
            <a:r>
              <a:rPr lang="en-US" dirty="0">
                <a:solidFill>
                  <a:schemeClr val="bg1"/>
                </a:solidFill>
              </a:rPr>
              <a:t>. </a:t>
            </a:r>
            <a:r>
              <a:rPr lang="en-US" u="sng" dirty="0">
                <a:solidFill>
                  <a:schemeClr val="bg1"/>
                </a:solidFill>
                <a:hlinkClick r:id="rId4">
                  <a:extLst>
                    <a:ext uri="{A12FA001-AC4F-418D-AE19-62706E023703}">
                      <ahyp:hlinkClr xmlns:ahyp="http://schemas.microsoft.com/office/drawing/2018/hyperlinkcolor" val="tx"/>
                    </a:ext>
                  </a:extLst>
                </a:hlinkClick>
              </a:rPr>
              <a:t>https://doi.org/10.6028/nist.ir.8286a</a:t>
            </a:r>
            <a:r>
              <a:rPr lang="en-US" dirty="0">
                <a:solidFill>
                  <a:schemeClr val="bg1"/>
                </a:solidFill>
              </a:rPr>
              <a:t> </a:t>
            </a:r>
          </a:p>
          <a:p>
            <a:pPr lvl="0"/>
            <a:r>
              <a:rPr lang="en-US" dirty="0">
                <a:solidFill>
                  <a:schemeClr val="bg1"/>
                </a:solidFill>
              </a:rPr>
              <a:t>Cybersecurity and Infrastructure Security Agency. (2022). </a:t>
            </a:r>
            <a:r>
              <a:rPr lang="en-US" i="1" dirty="0">
                <a:solidFill>
                  <a:schemeClr val="bg1"/>
                </a:solidFill>
              </a:rPr>
              <a:t>Guide to Getting Started with a Cybersecurity Risk Assessment Publication: 2022 Cybersecurity and Infrastructure Security Agency</a:t>
            </a:r>
            <a:r>
              <a:rPr lang="en-US" dirty="0">
                <a:solidFill>
                  <a:schemeClr val="bg1"/>
                </a:solidFill>
              </a:rPr>
              <a:t>. </a:t>
            </a:r>
            <a:r>
              <a:rPr lang="en-US" u="sng" dirty="0">
                <a:solidFill>
                  <a:schemeClr val="bg1"/>
                </a:solidFill>
                <a:hlinkClick r:id="rId5">
                  <a:extLst>
                    <a:ext uri="{A12FA001-AC4F-418D-AE19-62706E023703}">
                      <ahyp:hlinkClr xmlns:ahyp="http://schemas.microsoft.com/office/drawing/2018/hyperlinkcolor" val="tx"/>
                    </a:ext>
                  </a:extLst>
                </a:hlinkClick>
              </a:rPr>
              <a:t>https://www.cisa.gov/sites/default/files/2024-09/24_0828_safecom_guide_getting_started_cybersecurity_assessment_2022_final_508C.pdf</a:t>
            </a:r>
            <a:r>
              <a:rPr lang="en-US" dirty="0">
                <a:solidFill>
                  <a:schemeClr val="bg1"/>
                </a:solidFill>
              </a:rPr>
              <a:t> </a:t>
            </a:r>
          </a:p>
          <a:p>
            <a:pPr lvl="0"/>
            <a:r>
              <a:rPr lang="en-US" i="1" dirty="0">
                <a:solidFill>
                  <a:schemeClr val="bg1"/>
                </a:solidFill>
              </a:rPr>
              <a:t>The 4 Steps for a Risk Assessment based on NIST</a:t>
            </a:r>
            <a:r>
              <a:rPr lang="en-US" dirty="0">
                <a:solidFill>
                  <a:schemeClr val="bg1"/>
                </a:solidFill>
              </a:rPr>
              <a:t>. (2022, October 28). Security Scientist. </a:t>
            </a:r>
            <a:r>
              <a:rPr lang="en-US" u="sng" dirty="0">
                <a:solidFill>
                  <a:schemeClr val="bg1"/>
                </a:solidFill>
                <a:hlinkClick r:id="rId6">
                  <a:extLst>
                    <a:ext uri="{A12FA001-AC4F-418D-AE19-62706E023703}">
                      <ahyp:hlinkClr xmlns:ahyp="http://schemas.microsoft.com/office/drawing/2018/hyperlinkcolor" val="tx"/>
                    </a:ext>
                  </a:extLst>
                </a:hlinkClick>
              </a:rPr>
              <a:t>https://www.securityscientist.net/blog/nist-risk-assessment-steps/</a:t>
            </a:r>
            <a:r>
              <a:rPr lang="en-US" dirty="0">
                <a:solidFill>
                  <a:schemeClr val="bg1"/>
                </a:solidFill>
              </a:rPr>
              <a:t> </a:t>
            </a:r>
          </a:p>
        </p:txBody>
      </p:sp>
    </p:spTree>
    <p:extLst>
      <p:ext uri="{BB962C8B-B14F-4D97-AF65-F5344CB8AC3E}">
        <p14:creationId xmlns:p14="http://schemas.microsoft.com/office/powerpoint/2010/main" val="13792171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EDCED-0AF4-D87A-B042-20E42ADE2C86}"/>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762C23B0-0182-B45F-5DD7-326ABFF2D6EE}"/>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54F404A7-24B3-400F-ECC0-45D40D20A8B6}"/>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FAE8990C-2174-DB59-8FD5-0AB2A1007C34}"/>
              </a:ext>
            </a:extLst>
          </p:cNvPr>
          <p:cNvSpPr>
            <a:spLocks noGrp="1"/>
          </p:cNvSpPr>
          <p:nvPr>
            <p:ph idx="1"/>
          </p:nvPr>
        </p:nvSpPr>
        <p:spPr>
          <a:solidFill>
            <a:schemeClr val="tx1">
              <a:alpha val="80000"/>
            </a:schemeClr>
          </a:solidFill>
        </p:spPr>
        <p:txBody>
          <a:bodyPr>
            <a:normAutofit fontScale="85000" lnSpcReduction="20000"/>
          </a:bodyPr>
          <a:lstStyle/>
          <a:p>
            <a:pPr lvl="0"/>
            <a:r>
              <a:rPr lang="en-US" i="1" dirty="0">
                <a:solidFill>
                  <a:schemeClr val="bg1"/>
                </a:solidFill>
              </a:rPr>
              <a:t>Calculating and Communicating Cybersecurity ROI</a:t>
            </a:r>
            <a:r>
              <a:rPr lang="en-US" dirty="0">
                <a:solidFill>
                  <a:schemeClr val="bg1"/>
                </a:solidFill>
              </a:rPr>
              <a:t>. (2022). Drata.com. </a:t>
            </a:r>
            <a:r>
              <a:rPr lang="en-US" u="sng" dirty="0">
                <a:solidFill>
                  <a:schemeClr val="bg1"/>
                </a:solidFill>
                <a:hlinkClick r:id="rId3">
                  <a:extLst>
                    <a:ext uri="{A12FA001-AC4F-418D-AE19-62706E023703}">
                      <ahyp:hlinkClr xmlns:ahyp="http://schemas.microsoft.com/office/drawing/2018/hyperlinkcolor" val="tx"/>
                    </a:ext>
                  </a:extLst>
                </a:hlinkClick>
              </a:rPr>
              <a:t>https://drata.com/blog/cybersecurity-roi</a:t>
            </a:r>
            <a:r>
              <a:rPr lang="en-US" dirty="0">
                <a:solidFill>
                  <a:schemeClr val="bg1"/>
                </a:solidFill>
              </a:rPr>
              <a:t> </a:t>
            </a:r>
          </a:p>
          <a:p>
            <a:pPr lvl="0"/>
            <a:r>
              <a:rPr lang="en-US" i="1" dirty="0">
                <a:solidFill>
                  <a:schemeClr val="bg1"/>
                </a:solidFill>
              </a:rPr>
              <a:t>Calculating ROI for Your Cybersecurity Project: How to Choose the Right Security Tools</a:t>
            </a:r>
            <a:r>
              <a:rPr lang="en-US" dirty="0">
                <a:solidFill>
                  <a:schemeClr val="bg1"/>
                </a:solidFill>
              </a:rPr>
              <a:t>. (2023). Cyvent.com. </a:t>
            </a:r>
            <a:r>
              <a:rPr lang="en-US" u="sng" dirty="0">
                <a:solidFill>
                  <a:schemeClr val="bg1"/>
                </a:solidFill>
                <a:hlinkClick r:id="rId4">
                  <a:extLst>
                    <a:ext uri="{A12FA001-AC4F-418D-AE19-62706E023703}">
                      <ahyp:hlinkClr xmlns:ahyp="http://schemas.microsoft.com/office/drawing/2018/hyperlinkcolor" val="tx"/>
                    </a:ext>
                  </a:extLst>
                </a:hlinkClick>
              </a:rPr>
              <a:t>https://www.cyvent.com/post/calculating-roi-for-cybersecurity</a:t>
            </a:r>
            <a:r>
              <a:rPr lang="en-US" dirty="0">
                <a:solidFill>
                  <a:schemeClr val="bg1"/>
                </a:solidFill>
              </a:rPr>
              <a:t> </a:t>
            </a:r>
          </a:p>
          <a:p>
            <a:pPr lvl="0"/>
            <a:r>
              <a:rPr lang="en-US" dirty="0" err="1">
                <a:solidFill>
                  <a:schemeClr val="bg1"/>
                </a:solidFill>
              </a:rPr>
              <a:t>Andrieiev</a:t>
            </a:r>
            <a:r>
              <a:rPr lang="en-US" dirty="0">
                <a:solidFill>
                  <a:schemeClr val="bg1"/>
                </a:solidFill>
              </a:rPr>
              <a:t>, S. (2022, July 22). </a:t>
            </a:r>
            <a:r>
              <a:rPr lang="en-US" i="1" dirty="0">
                <a:solidFill>
                  <a:schemeClr val="bg1"/>
                </a:solidFill>
              </a:rPr>
              <a:t>Align your IT and business goals with TOGAF</a:t>
            </a:r>
            <a:r>
              <a:rPr lang="en-US" dirty="0">
                <a:solidFill>
                  <a:schemeClr val="bg1"/>
                </a:solidFill>
              </a:rPr>
              <a:t>. Medium. </a:t>
            </a:r>
            <a:r>
              <a:rPr lang="en-US" u="sng" dirty="0">
                <a:solidFill>
                  <a:schemeClr val="bg1"/>
                </a:solidFill>
                <a:hlinkClick r:id="rId5">
                  <a:extLst>
                    <a:ext uri="{A12FA001-AC4F-418D-AE19-62706E023703}">
                      <ahyp:hlinkClr xmlns:ahyp="http://schemas.microsoft.com/office/drawing/2018/hyperlinkcolor" val="tx"/>
                    </a:ext>
                  </a:extLst>
                </a:hlinkClick>
              </a:rPr>
              <a:t>https://jelvix.medium.com/align-your-it-and-business-goals-with-togaf-edc97c415197</a:t>
            </a:r>
            <a:r>
              <a:rPr lang="en-US" dirty="0">
                <a:solidFill>
                  <a:schemeClr val="bg1"/>
                </a:solidFill>
              </a:rPr>
              <a:t> </a:t>
            </a:r>
          </a:p>
          <a:p>
            <a:pPr lvl="0"/>
            <a:r>
              <a:rPr lang="en-US" i="1" dirty="0">
                <a:solidFill>
                  <a:schemeClr val="bg1"/>
                </a:solidFill>
              </a:rPr>
              <a:t>Enterprise Architecture: Business and IT Alignment</a:t>
            </a:r>
            <a:r>
              <a:rPr lang="en-US" dirty="0">
                <a:solidFill>
                  <a:schemeClr val="bg1"/>
                </a:solidFill>
              </a:rPr>
              <a:t>. (n.d.). Www.itarch.info. </a:t>
            </a:r>
            <a:r>
              <a:rPr lang="en-US" u="sng" dirty="0">
                <a:solidFill>
                  <a:schemeClr val="bg1"/>
                </a:solidFill>
                <a:hlinkClick r:id="rId6">
                  <a:extLst>
                    <a:ext uri="{A12FA001-AC4F-418D-AE19-62706E023703}">
                      <ahyp:hlinkClr xmlns:ahyp="http://schemas.microsoft.com/office/drawing/2018/hyperlinkcolor" val="tx"/>
                    </a:ext>
                  </a:extLst>
                </a:hlinkClick>
              </a:rPr>
              <a:t>https://www.itarch.info/2020/08/enterprise-architecture-business-and-it.html</a:t>
            </a:r>
            <a:r>
              <a:rPr lang="en-US" dirty="0">
                <a:solidFill>
                  <a:schemeClr val="bg1"/>
                </a:solidFill>
              </a:rPr>
              <a:t> </a:t>
            </a:r>
          </a:p>
          <a:p>
            <a:pPr lvl="0"/>
            <a:r>
              <a:rPr lang="en-US" dirty="0">
                <a:solidFill>
                  <a:schemeClr val="bg1"/>
                </a:solidFill>
              </a:rPr>
              <a:t>‌Boyd, R. S. (2022, September 13). </a:t>
            </a:r>
            <a:r>
              <a:rPr lang="en-US" i="1" dirty="0">
                <a:solidFill>
                  <a:schemeClr val="bg1"/>
                </a:solidFill>
              </a:rPr>
              <a:t>Using Enterprise Architecture for Supply Chain Management</a:t>
            </a:r>
            <a:r>
              <a:rPr lang="en-US" dirty="0">
                <a:solidFill>
                  <a:schemeClr val="bg1"/>
                </a:solidFill>
              </a:rPr>
              <a:t>. Medium. </a:t>
            </a:r>
            <a:r>
              <a:rPr lang="en-US" u="sng" dirty="0">
                <a:solidFill>
                  <a:schemeClr val="bg1"/>
                </a:solidFill>
                <a:hlinkClick r:id="rId7">
                  <a:extLst>
                    <a:ext uri="{A12FA001-AC4F-418D-AE19-62706E023703}">
                      <ahyp:hlinkClr xmlns:ahyp="http://schemas.microsoft.com/office/drawing/2018/hyperlinkcolor" val="tx"/>
                    </a:ext>
                  </a:extLst>
                </a:hlinkClick>
              </a:rPr>
              <a:t>https://medium.com/@boydrussells/using-enterprise-architecture-for-supply-chain-management-afefbcdb0e10</a:t>
            </a:r>
            <a:r>
              <a:rPr lang="en-US" dirty="0">
                <a:solidFill>
                  <a:schemeClr val="bg1"/>
                </a:solidFill>
              </a:rPr>
              <a:t> </a:t>
            </a:r>
          </a:p>
          <a:p>
            <a:pPr lvl="0"/>
            <a:endParaRPr lang="en-US" dirty="0">
              <a:solidFill>
                <a:schemeClr val="bg1"/>
              </a:solidFill>
            </a:endParaRPr>
          </a:p>
        </p:txBody>
      </p:sp>
    </p:spTree>
    <p:extLst>
      <p:ext uri="{BB962C8B-B14F-4D97-AF65-F5344CB8AC3E}">
        <p14:creationId xmlns:p14="http://schemas.microsoft.com/office/powerpoint/2010/main" val="36732864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4865-B418-7F3C-A874-A6FEB2F07B6A}"/>
            </a:ext>
          </a:extLst>
        </p:cNvPr>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512DC58C-A5A3-D397-4246-21474786136B}"/>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37D92B39-8E86-3219-F439-1E423623464A}"/>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A787310C-75FF-14A2-0679-25638177C32C}"/>
              </a:ext>
            </a:extLst>
          </p:cNvPr>
          <p:cNvSpPr>
            <a:spLocks noGrp="1"/>
          </p:cNvSpPr>
          <p:nvPr>
            <p:ph idx="1"/>
          </p:nvPr>
        </p:nvSpPr>
        <p:spPr>
          <a:solidFill>
            <a:schemeClr val="tx1">
              <a:alpha val="80000"/>
            </a:schemeClr>
          </a:solidFill>
        </p:spPr>
        <p:txBody>
          <a:bodyPr>
            <a:normAutofit fontScale="77500" lnSpcReduction="20000"/>
          </a:bodyPr>
          <a:lstStyle/>
          <a:p>
            <a:pPr lvl="0"/>
            <a:r>
              <a:rPr lang="en-US" dirty="0">
                <a:solidFill>
                  <a:schemeClr val="bg1"/>
                </a:solidFill>
              </a:rPr>
              <a:t>U.S. Department of Health and Human Services. (2022, October 20). The Security Rule. HHS.gov. </a:t>
            </a:r>
            <a:r>
              <a:rPr lang="en-US" u="sng" dirty="0">
                <a:solidFill>
                  <a:schemeClr val="bg1"/>
                </a:solidFill>
                <a:hlinkClick r:id="rId3">
                  <a:extLst>
                    <a:ext uri="{A12FA001-AC4F-418D-AE19-62706E023703}">
                      <ahyp:hlinkClr xmlns:ahyp="http://schemas.microsoft.com/office/drawing/2018/hyperlinkcolor" val="tx"/>
                    </a:ext>
                  </a:extLst>
                </a:hlinkClick>
              </a:rPr>
              <a:t>https://www.hhs.gov/hipaa/for-professionals/security/index.html</a:t>
            </a:r>
            <a:endParaRPr lang="en-US" dirty="0">
              <a:solidFill>
                <a:schemeClr val="bg1"/>
              </a:solidFill>
            </a:endParaRPr>
          </a:p>
          <a:p>
            <a:pPr lvl="0"/>
            <a:r>
              <a:rPr lang="en-US" dirty="0">
                <a:solidFill>
                  <a:schemeClr val="bg1"/>
                </a:solidFill>
              </a:rPr>
              <a:t>What is Security Architecture, and What Do You Need to Know? - dig8italX. (2022, March 7). Dig8ital. </a:t>
            </a:r>
            <a:r>
              <a:rPr lang="en-US" u="sng" dirty="0">
                <a:solidFill>
                  <a:schemeClr val="bg1"/>
                </a:solidFill>
                <a:hlinkClick r:id="rId4">
                  <a:extLst>
                    <a:ext uri="{A12FA001-AC4F-418D-AE19-62706E023703}">
                      <ahyp:hlinkClr xmlns:ahyp="http://schemas.microsoft.com/office/drawing/2018/hyperlinkcolor" val="tx"/>
                    </a:ext>
                  </a:extLst>
                </a:hlinkClick>
              </a:rPr>
              <a:t>https://dig8ital.com/post/what-is-security-architecture-and-what-do-you-need-to-know/</a:t>
            </a:r>
            <a:r>
              <a:rPr lang="en-US" dirty="0">
                <a:solidFill>
                  <a:schemeClr val="bg1"/>
                </a:solidFill>
              </a:rPr>
              <a:t> </a:t>
            </a:r>
          </a:p>
          <a:p>
            <a:pPr lvl="0"/>
            <a:r>
              <a:rPr lang="en-US" dirty="0">
                <a:solidFill>
                  <a:schemeClr val="bg1"/>
                </a:solidFill>
              </a:rPr>
              <a:t>Product School. (2019, March 9). Webinar: Ubisoft Sr PM on How to Design and Develop a Product. YouTube. </a:t>
            </a:r>
            <a:r>
              <a:rPr lang="en-US" u="sng" dirty="0">
                <a:solidFill>
                  <a:schemeClr val="bg1"/>
                </a:solidFill>
                <a:hlinkClick r:id="rId5">
                  <a:extLst>
                    <a:ext uri="{A12FA001-AC4F-418D-AE19-62706E023703}">
                      <ahyp:hlinkClr xmlns:ahyp="http://schemas.microsoft.com/office/drawing/2018/hyperlinkcolor" val="tx"/>
                    </a:ext>
                  </a:extLst>
                </a:hlinkClick>
              </a:rPr>
              <a:t>https://www.youtube.com/watch?v=45aubDooFys</a:t>
            </a:r>
            <a:endParaRPr lang="en-US" dirty="0">
              <a:solidFill>
                <a:schemeClr val="bg1"/>
              </a:solidFill>
            </a:endParaRPr>
          </a:p>
          <a:p>
            <a:pPr lvl="0"/>
            <a:r>
              <a:rPr lang="en-US" dirty="0">
                <a:solidFill>
                  <a:schemeClr val="bg1"/>
                </a:solidFill>
              </a:rPr>
              <a:t>Guide to Enterprise Architecture ENTERPRISE ARCHITECT User Guide Series. (2023). </a:t>
            </a:r>
            <a:r>
              <a:rPr lang="en-US" u="sng" dirty="0">
                <a:solidFill>
                  <a:schemeClr val="bg1"/>
                </a:solidFill>
                <a:hlinkClick r:id="rId6">
                  <a:extLst>
                    <a:ext uri="{A12FA001-AC4F-418D-AE19-62706E023703}">
                      <ahyp:hlinkClr xmlns:ahyp="http://schemas.microsoft.com/office/drawing/2018/hyperlinkcolor" val="tx"/>
                    </a:ext>
                  </a:extLst>
                </a:hlinkClick>
              </a:rPr>
              <a:t>https://sparxsystems.com/resources/user-guides/16.1/guidebooks/enterprise-architecture.pdf</a:t>
            </a:r>
            <a:r>
              <a:rPr lang="en-US" dirty="0">
                <a:solidFill>
                  <a:schemeClr val="bg1"/>
                </a:solidFill>
              </a:rPr>
              <a:t> </a:t>
            </a:r>
          </a:p>
          <a:p>
            <a:pPr lvl="0"/>
            <a:r>
              <a:rPr lang="en-US" dirty="0">
                <a:solidFill>
                  <a:schemeClr val="bg1"/>
                </a:solidFill>
              </a:rPr>
              <a:t>Rose, S., Borchert, O., Mitchell, S., &amp; Connelly, S. (2020). Zero trust architecture. NIST Special Publication 800-207, 1(800-207). </a:t>
            </a:r>
            <a:r>
              <a:rPr lang="en-US" u="sng" dirty="0">
                <a:solidFill>
                  <a:schemeClr val="bg1"/>
                </a:solidFill>
                <a:hlinkClick r:id="rId7">
                  <a:extLst>
                    <a:ext uri="{A12FA001-AC4F-418D-AE19-62706E023703}">
                      <ahyp:hlinkClr xmlns:ahyp="http://schemas.microsoft.com/office/drawing/2018/hyperlinkcolor" val="tx"/>
                    </a:ext>
                  </a:extLst>
                </a:hlinkClick>
              </a:rPr>
              <a:t>https://doi.org/10.6028/nist.sp.800-207</a:t>
            </a:r>
            <a:endParaRPr lang="en-US" dirty="0">
              <a:solidFill>
                <a:schemeClr val="bg1"/>
              </a:solidFill>
            </a:endParaRPr>
          </a:p>
          <a:p>
            <a:pPr lvl="0"/>
            <a:endParaRPr lang="en-US" dirty="0">
              <a:solidFill>
                <a:schemeClr val="bg1"/>
              </a:solidFill>
            </a:endParaRPr>
          </a:p>
        </p:txBody>
      </p:sp>
    </p:spTree>
    <p:extLst>
      <p:ext uri="{BB962C8B-B14F-4D97-AF65-F5344CB8AC3E}">
        <p14:creationId xmlns:p14="http://schemas.microsoft.com/office/powerpoint/2010/main" val="27294027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8AE9852D-C646-8822-149D-B8EA9CF833A2}"/>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C2B6323F-C218-A76C-E0E3-55697129BAB1}"/>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393912D0-CAF5-3661-940F-11870373393E}"/>
              </a:ext>
            </a:extLst>
          </p:cNvPr>
          <p:cNvSpPr>
            <a:spLocks noGrp="1"/>
          </p:cNvSpPr>
          <p:nvPr>
            <p:ph idx="1"/>
          </p:nvPr>
        </p:nvSpPr>
        <p:spPr>
          <a:solidFill>
            <a:schemeClr val="tx1">
              <a:alpha val="80000"/>
            </a:schemeClr>
          </a:solidFill>
        </p:spPr>
        <p:txBody>
          <a:bodyPr>
            <a:normAutofit fontScale="77500" lnSpcReduction="20000"/>
          </a:bodyPr>
          <a:lstStyle/>
          <a:p>
            <a:r>
              <a:rPr lang="en-US" i="1" dirty="0">
                <a:solidFill>
                  <a:schemeClr val="bg1"/>
                </a:solidFill>
              </a:rPr>
              <a:t>DODAF Architecture Presentation Techniques</a:t>
            </a:r>
            <a:r>
              <a:rPr lang="en-US" dirty="0">
                <a:solidFill>
                  <a:schemeClr val="bg1"/>
                </a:solidFill>
              </a:rPr>
              <a:t>. (2025). Defense.gov. </a:t>
            </a:r>
            <a:r>
              <a:rPr lang="en-US" dirty="0">
                <a:solidFill>
                  <a:schemeClr val="bg1"/>
                </a:solidFill>
                <a:hlinkClick r:id="rId3">
                  <a:extLst>
                    <a:ext uri="{A12FA001-AC4F-418D-AE19-62706E023703}">
                      <ahyp:hlinkClr xmlns:ahyp="http://schemas.microsoft.com/office/drawing/2018/hyperlinkcolor" val="tx"/>
                    </a:ext>
                  </a:extLst>
                </a:hlinkClick>
              </a:rPr>
              <a:t>https://dodcio.defense.gov/Library/DoD-Architecture-Framework/dodaf20_presentation/</a:t>
            </a:r>
            <a:r>
              <a:rPr lang="en-US" dirty="0">
                <a:solidFill>
                  <a:schemeClr val="bg1"/>
                </a:solidFill>
              </a:rPr>
              <a:t> </a:t>
            </a:r>
          </a:p>
          <a:p>
            <a:r>
              <a:rPr lang="en-US" i="1" dirty="0">
                <a:solidFill>
                  <a:schemeClr val="bg1"/>
                </a:solidFill>
              </a:rPr>
              <a:t>DoD Architecture Framework Version 2.0 Volume 1: Introduction, Overview, and Concepts Manager’s Guide</a:t>
            </a:r>
            <a:r>
              <a:rPr lang="en-US" dirty="0">
                <a:solidFill>
                  <a:schemeClr val="bg1"/>
                </a:solidFill>
              </a:rPr>
              <a:t>. (2009). </a:t>
            </a:r>
            <a:r>
              <a:rPr lang="en-US" dirty="0">
                <a:solidFill>
                  <a:schemeClr val="bg1"/>
                </a:solidFill>
                <a:hlinkClick r:id="rId4">
                  <a:extLst>
                    <a:ext uri="{A12FA001-AC4F-418D-AE19-62706E023703}">
                      <ahyp:hlinkClr xmlns:ahyp="http://schemas.microsoft.com/office/drawing/2018/hyperlinkcolor" val="tx"/>
                    </a:ext>
                  </a:extLst>
                </a:hlinkClick>
              </a:rPr>
              <a:t>https://www.acqnotes.com/Attachments/DoD%20Architecture%20Framework%20Version%202.0.pdf</a:t>
            </a:r>
            <a:r>
              <a:rPr lang="en-US" dirty="0">
                <a:solidFill>
                  <a:schemeClr val="bg1"/>
                </a:solidFill>
              </a:rPr>
              <a:t> </a:t>
            </a:r>
          </a:p>
          <a:p>
            <a:r>
              <a:rPr lang="en-US" i="1" dirty="0">
                <a:solidFill>
                  <a:schemeClr val="bg1"/>
                </a:solidFill>
              </a:rPr>
              <a:t>Enterprise Architecture: Essential for Digital Transformation</a:t>
            </a:r>
            <a:r>
              <a:rPr lang="en-US" dirty="0">
                <a:solidFill>
                  <a:schemeClr val="bg1"/>
                </a:solidFill>
              </a:rPr>
              <a:t>. (n.d.). Planview. </a:t>
            </a:r>
            <a:r>
              <a:rPr lang="en-US" dirty="0">
                <a:solidFill>
                  <a:schemeClr val="bg1"/>
                </a:solidFill>
                <a:hlinkClick r:id="rId5">
                  <a:extLst>
                    <a:ext uri="{A12FA001-AC4F-418D-AE19-62706E023703}">
                      <ahyp:hlinkClr xmlns:ahyp="http://schemas.microsoft.com/office/drawing/2018/hyperlinkcolor" val="tx"/>
                    </a:ext>
                  </a:extLst>
                </a:hlinkClick>
              </a:rPr>
              <a:t>https://www.planview.com/resources/guide/definitive-digital-transformation-guide/enterprise-architecture-digital-transformation/</a:t>
            </a:r>
            <a:r>
              <a:rPr lang="en-US" dirty="0">
                <a:solidFill>
                  <a:schemeClr val="bg1"/>
                </a:solidFill>
              </a:rPr>
              <a:t> </a:t>
            </a:r>
          </a:p>
          <a:p>
            <a:r>
              <a:rPr lang="en-US" i="1" dirty="0">
                <a:solidFill>
                  <a:schemeClr val="bg1"/>
                </a:solidFill>
              </a:rPr>
              <a:t>Analytics, an Enterprise Architecture approach</a:t>
            </a:r>
            <a:r>
              <a:rPr lang="en-US" dirty="0">
                <a:solidFill>
                  <a:schemeClr val="bg1"/>
                </a:solidFill>
              </a:rPr>
              <a:t>. (n.d.). Www.linkedin.com. </a:t>
            </a:r>
            <a:r>
              <a:rPr lang="en-US" dirty="0">
                <a:solidFill>
                  <a:schemeClr val="bg1"/>
                </a:solidFill>
                <a:hlinkClick r:id="rId6">
                  <a:extLst>
                    <a:ext uri="{A12FA001-AC4F-418D-AE19-62706E023703}">
                      <ahyp:hlinkClr xmlns:ahyp="http://schemas.microsoft.com/office/drawing/2018/hyperlinkcolor" val="tx"/>
                    </a:ext>
                  </a:extLst>
                </a:hlinkClick>
              </a:rPr>
              <a:t>https://www.linkedin.com/pulse/analytics-enterprise-architecture-approach-rodrigo-bocanegra-cruz/</a:t>
            </a:r>
            <a:r>
              <a:rPr lang="en-US" dirty="0">
                <a:solidFill>
                  <a:schemeClr val="bg1"/>
                </a:solidFill>
              </a:rPr>
              <a:t> </a:t>
            </a:r>
          </a:p>
          <a:p>
            <a:r>
              <a:rPr lang="en-US" i="1" dirty="0">
                <a:solidFill>
                  <a:schemeClr val="bg1"/>
                </a:solidFill>
              </a:rPr>
              <a:t>Creating Basic Diagrams in </a:t>
            </a:r>
            <a:r>
              <a:rPr lang="en-US" i="1" dirty="0" err="1">
                <a:solidFill>
                  <a:schemeClr val="bg1"/>
                </a:solidFill>
              </a:rPr>
              <a:t>Lucidchart</a:t>
            </a:r>
            <a:r>
              <a:rPr lang="en-US" i="1" dirty="0">
                <a:solidFill>
                  <a:schemeClr val="bg1"/>
                </a:solidFill>
              </a:rPr>
              <a:t> [+ Course]</a:t>
            </a:r>
            <a:r>
              <a:rPr lang="en-US" dirty="0">
                <a:solidFill>
                  <a:schemeClr val="bg1"/>
                </a:solidFill>
              </a:rPr>
              <a:t>. (2024). </a:t>
            </a:r>
            <a:r>
              <a:rPr lang="en-US" dirty="0" err="1">
                <a:solidFill>
                  <a:schemeClr val="bg1"/>
                </a:solidFill>
              </a:rPr>
              <a:t>Lucidchart</a:t>
            </a:r>
            <a:r>
              <a:rPr lang="en-US" dirty="0">
                <a:solidFill>
                  <a:schemeClr val="bg1"/>
                </a:solidFill>
              </a:rPr>
              <a:t>. </a:t>
            </a:r>
            <a:r>
              <a:rPr lang="en-US" dirty="0">
                <a:solidFill>
                  <a:schemeClr val="bg1"/>
                </a:solidFill>
                <a:hlinkClick r:id="rId7">
                  <a:extLst>
                    <a:ext uri="{A12FA001-AC4F-418D-AE19-62706E023703}">
                      <ahyp:hlinkClr xmlns:ahyp="http://schemas.microsoft.com/office/drawing/2018/hyperlinkcolor" val="tx"/>
                    </a:ext>
                  </a:extLst>
                </a:hlinkClick>
              </a:rPr>
              <a:t>https://www.lucidchart.com/blog/creating-basic-diagrams</a:t>
            </a:r>
            <a:r>
              <a:rPr lang="en-US" dirty="0">
                <a:solidFill>
                  <a:schemeClr val="bg1"/>
                </a:solidFill>
              </a:rPr>
              <a:t> </a:t>
            </a:r>
          </a:p>
        </p:txBody>
      </p:sp>
    </p:spTree>
    <p:extLst>
      <p:ext uri="{BB962C8B-B14F-4D97-AF65-F5344CB8AC3E}">
        <p14:creationId xmlns:p14="http://schemas.microsoft.com/office/powerpoint/2010/main" val="31391379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stract particle graph background">
            <a:extLst>
              <a:ext uri="{FF2B5EF4-FFF2-40B4-BE49-F238E27FC236}">
                <a16:creationId xmlns:a16="http://schemas.microsoft.com/office/drawing/2014/main" id="{32908397-6F27-493B-1342-9F4914D743D1}"/>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p:blipFill>
        <p:spPr>
          <a:xfrm>
            <a:off x="0" y="10"/>
            <a:ext cx="12191980" cy="6857990"/>
          </a:xfrm>
          <a:prstGeom prst="rect">
            <a:avLst/>
          </a:prstGeom>
          <a:solidFill>
            <a:schemeClr val="tx1"/>
          </a:solidFill>
        </p:spPr>
      </p:pic>
      <p:sp>
        <p:nvSpPr>
          <p:cNvPr id="2" name="Title 1">
            <a:extLst>
              <a:ext uri="{FF2B5EF4-FFF2-40B4-BE49-F238E27FC236}">
                <a16:creationId xmlns:a16="http://schemas.microsoft.com/office/drawing/2014/main" id="{11F7225A-5A60-4CF4-12AA-93EA42F43EFA}"/>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305AF7AB-E20E-F59F-79D8-3B4CF6135F91}"/>
              </a:ext>
            </a:extLst>
          </p:cNvPr>
          <p:cNvSpPr>
            <a:spLocks noGrp="1"/>
          </p:cNvSpPr>
          <p:nvPr>
            <p:ph idx="1"/>
          </p:nvPr>
        </p:nvSpPr>
        <p:spPr>
          <a:xfrm>
            <a:off x="838200" y="1825624"/>
            <a:ext cx="10515600" cy="4575175"/>
          </a:xfrm>
          <a:solidFill>
            <a:schemeClr val="tx1">
              <a:alpha val="80000"/>
            </a:schemeClr>
          </a:solidFill>
        </p:spPr>
        <p:txBody>
          <a:bodyPr>
            <a:normAutofit fontScale="70000" lnSpcReduction="20000"/>
          </a:bodyPr>
          <a:lstStyle/>
          <a:p>
            <a:r>
              <a:rPr lang="en-US" i="1" dirty="0">
                <a:solidFill>
                  <a:schemeClr val="bg1"/>
                </a:solidFill>
              </a:rPr>
              <a:t>Enterprise Architecture</a:t>
            </a:r>
            <a:r>
              <a:rPr lang="en-US" dirty="0">
                <a:solidFill>
                  <a:schemeClr val="bg1"/>
                </a:solidFill>
              </a:rPr>
              <a:t>. (2025). Sparxsystems.com. </a:t>
            </a:r>
            <a:r>
              <a:rPr lang="en-US" dirty="0">
                <a:solidFill>
                  <a:schemeClr val="bg1"/>
                </a:solidFill>
                <a:hlinkClick r:id="rId3">
                  <a:extLst>
                    <a:ext uri="{A12FA001-AC4F-418D-AE19-62706E023703}">
                      <ahyp:hlinkClr xmlns:ahyp="http://schemas.microsoft.com/office/drawing/2018/hyperlinkcolor" val="tx"/>
                    </a:ext>
                  </a:extLst>
                </a:hlinkClick>
              </a:rPr>
              <a:t>https://sparxsystems.com/resources/gallery/diagrams/architecture/arc-main-page.html</a:t>
            </a:r>
            <a:r>
              <a:rPr lang="en-US" dirty="0">
                <a:solidFill>
                  <a:schemeClr val="bg1"/>
                </a:solidFill>
              </a:rPr>
              <a:t> </a:t>
            </a:r>
          </a:p>
          <a:p>
            <a:r>
              <a:rPr lang="en-US" i="1" dirty="0">
                <a:solidFill>
                  <a:schemeClr val="bg1"/>
                </a:solidFill>
              </a:rPr>
              <a:t>What is Enterprise Architecture Diagram?</a:t>
            </a:r>
            <a:r>
              <a:rPr lang="en-US" dirty="0">
                <a:solidFill>
                  <a:schemeClr val="bg1"/>
                </a:solidFill>
              </a:rPr>
              <a:t> (n.d.). Online.visual-Paradigm.com. </a:t>
            </a:r>
            <a:r>
              <a:rPr lang="en-US" dirty="0">
                <a:solidFill>
                  <a:schemeClr val="bg1"/>
                </a:solidFill>
                <a:hlinkClick r:id="rId4">
                  <a:extLst>
                    <a:ext uri="{A12FA001-AC4F-418D-AE19-62706E023703}">
                      <ahyp:hlinkClr xmlns:ahyp="http://schemas.microsoft.com/office/drawing/2018/hyperlinkcolor" val="tx"/>
                    </a:ext>
                  </a:extLst>
                </a:hlinkClick>
              </a:rPr>
              <a:t>https://online.visual-paradigm.com/knowledge/business-design/what-is-enterprise-archtiecture-diagram/</a:t>
            </a:r>
            <a:r>
              <a:rPr lang="en-US" dirty="0">
                <a:solidFill>
                  <a:schemeClr val="bg1"/>
                </a:solidFill>
              </a:rPr>
              <a:t> </a:t>
            </a:r>
          </a:p>
          <a:p>
            <a:r>
              <a:rPr lang="en-US" dirty="0">
                <a:solidFill>
                  <a:schemeClr val="bg1"/>
                </a:solidFill>
              </a:rPr>
              <a:t>Naranjo, D., Sánchez, M., &amp; Villalobos, J. (n.d.). </a:t>
            </a:r>
            <a:r>
              <a:rPr lang="en-US" i="1" dirty="0">
                <a:solidFill>
                  <a:schemeClr val="bg1"/>
                </a:solidFill>
              </a:rPr>
              <a:t>Connecting the Dots: Examining Visualization Techniques for Enterprise Architecture Model Analysis</a:t>
            </a:r>
            <a:r>
              <a:rPr lang="en-US" dirty="0">
                <a:solidFill>
                  <a:schemeClr val="bg1"/>
                </a:solidFill>
              </a:rPr>
              <a:t>. Retrieved October 8, 2025, from </a:t>
            </a:r>
            <a:r>
              <a:rPr lang="en-US" dirty="0">
                <a:solidFill>
                  <a:schemeClr val="bg1"/>
                </a:solidFill>
                <a:hlinkClick r:id="rId5">
                  <a:extLst>
                    <a:ext uri="{A12FA001-AC4F-418D-AE19-62706E023703}">
                      <ahyp:hlinkClr xmlns:ahyp="http://schemas.microsoft.com/office/drawing/2018/hyperlinkcolor" val="tx"/>
                    </a:ext>
                  </a:extLst>
                </a:hlinkClick>
              </a:rPr>
              <a:t>https://ceur-ws.org/Vol-1023/paper3.pdf</a:t>
            </a:r>
            <a:r>
              <a:rPr lang="en-US" dirty="0">
                <a:solidFill>
                  <a:schemeClr val="bg1"/>
                </a:solidFill>
              </a:rPr>
              <a:t> </a:t>
            </a:r>
          </a:p>
          <a:p>
            <a:r>
              <a:rPr lang="en-US" dirty="0">
                <a:solidFill>
                  <a:schemeClr val="bg1"/>
                </a:solidFill>
              </a:rPr>
              <a:t>Anderson, C. (2013). How to give a killer presentation. In </a:t>
            </a:r>
            <a:r>
              <a:rPr lang="en-US" i="1" dirty="0">
                <a:solidFill>
                  <a:schemeClr val="bg1"/>
                </a:solidFill>
              </a:rPr>
              <a:t>Harvard business review </a:t>
            </a:r>
            <a:r>
              <a:rPr lang="en-US" dirty="0">
                <a:solidFill>
                  <a:schemeClr val="bg1"/>
                </a:solidFill>
              </a:rPr>
              <a:t>(Vol. 91, Issue 6, pp. 121-). Harvard Business School Press. </a:t>
            </a:r>
            <a:r>
              <a:rPr lang="en-US" dirty="0">
                <a:solidFill>
                  <a:schemeClr val="bg1"/>
                </a:solidFill>
                <a:hlinkClick r:id="rId6">
                  <a:extLst>
                    <a:ext uri="{A12FA001-AC4F-418D-AE19-62706E023703}">
                      <ahyp:hlinkClr xmlns:ahyp="http://schemas.microsoft.com/office/drawing/2018/hyperlinkcolor" val="tx"/>
                    </a:ext>
                  </a:extLst>
                </a:hlinkClick>
              </a:rPr>
              <a:t>https://web.s.ebscohost.com/ehost/pdfviewer/pdfviewer?vid=0&amp;sid=d70e844f-a3b3-47e8-9463-e0af63b40855%40redis</a:t>
            </a:r>
            <a:endParaRPr lang="en-US" dirty="0">
              <a:solidFill>
                <a:schemeClr val="bg1"/>
              </a:solidFill>
            </a:endParaRPr>
          </a:p>
          <a:p>
            <a:r>
              <a:rPr lang="en-US" dirty="0">
                <a:solidFill>
                  <a:schemeClr val="bg1"/>
                </a:solidFill>
              </a:rPr>
              <a:t>van de Wetering, R., Kurnia, S., &amp; </a:t>
            </a:r>
            <a:r>
              <a:rPr lang="en-US" dirty="0" err="1">
                <a:solidFill>
                  <a:schemeClr val="bg1"/>
                </a:solidFill>
              </a:rPr>
              <a:t>Kotusev</a:t>
            </a:r>
            <a:r>
              <a:rPr lang="en-US" dirty="0">
                <a:solidFill>
                  <a:schemeClr val="bg1"/>
                </a:solidFill>
              </a:rPr>
              <a:t>, S. (2020). The Effect of Enterprise Architecture Deployment Practices on Organizational Benefits: A Dynamic Capability Perspective. </a:t>
            </a:r>
            <a:r>
              <a:rPr lang="en-US" i="1" dirty="0">
                <a:solidFill>
                  <a:schemeClr val="bg1"/>
                </a:solidFill>
              </a:rPr>
              <a:t>Sustainability</a:t>
            </a:r>
            <a:r>
              <a:rPr lang="en-US" dirty="0">
                <a:solidFill>
                  <a:schemeClr val="bg1"/>
                </a:solidFill>
              </a:rPr>
              <a:t>, </a:t>
            </a:r>
            <a:r>
              <a:rPr lang="en-US" i="1" dirty="0">
                <a:solidFill>
                  <a:schemeClr val="bg1"/>
                </a:solidFill>
              </a:rPr>
              <a:t>12</a:t>
            </a:r>
            <a:r>
              <a:rPr lang="en-US" dirty="0">
                <a:solidFill>
                  <a:schemeClr val="bg1"/>
                </a:solidFill>
              </a:rPr>
              <a:t>(21), 8902. </a:t>
            </a:r>
            <a:r>
              <a:rPr lang="en-US" dirty="0">
                <a:solidFill>
                  <a:schemeClr val="bg1"/>
                </a:solidFill>
                <a:hlinkClick r:id="rId7">
                  <a:extLst>
                    <a:ext uri="{A12FA001-AC4F-418D-AE19-62706E023703}">
                      <ahyp:hlinkClr xmlns:ahyp="http://schemas.microsoft.com/office/drawing/2018/hyperlinkcolor" val="tx"/>
                    </a:ext>
                  </a:extLst>
                </a:hlinkClick>
              </a:rPr>
              <a:t>https://doi.org/10.3390/su12218902</a:t>
            </a:r>
            <a:r>
              <a:rPr lang="en-US" dirty="0">
                <a:solidFill>
                  <a:schemeClr val="bg1"/>
                </a:solidFill>
              </a:rPr>
              <a:t> </a:t>
            </a:r>
          </a:p>
        </p:txBody>
      </p:sp>
    </p:spTree>
    <p:extLst>
      <p:ext uri="{BB962C8B-B14F-4D97-AF65-F5344CB8AC3E}">
        <p14:creationId xmlns:p14="http://schemas.microsoft.com/office/powerpoint/2010/main" val="5272119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942</TotalTime>
  <Words>10533</Words>
  <Application>Microsoft Office PowerPoint</Application>
  <PresentationFormat>Widescreen</PresentationFormat>
  <Paragraphs>773</Paragraphs>
  <Slides>59</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Aptos</vt:lpstr>
      <vt:lpstr>Aptos Display</vt:lpstr>
      <vt:lpstr>Arial</vt:lpstr>
      <vt:lpstr>Cambria Math</vt:lpstr>
      <vt:lpstr>Office Theme</vt:lpstr>
      <vt:lpstr>Harmonizing AlphaCorp: Unveiling a Unified Multi-Domain Enterprise Architecture</vt:lpstr>
      <vt:lpstr>Agenda</vt:lpstr>
      <vt:lpstr>AlphaCorp Current State Analysis</vt:lpstr>
      <vt:lpstr>AlphaCorp – Three Divisions Into One</vt:lpstr>
      <vt:lpstr>AlphaCorp Analysis – Additional Pain Points</vt:lpstr>
      <vt:lpstr>Market Research</vt:lpstr>
      <vt:lpstr>Initial Cybersecurity Findings</vt:lpstr>
      <vt:lpstr>Healthcare – A Closer Look</vt:lpstr>
      <vt:lpstr>Fintech – A Closer Look</vt:lpstr>
      <vt:lpstr>E-Commerce – A Closer Look</vt:lpstr>
      <vt:lpstr>PowerPoint Presentation</vt:lpstr>
      <vt:lpstr>Budgets</vt:lpstr>
      <vt:lpstr>Budget – Current Cloud Contracts</vt:lpstr>
      <vt:lpstr>AlphaCorp United</vt:lpstr>
      <vt:lpstr>Enterprise Architecture Framework</vt:lpstr>
      <vt:lpstr>EA Framework – What the Doctor Ordered</vt:lpstr>
      <vt:lpstr>EA Framework Overview</vt:lpstr>
      <vt:lpstr>Visual Representations</vt:lpstr>
      <vt:lpstr>EA Framework Comparison</vt:lpstr>
      <vt:lpstr>EA Framework Comparison</vt:lpstr>
      <vt:lpstr>EA Repository Tool </vt:lpstr>
      <vt:lpstr>Predictive Modeling</vt:lpstr>
      <vt:lpstr>Predictive Modeling Integration</vt:lpstr>
      <vt:lpstr>Implementation</vt:lpstr>
      <vt:lpstr>Risk Analysis</vt:lpstr>
      <vt:lpstr>KPIs and Monitoring</vt:lpstr>
      <vt:lpstr>Cybersecurity</vt:lpstr>
      <vt:lpstr>Inventory – Cyber Asset</vt:lpstr>
      <vt:lpstr>Inventory – Information Asset</vt:lpstr>
      <vt:lpstr>Compliance Assessment</vt:lpstr>
      <vt:lpstr>Business Process Map and Data Flow Diagram</vt:lpstr>
      <vt:lpstr>Critical Linkages</vt:lpstr>
      <vt:lpstr>Risk And Vulnerability</vt:lpstr>
      <vt:lpstr>Investment Prioritization</vt:lpstr>
      <vt:lpstr>Product Development Integration - Healthcare</vt:lpstr>
      <vt:lpstr>Business Architecture – Healthcare Product Development</vt:lpstr>
      <vt:lpstr>Technology Architecture – Healthcare Product Development</vt:lpstr>
      <vt:lpstr>Gap Identification – Healthcare Product Development</vt:lpstr>
      <vt:lpstr>Healthcare Product Development Roadmap</vt:lpstr>
      <vt:lpstr>Healthcare Product Development Roadmap</vt:lpstr>
      <vt:lpstr>Healthcare Product Development Roadmap</vt:lpstr>
      <vt:lpstr>Solutions</vt:lpstr>
      <vt:lpstr>Uniformity In Practice</vt:lpstr>
      <vt:lpstr>Back to the Beginning</vt:lpstr>
      <vt:lpstr>Next Steps</vt:lpstr>
      <vt:lpstr>Bibliography</vt:lpstr>
      <vt:lpstr>Bibliography</vt:lpstr>
      <vt:lpstr>Bibliography</vt:lpstr>
      <vt:lpstr>Bibliography</vt:lpstr>
      <vt:lpstr>Bibliography</vt:lpstr>
      <vt:lpstr>Bibliography</vt:lpstr>
      <vt:lpstr>Bibliography</vt:lpstr>
      <vt:lpstr>Bibliography</vt:lpstr>
      <vt:lpstr>Bibliography</vt:lpstr>
      <vt:lpstr>Bibliography</vt:lpstr>
      <vt:lpstr>Bibliography</vt:lpstr>
      <vt:lpstr>Bibliography</vt:lpstr>
      <vt:lpstr>Bibliography</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Moe, Jeffrey T [EMR/MSOL/SHAK]</dc:creator>
  <cp:lastModifiedBy>Jeffrey Moe</cp:lastModifiedBy>
  <cp:revision>1</cp:revision>
  <dcterms:created xsi:type="dcterms:W3CDTF">2025-10-15T15:44:40Z</dcterms:created>
  <dcterms:modified xsi:type="dcterms:W3CDTF">2025-10-18T19:04:58Z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8901aa-f724-46bf-bb4f-aef09392934b_Enabled">
    <vt:lpwstr>true</vt:lpwstr>
  </property>
  <property fmtid="{D5CDD505-2E9C-101B-9397-08002B2CF9AE}" pid="3" name="MSIP_Label_d38901aa-f724-46bf-bb4f-aef09392934b_SetDate">
    <vt:lpwstr>2025-10-15T15:45:54Z</vt:lpwstr>
  </property>
  <property fmtid="{D5CDD505-2E9C-101B-9397-08002B2CF9AE}" pid="4" name="MSIP_Label_d38901aa-f724-46bf-bb4f-aef09392934b_Method">
    <vt:lpwstr>Standard</vt:lpwstr>
  </property>
  <property fmtid="{D5CDD505-2E9C-101B-9397-08002B2CF9AE}" pid="5" name="MSIP_Label_d38901aa-f724-46bf-bb4f-aef09392934b_Name">
    <vt:lpwstr>Internal - No Label</vt:lpwstr>
  </property>
  <property fmtid="{D5CDD505-2E9C-101B-9397-08002B2CF9AE}" pid="6" name="MSIP_Label_d38901aa-f724-46bf-bb4f-aef09392934b_SiteId">
    <vt:lpwstr>eb06985d-06ca-4a17-81da-629ab99f6505</vt:lpwstr>
  </property>
  <property fmtid="{D5CDD505-2E9C-101B-9397-08002B2CF9AE}" pid="7" name="MSIP_Label_d38901aa-f724-46bf-bb4f-aef09392934b_ActionId">
    <vt:lpwstr>c678cb5b-7118-4c2b-b090-cc087208530f</vt:lpwstr>
  </property>
  <property fmtid="{D5CDD505-2E9C-101B-9397-08002B2CF9AE}" pid="8" name="MSIP_Label_d38901aa-f724-46bf-bb4f-aef09392934b_ContentBits">
    <vt:lpwstr>0</vt:lpwstr>
  </property>
  <property fmtid="{D5CDD505-2E9C-101B-9397-08002B2CF9AE}" pid="9" name="MSIP_Label_d38901aa-f724-46bf-bb4f-aef09392934b_Tag">
    <vt:lpwstr>10, 3, 0, 1</vt:lpwstr>
  </property>
</Properties>
</file>